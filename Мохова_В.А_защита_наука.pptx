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8" r:id="rId3"/>
    <p:sldId id="272" r:id="rId4"/>
    <p:sldId id="271" r:id="rId5"/>
    <p:sldId id="273" r:id="rId6"/>
    <p:sldId id="274" r:id="rId7"/>
    <p:sldId id="275" r:id="rId8"/>
    <p:sldId id="277" r:id="rId9"/>
    <p:sldId id="276" r:id="rId10"/>
    <p:sldId id="270" r:id="rId11"/>
  </p:sldIdLst>
  <p:sldSz cx="24384000" cy="13716000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08"/>
    <p:restoredTop sz="95080" autoAdjust="0"/>
  </p:normalViewPr>
  <p:slideViewPr>
    <p:cSldViewPr>
      <p:cViewPr varScale="1">
        <p:scale>
          <a:sx n="53" d="100"/>
          <a:sy n="53" d="100"/>
        </p:scale>
        <p:origin x="328" y="44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918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962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264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2675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9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8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A950DAAA-F5CF-2B77-F35A-2E48FC50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>
            <a:extLst>
              <a:ext uri="{FF2B5EF4-FFF2-40B4-BE49-F238E27FC236}">
                <a16:creationId xmlns:a16="http://schemas.microsoft.com/office/drawing/2014/main" id="{3F8AC1C6-81BA-BC6C-A595-995064AAC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>
            <a:extLst>
              <a:ext uri="{FF2B5EF4-FFF2-40B4-BE49-F238E27FC236}">
                <a16:creationId xmlns:a16="http://schemas.microsoft.com/office/drawing/2014/main" id="{C088BF9B-A376-625B-92B0-8B911A69C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9614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2265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87192155e_0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b87192155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21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ложка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Изображение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 descr="сбор гум.помощи-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8086" y="1924345"/>
            <a:ext cx="1532263" cy="1772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12180424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0" name="Google Shape;20;p2"/>
          <p:cNvCxnSpPr/>
          <p:nvPr/>
        </p:nvCxnSpPr>
        <p:spPr>
          <a:xfrm>
            <a:off x="17285159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1" name="Google Shape;21;p2"/>
          <p:cNvCxnSpPr/>
          <p:nvPr/>
        </p:nvCxnSpPr>
        <p:spPr>
          <a:xfrm>
            <a:off x="22358092" y="1924344"/>
            <a:ext cx="2" cy="1680348"/>
          </a:xfrm>
          <a:prstGeom prst="straightConnector1">
            <a:avLst/>
          </a:prstGeom>
          <a:noFill/>
          <a:ln w="25400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18" cy="140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body" idx="2"/>
          </p:nvPr>
        </p:nvSpPr>
        <p:spPr>
          <a:xfrm>
            <a:off x="12479957" y="2224145"/>
            <a:ext cx="4505671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4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5"/>
          </p:nvPr>
        </p:nvSpPr>
        <p:spPr>
          <a:xfrm>
            <a:off x="2029011" y="9494374"/>
            <a:ext cx="9995707" cy="17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2" descr="Изображение"/>
          <p:cNvPicPr preferRelativeResize="0"/>
          <p:nvPr/>
        </p:nvPicPr>
        <p:blipFill rotWithShape="1">
          <a:blip r:embed="rId5">
            <a:alphaModFix amt="27474"/>
          </a:blip>
          <a:srcRect/>
          <a:stretch/>
        </p:blipFill>
        <p:spPr>
          <a:xfrm>
            <a:off x="13288396" y="1662907"/>
            <a:ext cx="16546249" cy="1779153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1">
  <p:cSld name="Текст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3">
  <p:cSld name="Текст_3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2"/>
          </p:nvPr>
        </p:nvSpPr>
        <p:spPr>
          <a:xfrm>
            <a:off x="1125839" y="4725596"/>
            <a:ext cx="22132322" cy="6565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9" name="Google Shape;39;p4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0" name="Google Shape;40;p4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1" name="Google Shape;41;p4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екст_2">
  <p:cSld name="Текст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1071388" y="4938019"/>
            <a:ext cx="9560764" cy="295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2"/>
          </p:nvPr>
        </p:nvSpPr>
        <p:spPr>
          <a:xfrm>
            <a:off x="1071389" y="10647084"/>
            <a:ext cx="9560764" cy="792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3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4"/>
          </p:nvPr>
        </p:nvSpPr>
        <p:spPr>
          <a:xfrm>
            <a:off x="12190716" y="4925943"/>
            <a:ext cx="10974722" cy="3886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101600" rIns="101600" bIns="1016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0" name="Google Shape;50;p5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1" name="Google Shape;51;p5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2" name="Google Shape;52;p5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3" name="Google Shape;53;p5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1">
  <p:cSld name="График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6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6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 txBox="1">
            <a:spLocks noGrp="1"/>
          </p:cNvSpPr>
          <p:nvPr>
            <p:ph type="body" idx="1"/>
          </p:nvPr>
        </p:nvSpPr>
        <p:spPr>
          <a:xfrm>
            <a:off x="1026347" y="2970008"/>
            <a:ext cx="7120557" cy="2113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2"/>
          </p:nvPr>
        </p:nvSpPr>
        <p:spPr>
          <a:xfrm>
            <a:off x="1026347" y="6080647"/>
            <a:ext cx="7120557" cy="262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1" name="Google Shape;61;p6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2" name="Google Shape;62;p6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63" name="Google Shape;63;p6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4" name="Google Shape;64;p6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2">
  <p:cSld name="График_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body" idx="2"/>
          </p:nvPr>
        </p:nvSpPr>
        <p:spPr>
          <a:xfrm>
            <a:off x="1071389" y="4886926"/>
            <a:ext cx="6960890" cy="462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7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3" name="Google Shape;73;p7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74" name="Google Shape;74;p7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5" name="Google Shape;75;p7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Цифры">
  <p:cSld name="Цифры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2029012" y="4568039"/>
            <a:ext cx="20325977" cy="401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C65"/>
              </a:buClr>
              <a:buSzPts val="8600"/>
              <a:buFont typeface="Arial"/>
              <a:buNone/>
            </a:pP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Название презентации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может быть набрано в две </a:t>
            </a:r>
            <a:b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600" b="0" i="0" u="none" strike="noStrike" cap="none">
                <a:solidFill>
                  <a:srgbClr val="172C65"/>
                </a:solidFill>
                <a:latin typeface="Arial"/>
                <a:ea typeface="Arial"/>
                <a:cs typeface="Arial"/>
                <a:sym typeface="Arial"/>
              </a:rPr>
              <a:t>или три строки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2029012" y="9794174"/>
            <a:ext cx="20325977" cy="665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нужно больше места, то используйте подзаголовок</a:t>
            </a:r>
            <a:endParaRPr/>
          </a:p>
        </p:txBody>
      </p:sp>
      <p:pic>
        <p:nvPicPr>
          <p:cNvPr id="80" name="Google Shape;80;p8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1071390" y="4937092"/>
            <a:ext cx="5646296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2"/>
          </p:nvPr>
        </p:nvSpPr>
        <p:spPr>
          <a:xfrm>
            <a:off x="8135580" y="4937092"/>
            <a:ext cx="631373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3"/>
          </p:nvPr>
        </p:nvSpPr>
        <p:spPr>
          <a:xfrm>
            <a:off x="15110121" y="4937092"/>
            <a:ext cx="5646294" cy="310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4"/>
          </p:nvPr>
        </p:nvSpPr>
        <p:spPr>
          <a:xfrm>
            <a:off x="1071391" y="2793806"/>
            <a:ext cx="20083100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5"/>
          </p:nvPr>
        </p:nvSpPr>
        <p:spPr>
          <a:xfrm>
            <a:off x="1071391" y="8351777"/>
            <a:ext cx="5434543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body" idx="6"/>
          </p:nvPr>
        </p:nvSpPr>
        <p:spPr>
          <a:xfrm>
            <a:off x="8135580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8"/>
          <p:cNvSpPr txBox="1">
            <a:spLocks noGrp="1"/>
          </p:cNvSpPr>
          <p:nvPr>
            <p:ph type="body" idx="7"/>
          </p:nvPr>
        </p:nvSpPr>
        <p:spPr>
          <a:xfrm>
            <a:off x="15110121" y="8351777"/>
            <a:ext cx="5434542" cy="170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89" name="Google Shape;89;p8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0" name="Google Shape;90;p8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1" name="Google Shape;91;p8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2" name="Google Shape;92;p8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1">
  <p:cSld name="Таблица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1071388" y="11162430"/>
            <a:ext cx="15527375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9" name="Google Shape;99;p9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0" name="Google Shape;100;p9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1" name="Google Shape;101;p9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2" name="Google Shape;102;p9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аблица_2">
  <p:cSld name="Таблица_2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0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0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body" idx="2"/>
          </p:nvPr>
        </p:nvSpPr>
        <p:spPr>
          <a:xfrm>
            <a:off x="17388763" y="4377478"/>
            <a:ext cx="5434542" cy="32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09" name="Google Shape;109;p10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" name="Google Shape;110;p10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1" name="Google Shape;111;p10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12" name="Google Shape;112;p10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0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График_3">
  <p:cSld name="График_3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5543437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body" idx="2"/>
          </p:nvPr>
        </p:nvSpPr>
        <p:spPr>
          <a:xfrm>
            <a:off x="1125837" y="4734526"/>
            <a:ext cx="5434543" cy="2316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3"/>
          </p:nvPr>
        </p:nvSpPr>
        <p:spPr>
          <a:xfrm>
            <a:off x="1071390" y="11528087"/>
            <a:ext cx="6538656" cy="1097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1" name="Google Shape;121;p1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3" name="Google Shape;123;p11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2" descr="сбор гум.помощи-06.png"/>
          <p:cNvPicPr preferRelativeResize="0"/>
          <p:nvPr/>
        </p:nvPicPr>
        <p:blipFill rotWithShape="1">
          <a:blip r:embed="rId2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2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2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29" name="Google Shape;129;p12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31" name="Google Shape;131;p12" descr="сбор гум.помощи-0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сбор гум.помощи-06.png"/>
          <p:cNvPicPr preferRelativeResize="0"/>
          <p:nvPr/>
        </p:nvPicPr>
        <p:blipFill rotWithShape="1">
          <a:blip r:embed="rId13">
            <a:alphaModFix/>
          </a:blip>
          <a:srcRect t="4" b="3"/>
          <a:stretch/>
        </p:blipFill>
        <p:spPr>
          <a:xfrm>
            <a:off x="0" y="-1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32538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8;p1"/>
          <p:cNvCxnSpPr/>
          <p:nvPr/>
        </p:nvCxnSpPr>
        <p:spPr>
          <a:xfrm>
            <a:off x="659737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9" name="Google Shape;9;p1"/>
          <p:cNvCxnSpPr/>
          <p:nvPr/>
        </p:nvCxnSpPr>
        <p:spPr>
          <a:xfrm>
            <a:off x="12198830" y="928726"/>
            <a:ext cx="3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10" name="Google Shape;10;p1"/>
          <p:cNvCxnSpPr/>
          <p:nvPr/>
        </p:nvCxnSpPr>
        <p:spPr>
          <a:xfrm>
            <a:off x="23287736" y="928726"/>
            <a:ext cx="2" cy="1172521"/>
          </a:xfrm>
          <a:prstGeom prst="straightConnector1">
            <a:avLst/>
          </a:prstGeom>
          <a:noFill/>
          <a:ln w="9525" cap="flat" cmpd="sng">
            <a:solidFill>
              <a:srgbClr val="102D69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1" name="Google Shape;11;p1" descr="сбор гум.помощи-05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5264" y="1094998"/>
            <a:ext cx="774820" cy="89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071390" y="2793806"/>
            <a:ext cx="20083102" cy="158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Calibri"/>
              <a:buNone/>
              <a:defRPr sz="8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2203054" y="12835871"/>
            <a:ext cx="504546" cy="483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>
            <a:spLocks noGrp="1"/>
          </p:cNvSpPr>
          <p:nvPr>
            <p:ph type="body" idx="1"/>
          </p:nvPr>
        </p:nvSpPr>
        <p:spPr>
          <a:xfrm>
            <a:off x="4261479" y="2224144"/>
            <a:ext cx="7162800" cy="14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</a:t>
            </a:r>
          </a:p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 искусственного интеллекта в медицине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 txBox="1">
            <a:spLocks noGrp="1"/>
          </p:cNvSpPr>
          <p:nvPr>
            <p:ph type="body" idx="2"/>
          </p:nvPr>
        </p:nvSpPr>
        <p:spPr>
          <a:xfrm>
            <a:off x="12479950" y="2224150"/>
            <a:ext cx="47268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1305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Информационные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системы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технологии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(09.03.02)</a:t>
            </a:r>
            <a:endParaRPr sz="2400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3"/>
          </p:nvPr>
        </p:nvSpPr>
        <p:spPr>
          <a:xfrm>
            <a:off x="17592002" y="2224145"/>
            <a:ext cx="4505670" cy="108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2413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2088"/>
              <a:buFont typeface="Helvetica Neue"/>
              <a:buNone/>
            </a:pPr>
            <a:r>
              <a:rPr lang="en-US" sz="24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Москва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ru-RU" sz="24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24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4"/>
          </p:nvPr>
        </p:nvSpPr>
        <p:spPr>
          <a:xfrm>
            <a:off x="2028999" y="5091525"/>
            <a:ext cx="14113200" cy="44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9870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5968"/>
              <a:buFont typeface="Helvetica Neue"/>
              <a:buNone/>
            </a:pP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Выявление скрытых профилей риска и мягкая классификация сердечно-сосудистых заболеваний на основе SVM и </a:t>
            </a:r>
            <a:r>
              <a:rPr lang="ru-RU" sz="51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Fuzzy</a:t>
            </a:r>
            <a:r>
              <a:rPr lang="ru-RU" sz="51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5100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kNN</a:t>
            </a:r>
            <a:endParaRPr lang="ru-RU"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5"/>
          </p:nvPr>
        </p:nvSpPr>
        <p:spPr>
          <a:xfrm>
            <a:off x="2032925" y="8709975"/>
            <a:ext cx="128766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Выполнила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Мохова </a:t>
            </a:r>
            <a:r>
              <a:rPr lang="ru-RU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Ввероника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Алексеевна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студент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гр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737-01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9823" dirty="0" err="1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Андриков</a:t>
            </a:r>
            <a:r>
              <a:rPr lang="en-US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 Д.А.</a:t>
            </a:r>
            <a:r>
              <a:rPr lang="ru-RU" sz="9823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, Андриянова Е.В. </a:t>
            </a:r>
            <a:endParaRPr sz="9823" dirty="0">
              <a:solidFill>
                <a:srgbClr val="2253A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78125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ct val="100000"/>
              <a:buFont typeface="Helvetica Neue"/>
              <a:buNone/>
            </a:pPr>
            <a:endParaRPr sz="3200" dirty="0">
              <a:solidFill>
                <a:srgbClr val="2253A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Введение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091237" y="2799940"/>
            <a:ext cx="22121837" cy="1054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+mn-lt"/>
              </a:rPr>
              <a:t>Данные: UCI Heart </a:t>
            </a:r>
            <a:r>
              <a:rPr lang="ru-RU" sz="2800" dirty="0" err="1">
                <a:latin typeface="+mn-lt"/>
              </a:rPr>
              <a:t>Disease</a:t>
            </a:r>
            <a:r>
              <a:rPr lang="ru-RU" sz="2800" dirty="0">
                <a:latin typeface="+mn-lt"/>
              </a:rPr>
              <a:t> (303 пациента, 14 клинических признаков)</a:t>
            </a:r>
          </a:p>
          <a:p>
            <a:endParaRPr lang="ru-RU" sz="2800" dirty="0">
              <a:solidFill>
                <a:schemeClr val="tx1"/>
              </a:solidFill>
              <a:latin typeface="+mn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Как решали: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Разведочный анализ (EDA)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PCA для снижения размерности и интерпретации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Обучение SVM и реализация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Fuzzy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kNN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Сравнение метрик, поиск доклинических нарушений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Какие методы использовали: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SVM (линейное и RBF-ядро)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Нечёткий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kNN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(k=7, m=2)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Стандартизация,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GridSearchCV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, ROC-анализ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i="0" dirty="0">
                <a:solidFill>
                  <a:schemeClr val="tx1"/>
                </a:solidFill>
                <a:effectLst/>
                <a:latin typeface="+mn-lt"/>
              </a:rPr>
              <a:t>Почему сделали по-своему:</a:t>
            </a:r>
            <a:endParaRPr lang="ru-RU" sz="2800" b="0" i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SVM даёт жёсткую границу, но не показывает вероятность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Fuzzy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ru-RU" sz="2800" b="0" i="0" dirty="0" err="1">
                <a:solidFill>
                  <a:schemeClr val="tx1"/>
                </a:solidFill>
                <a:effectLst/>
                <a:latin typeface="+mn-lt"/>
              </a:rPr>
              <a:t>kNN</a:t>
            </a: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 возвращает степень риска, удобную для врача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tx1"/>
                </a:solidFill>
                <a:effectLst/>
                <a:latin typeface="+mn-lt"/>
              </a:rPr>
              <a:t>Вместе они позволяют выявлять скрытые профили, которые не видны по отдельным показателям</a:t>
            </a:r>
          </a:p>
          <a:p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9713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Постановка задачи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615404" y="2933849"/>
            <a:ext cx="23399741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Что надо сделать: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 клиническим данным пациентов (возраст, давление, холестерин, ЭКГ и др.) предсказать наличие сердечно-сосудистого заболевания.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Выявить «скрытые профили риска» – пациентов, у которых формально нет диагноза, но комбинация признаков указывает на высокую вероятность болезни.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Сравнить два подхода: жёсткую классификацию (SVM) и мягкую, вероятностную (</a:t>
            </a:r>
            <a:r>
              <a:rPr lang="ru-RU" sz="3200" dirty="0" err="1"/>
              <a:t>Fuzzy</a:t>
            </a:r>
            <a:r>
              <a:rPr lang="ru-RU" sz="3200" dirty="0"/>
              <a:t> </a:t>
            </a:r>
            <a:r>
              <a:rPr lang="ru-RU" sz="3200" dirty="0" err="1"/>
              <a:t>kNN</a:t>
            </a:r>
            <a:r>
              <a:rPr lang="ru-RU" sz="3200" dirty="0"/>
              <a:t>).</a:t>
            </a:r>
          </a:p>
          <a:p>
            <a:r>
              <a:rPr lang="ru-RU" sz="3200" b="1" dirty="0"/>
              <a:t>Как оцениваем, что задача решена: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 стандартным метрикам: </a:t>
            </a:r>
            <a:r>
              <a:rPr lang="ru-RU" sz="3200" dirty="0" err="1"/>
              <a:t>Accuracy</a:t>
            </a:r>
            <a:r>
              <a:rPr lang="ru-RU" sz="3200" dirty="0"/>
              <a:t>, Precision, </a:t>
            </a:r>
            <a:r>
              <a:rPr lang="ru-RU" sz="3200" dirty="0" err="1"/>
              <a:t>Recall</a:t>
            </a:r>
            <a:r>
              <a:rPr lang="ru-RU" sz="3200" dirty="0"/>
              <a:t>, F1-score, ROC-AUC.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 способности находить доклинические нарушения (здоровые с вероятностью риска &gt;0,7).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 интерпретируемости результатов для врача (важность признаков, матрицы ошибок, сравнение предсказаний).</a:t>
            </a:r>
          </a:p>
          <a:p>
            <a:r>
              <a:rPr lang="ru-RU" sz="3200" b="1" dirty="0"/>
              <a:t>Научная гипотеза:</a:t>
            </a:r>
            <a:br>
              <a:rPr lang="ru-RU" sz="3200" dirty="0"/>
            </a:br>
            <a:r>
              <a:rPr lang="ru-RU" sz="3200" i="1" dirty="0"/>
              <a:t>«Мягкая классификация на основе </a:t>
            </a:r>
            <a:r>
              <a:rPr lang="ru-RU" sz="3200" i="1" dirty="0" err="1"/>
              <a:t>Fuzzy</a:t>
            </a:r>
            <a:r>
              <a:rPr lang="ru-RU" sz="3200" i="1" dirty="0"/>
              <a:t> </a:t>
            </a:r>
            <a:r>
              <a:rPr lang="ru-RU" sz="3200" i="1" dirty="0" err="1"/>
              <a:t>kNN</a:t>
            </a:r>
            <a:r>
              <a:rPr lang="ru-RU" sz="3200" i="1" dirty="0"/>
              <a:t> позволяет выявить скрытые профили риска сердечно-сосудистых заболеваний лучше, чем жёсткие методы, за счёт вероятностного выхода и учёта локальной структуры данных».</a:t>
            </a:r>
            <a:endParaRPr lang="ru-RU" sz="3200" dirty="0"/>
          </a:p>
          <a:p>
            <a:r>
              <a:rPr lang="ru-RU" sz="3200" b="1" dirty="0"/>
              <a:t>Задачи для доказательства гипотезы: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Провести EDA и PCA для понимания данных.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Обучить SVM и </a:t>
            </a:r>
            <a:r>
              <a:rPr lang="ru-RU" sz="3200" dirty="0" err="1"/>
              <a:t>Fuzzy</a:t>
            </a:r>
            <a:r>
              <a:rPr lang="ru-RU" sz="3200" dirty="0"/>
              <a:t> </a:t>
            </a:r>
            <a:r>
              <a:rPr lang="ru-RU" sz="3200" dirty="0" err="1"/>
              <a:t>kNN</a:t>
            </a:r>
            <a:r>
              <a:rPr lang="ru-RU" sz="3200" dirty="0"/>
              <a:t> на одних и тех же данных.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Сравнить метрики и ошибки моделей.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Найти пациентов с высоким риском при формально отсутствующем диагнозе.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Дать клиническую интерпретацию примерам.</a:t>
            </a:r>
          </a:p>
        </p:txBody>
      </p:sp>
    </p:spTree>
    <p:extLst>
      <p:ext uri="{BB962C8B-B14F-4D97-AF65-F5344CB8AC3E}">
        <p14:creationId xmlns:p14="http://schemas.microsoft.com/office/powerpoint/2010/main" val="198391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Обзор литературы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468410" y="2476925"/>
            <a:ext cx="23100853" cy="1732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Ключевые исследования по теме:</a:t>
            </a:r>
          </a:p>
          <a:p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Aguiar de Castro, Giovanna &amp; </a:t>
            </a:r>
            <a:r>
              <a:rPr lang="en-US" sz="3200" dirty="0" err="1"/>
              <a:t>Barioto</a:t>
            </a:r>
            <a:r>
              <a:rPr lang="en-US" sz="3200" dirty="0"/>
              <a:t>, Luiza &amp; Cao, Yu &amp; Moraes Silva, Renato &amp; </a:t>
            </a:r>
            <a:r>
              <a:rPr lang="en-US" sz="3200" dirty="0" err="1"/>
              <a:t>Caseli</a:t>
            </a:r>
            <a:r>
              <a:rPr lang="en-US" sz="3200" dirty="0"/>
              <a:t>, Helena &amp; Machado-Neto, João &amp; Cerri, Ricardo &amp; Villavicencio, Aline &amp; Almeida, Tiago. (2025). Automated Machine Learning in medical research: A systematic literature mapping study. Artificial Intelligence in Medicine. 171. 103302. 10.1016/j.artmed.2025.103302.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Perrone, Ava &amp; </a:t>
            </a:r>
            <a:r>
              <a:rPr lang="en-US" sz="3200" dirty="0" err="1"/>
              <a:t>Khoshgoftaar</a:t>
            </a:r>
            <a:r>
              <a:rPr lang="en-US" sz="3200" dirty="0"/>
              <a:t>, Taghi. (2025). A review of machine learning applications in heart health. </a:t>
            </a:r>
            <a:r>
              <a:rPr lang="en-US" sz="3200" dirty="0" err="1"/>
              <a:t>BioMedical</a:t>
            </a:r>
            <a:r>
              <a:rPr lang="en-US" sz="3200" dirty="0"/>
              <a:t> Engineering </a:t>
            </a:r>
            <a:r>
              <a:rPr lang="en-US" sz="3200" dirty="0" err="1"/>
              <a:t>OnLine</a:t>
            </a:r>
            <a:r>
              <a:rPr lang="en-US" sz="3200" dirty="0"/>
              <a:t>. 24. 10.1186/s12938-025-01430-4.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Keller</a:t>
            </a:r>
            <a:r>
              <a:rPr lang="ru-RU" sz="3200" dirty="0"/>
              <a:t>, J.M., </a:t>
            </a:r>
            <a:r>
              <a:rPr lang="ru-RU" sz="3200" dirty="0" err="1"/>
              <a:t>Gray</a:t>
            </a:r>
            <a:r>
              <a:rPr lang="ru-RU" sz="3200" dirty="0"/>
              <a:t>, M.R.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Givens</a:t>
            </a:r>
            <a:r>
              <a:rPr lang="ru-RU" sz="3200" dirty="0"/>
              <a:t>, J.A. (1985) A </a:t>
            </a:r>
            <a:r>
              <a:rPr lang="ru-RU" sz="3200" dirty="0" err="1"/>
              <a:t>fuzzy</a:t>
            </a:r>
            <a:r>
              <a:rPr lang="ru-RU" sz="3200" dirty="0"/>
              <a:t> k-</a:t>
            </a:r>
            <a:r>
              <a:rPr lang="ru-RU" sz="3200" dirty="0" err="1"/>
              <a:t>nearest</a:t>
            </a:r>
            <a:r>
              <a:rPr lang="ru-RU" sz="3200" dirty="0"/>
              <a:t> </a:t>
            </a:r>
            <a:r>
              <a:rPr lang="ru-RU" sz="3200" dirty="0" err="1"/>
              <a:t>neighbor</a:t>
            </a:r>
            <a:r>
              <a:rPr lang="ru-RU" sz="3200" dirty="0"/>
              <a:t> </a:t>
            </a:r>
            <a:r>
              <a:rPr lang="ru-RU" sz="3200" dirty="0" err="1"/>
              <a:t>algorithm</a:t>
            </a:r>
            <a:r>
              <a:rPr lang="ru-RU" sz="3200" dirty="0"/>
              <a:t>. IEEE </a:t>
            </a:r>
            <a:r>
              <a:rPr lang="ru-RU" sz="3200" dirty="0" err="1"/>
              <a:t>Transactions</a:t>
            </a:r>
            <a:r>
              <a:rPr lang="ru-RU" sz="3200" dirty="0"/>
              <a:t> </a:t>
            </a:r>
            <a:r>
              <a:rPr lang="ru-RU" sz="3200" dirty="0" err="1"/>
              <a:t>on</a:t>
            </a:r>
            <a:r>
              <a:rPr lang="ru-RU" sz="3200" dirty="0"/>
              <a:t> Systems, Man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Cybernetics</a:t>
            </a:r>
            <a:r>
              <a:rPr lang="ru-RU" sz="3200" dirty="0"/>
              <a:t>, SMC-15(4), 580.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200" dirty="0"/>
              <a:t>Hussein, Dhoha &amp; </a:t>
            </a:r>
            <a:r>
              <a:rPr lang="en-US" sz="3200" dirty="0" err="1"/>
              <a:t>Alhumaima</a:t>
            </a:r>
            <a:r>
              <a:rPr lang="en-US" sz="3200" dirty="0"/>
              <a:t>, Ali &amp; </a:t>
            </a:r>
            <a:r>
              <a:rPr lang="en-US" sz="3200" dirty="0" err="1"/>
              <a:t>Alkattan</a:t>
            </a:r>
            <a:r>
              <a:rPr lang="en-US" sz="3200" dirty="0"/>
              <a:t>, Hussein &amp; </a:t>
            </a:r>
            <a:r>
              <a:rPr lang="en-US" sz="3200" dirty="0" err="1"/>
              <a:t>Abotaleb</a:t>
            </a:r>
            <a:r>
              <a:rPr lang="en-US" sz="3200" dirty="0"/>
              <a:t>, Mostafa. (2026). Performance Evaluation of Logistic Regression, Random Forest, and SVM Models in Heart Disease Prediction. 4. 10.15157/JTSE.2026.4.1.522-537. </a:t>
            </a:r>
            <a:endParaRPr lang="ru-RU" sz="3200" dirty="0"/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Rimal</a:t>
            </a:r>
            <a:r>
              <a:rPr lang="ru-RU" sz="3200" dirty="0"/>
              <a:t> Y, </a:t>
            </a:r>
            <a:r>
              <a:rPr lang="ru-RU" sz="3200" dirty="0" err="1"/>
              <a:t>Sharma</a:t>
            </a:r>
            <a:r>
              <a:rPr lang="ru-RU" sz="3200" dirty="0"/>
              <a:t> N, </a:t>
            </a:r>
            <a:r>
              <a:rPr lang="ru-RU" sz="3200" dirty="0" err="1"/>
              <a:t>Paudel</a:t>
            </a:r>
            <a:r>
              <a:rPr lang="ru-RU" sz="3200" dirty="0"/>
              <a:t> S, </a:t>
            </a:r>
            <a:r>
              <a:rPr lang="ru-RU" sz="3200" dirty="0" err="1"/>
              <a:t>Alsadoon</a:t>
            </a:r>
            <a:r>
              <a:rPr lang="ru-RU" sz="3200" dirty="0"/>
              <a:t> A, </a:t>
            </a:r>
            <a:r>
              <a:rPr lang="ru-RU" sz="3200" dirty="0" err="1"/>
              <a:t>Koirala</a:t>
            </a:r>
            <a:r>
              <a:rPr lang="ru-RU" sz="3200" dirty="0"/>
              <a:t> MP, </a:t>
            </a:r>
            <a:r>
              <a:rPr lang="ru-RU" sz="3200" dirty="0" err="1"/>
              <a:t>Gill</a:t>
            </a:r>
            <a:r>
              <a:rPr lang="ru-RU" sz="3200" dirty="0"/>
              <a:t> S. </a:t>
            </a:r>
            <a:r>
              <a:rPr lang="ru-RU" sz="3200" dirty="0" err="1"/>
              <a:t>Comparative</a:t>
            </a:r>
            <a:r>
              <a:rPr lang="ru-RU" sz="3200" dirty="0"/>
              <a:t> </a:t>
            </a:r>
            <a:r>
              <a:rPr lang="ru-RU" sz="3200" dirty="0" err="1"/>
              <a:t>analysis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heart</a:t>
            </a:r>
            <a:r>
              <a:rPr lang="ru-RU" sz="3200" dirty="0"/>
              <a:t> </a:t>
            </a:r>
            <a:r>
              <a:rPr lang="ru-RU" sz="3200" dirty="0" err="1"/>
              <a:t>disease</a:t>
            </a:r>
            <a:r>
              <a:rPr lang="ru-RU" sz="3200" dirty="0"/>
              <a:t> </a:t>
            </a:r>
            <a:r>
              <a:rPr lang="ru-RU" sz="3200" dirty="0" err="1"/>
              <a:t>prediction</a:t>
            </a:r>
            <a:r>
              <a:rPr lang="ru-RU" sz="3200" dirty="0"/>
              <a:t> </a:t>
            </a:r>
            <a:r>
              <a:rPr lang="ru-RU" sz="3200" dirty="0" err="1"/>
              <a:t>using</a:t>
            </a:r>
            <a:r>
              <a:rPr lang="ru-RU" sz="3200" dirty="0"/>
              <a:t> </a:t>
            </a:r>
            <a:r>
              <a:rPr lang="ru-RU" sz="3200" dirty="0" err="1"/>
              <a:t>logistic</a:t>
            </a:r>
            <a:r>
              <a:rPr lang="ru-RU" sz="3200" dirty="0"/>
              <a:t> </a:t>
            </a:r>
            <a:r>
              <a:rPr lang="ru-RU" sz="3200" dirty="0" err="1"/>
              <a:t>regression</a:t>
            </a:r>
            <a:r>
              <a:rPr lang="ru-RU" sz="3200" dirty="0"/>
              <a:t>, SVM, KNN, </a:t>
            </a:r>
            <a:r>
              <a:rPr lang="ru-RU" sz="3200" dirty="0" err="1"/>
              <a:t>and</a:t>
            </a:r>
            <a:r>
              <a:rPr lang="ru-RU" sz="3200" dirty="0"/>
              <a:t> </a:t>
            </a:r>
            <a:r>
              <a:rPr lang="ru-RU" sz="3200" dirty="0" err="1"/>
              <a:t>random</a:t>
            </a:r>
            <a:r>
              <a:rPr lang="ru-RU" sz="3200" dirty="0"/>
              <a:t> </a:t>
            </a:r>
            <a:r>
              <a:rPr lang="ru-RU" sz="3200" dirty="0" err="1"/>
              <a:t>forest</a:t>
            </a:r>
            <a:r>
              <a:rPr lang="ru-RU" sz="3200" dirty="0"/>
              <a:t> </a:t>
            </a:r>
            <a:r>
              <a:rPr lang="ru-RU" sz="3200" dirty="0" err="1"/>
              <a:t>with</a:t>
            </a:r>
            <a:r>
              <a:rPr lang="ru-RU" sz="3200" dirty="0"/>
              <a:t> </a:t>
            </a:r>
            <a:r>
              <a:rPr lang="ru-RU" sz="3200" dirty="0" err="1"/>
              <a:t>cross-validation</a:t>
            </a:r>
            <a:r>
              <a:rPr lang="ru-RU" sz="3200" dirty="0"/>
              <a:t> </a:t>
            </a:r>
            <a:r>
              <a:rPr lang="ru-RU" sz="3200" dirty="0" err="1"/>
              <a:t>for</a:t>
            </a:r>
            <a:r>
              <a:rPr lang="ru-RU" sz="3200" dirty="0"/>
              <a:t> </a:t>
            </a:r>
            <a:r>
              <a:rPr lang="ru-RU" sz="3200" dirty="0" err="1"/>
              <a:t>improved</a:t>
            </a:r>
            <a:r>
              <a:rPr lang="ru-RU" sz="3200" dirty="0"/>
              <a:t> </a:t>
            </a:r>
            <a:r>
              <a:rPr lang="ru-RU" sz="3200" dirty="0" err="1"/>
              <a:t>accuracy</a:t>
            </a:r>
            <a:r>
              <a:rPr lang="ru-RU" sz="3200" dirty="0"/>
              <a:t>. </a:t>
            </a:r>
            <a:r>
              <a:rPr lang="ru-RU" sz="3200" dirty="0" err="1"/>
              <a:t>Sci</a:t>
            </a:r>
            <a:r>
              <a:rPr lang="ru-RU" sz="3200" dirty="0"/>
              <a:t> </a:t>
            </a:r>
            <a:r>
              <a:rPr lang="ru-RU" sz="3200" dirty="0" err="1"/>
              <a:t>Rep</a:t>
            </a:r>
            <a:r>
              <a:rPr lang="ru-RU" sz="3200" dirty="0"/>
              <a:t>. 2025 </a:t>
            </a:r>
            <a:r>
              <a:rPr lang="ru-RU" sz="3200" dirty="0" err="1"/>
              <a:t>Apr</a:t>
            </a:r>
            <a:r>
              <a:rPr lang="ru-RU" sz="3200" dirty="0"/>
              <a:t> 18;15(1):13444. </a:t>
            </a:r>
            <a:r>
              <a:rPr lang="ru-RU" sz="3200" dirty="0" err="1"/>
              <a:t>doi</a:t>
            </a:r>
            <a:r>
              <a:rPr lang="ru-RU" sz="3200" dirty="0"/>
              <a:t>: 10.1038/s41598-025-93675-1. </a:t>
            </a:r>
            <a:r>
              <a:rPr lang="ru-RU" sz="3200" dirty="0" err="1"/>
              <a:t>Retraction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: </a:t>
            </a:r>
            <a:r>
              <a:rPr lang="ru-RU" sz="3200" dirty="0" err="1"/>
              <a:t>Sci</a:t>
            </a:r>
            <a:r>
              <a:rPr lang="ru-RU" sz="3200" dirty="0"/>
              <a:t> </a:t>
            </a:r>
            <a:r>
              <a:rPr lang="ru-RU" sz="3200" dirty="0" err="1"/>
              <a:t>Rep</a:t>
            </a:r>
            <a:r>
              <a:rPr lang="ru-RU" sz="3200" dirty="0"/>
              <a:t>. 2026 </a:t>
            </a:r>
            <a:r>
              <a:rPr lang="ru-RU" sz="3200" dirty="0" err="1"/>
              <a:t>Apr</a:t>
            </a:r>
            <a:r>
              <a:rPr lang="ru-RU" sz="3200" dirty="0"/>
              <a:t> 20;16(1):12866. </a:t>
            </a:r>
            <a:r>
              <a:rPr lang="ru-RU" sz="3200" dirty="0" err="1"/>
              <a:t>doi</a:t>
            </a:r>
            <a:r>
              <a:rPr lang="ru-RU" sz="3200" dirty="0"/>
              <a:t>: 10.1038/s41598-026-49307-3. PMID: 40251253; PMCID: PMC12008431.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 err="1"/>
              <a:t>Banerjee</a:t>
            </a:r>
            <a:r>
              <a:rPr lang="ru-RU" sz="3200" dirty="0"/>
              <a:t> T, </a:t>
            </a:r>
            <a:r>
              <a:rPr lang="ru-RU" sz="3200" dirty="0" err="1"/>
              <a:t>Paçal</a:t>
            </a:r>
            <a:r>
              <a:rPr lang="ru-RU" sz="3200" dirty="0"/>
              <a:t> İ. A </a:t>
            </a:r>
            <a:r>
              <a:rPr lang="ru-RU" sz="3200" dirty="0" err="1"/>
              <a:t>systematic</a:t>
            </a:r>
            <a:r>
              <a:rPr lang="ru-RU" sz="3200" dirty="0"/>
              <a:t> </a:t>
            </a:r>
            <a:r>
              <a:rPr lang="ru-RU" sz="3200" dirty="0" err="1"/>
              <a:t>review</a:t>
            </a:r>
            <a:r>
              <a:rPr lang="ru-RU" sz="3200" dirty="0"/>
              <a:t> </a:t>
            </a:r>
            <a:r>
              <a:rPr lang="ru-RU" sz="3200" dirty="0" err="1"/>
              <a:t>of</a:t>
            </a:r>
            <a:r>
              <a:rPr lang="ru-RU" sz="3200" dirty="0"/>
              <a:t> </a:t>
            </a:r>
            <a:r>
              <a:rPr lang="ru-RU" sz="3200" dirty="0" err="1"/>
              <a:t>machine</a:t>
            </a:r>
            <a:r>
              <a:rPr lang="ru-RU" sz="3200" dirty="0"/>
              <a:t> </a:t>
            </a:r>
            <a:r>
              <a:rPr lang="ru-RU" sz="3200" dirty="0" err="1"/>
              <a:t>learning</a:t>
            </a:r>
            <a:r>
              <a:rPr lang="ru-RU" sz="3200" dirty="0"/>
              <a:t> </a:t>
            </a:r>
            <a:r>
              <a:rPr lang="ru-RU" sz="3200" dirty="0" err="1"/>
              <a:t>in</a:t>
            </a:r>
            <a:r>
              <a:rPr lang="ru-RU" sz="3200" dirty="0"/>
              <a:t> </a:t>
            </a:r>
            <a:r>
              <a:rPr lang="ru-RU" sz="3200" dirty="0" err="1"/>
              <a:t>heart</a:t>
            </a:r>
            <a:r>
              <a:rPr lang="ru-RU" sz="3200" dirty="0"/>
              <a:t> </a:t>
            </a:r>
            <a:r>
              <a:rPr lang="ru-RU" sz="3200" dirty="0" err="1"/>
              <a:t>disease</a:t>
            </a:r>
            <a:r>
              <a:rPr lang="ru-RU" sz="3200" dirty="0"/>
              <a:t> </a:t>
            </a:r>
            <a:r>
              <a:rPr lang="ru-RU" sz="3200" dirty="0" err="1"/>
              <a:t>prediction</a:t>
            </a:r>
            <a:r>
              <a:rPr lang="ru-RU" sz="3200" dirty="0"/>
              <a:t>. </a:t>
            </a:r>
            <a:r>
              <a:rPr lang="ru-RU" sz="3200" dirty="0" err="1"/>
              <a:t>Turk</a:t>
            </a:r>
            <a:r>
              <a:rPr lang="ru-RU" sz="3200" dirty="0"/>
              <a:t> J </a:t>
            </a:r>
            <a:r>
              <a:rPr lang="ru-RU" sz="3200" dirty="0" err="1"/>
              <a:t>Biol</a:t>
            </a:r>
            <a:r>
              <a:rPr lang="ru-RU" sz="3200" dirty="0"/>
              <a:t>. 2025 </a:t>
            </a:r>
            <a:r>
              <a:rPr lang="ru-RU" sz="3200" dirty="0" err="1"/>
              <a:t>Sep</a:t>
            </a:r>
            <a:r>
              <a:rPr lang="ru-RU" sz="3200" dirty="0"/>
              <a:t> 11;49(5):600-634. </a:t>
            </a:r>
            <a:r>
              <a:rPr lang="ru-RU" sz="3200" dirty="0" err="1"/>
              <a:t>doi</a:t>
            </a:r>
            <a:r>
              <a:rPr lang="ru-RU" sz="3200" dirty="0"/>
              <a:t>: 10.55730/1300-0152.2766. PMID: 41246228; PMCID: PMC12614364.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3200" dirty="0"/>
              <a:t>Д. А. Швец, С. В. Поветкин СРАВНИТЕЛЬНЫЙ ОБЗОР ИСПОЛЬЗОВАНИЯ МЕТОДОВ МАШИННОГО ОБУЧЕНИЯ ДЛЯ ПРОГНОЗИРОВАНИЯ СЕРДЕЧНО-СОСУДИСТОГО РИСКА // Вестник новых медицинских технологий. Электронное издание. 2020. №5. URL: https://cyberleninka.ru/article/n/sravnitelnyy-obzor-ispolzovaniya-metodov-mashinnogo-obucheniya-dlya-prognozirovaniya-serdechno-sosudistogo-riska (дата обращения: 04.06.2026).</a:t>
            </a:r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ru-RU" sz="2400" b="1" dirty="0"/>
          </a:p>
          <a:p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58261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886744" y="2551025"/>
            <a:ext cx="22610512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Ключевые теоретические положения и методы:</a:t>
            </a:r>
          </a:p>
          <a:p>
            <a:endParaRPr lang="ru-RU" sz="2800" dirty="0"/>
          </a:p>
          <a:p>
            <a:r>
              <a:rPr lang="ru-RU" sz="2800" b="1" dirty="0"/>
              <a:t>1. Метод опорных векторов (SVM)</a:t>
            </a:r>
            <a:endParaRPr lang="ru-RU" sz="2800" dirty="0"/>
          </a:p>
          <a:p>
            <a:r>
              <a:rPr lang="ru-RU" sz="2800" dirty="0"/>
              <a:t>Строит гиперплоскость, максимально разделяющую классы «здоров» и «болен».</a:t>
            </a:r>
          </a:p>
          <a:p>
            <a:r>
              <a:rPr lang="ru-RU" sz="2800" dirty="0"/>
              <a:t>Использовали </a:t>
            </a:r>
            <a:r>
              <a:rPr lang="ru-RU" sz="2800" b="1" dirty="0"/>
              <a:t>RBF-ядро</a:t>
            </a:r>
            <a:r>
              <a:rPr lang="ru-RU" sz="2800" dirty="0"/>
              <a:t> (улавливает нелинейные зависимости) и </a:t>
            </a:r>
            <a:r>
              <a:rPr lang="ru-RU" sz="2800" b="1" dirty="0"/>
              <a:t>линейное ядро</a:t>
            </a:r>
            <a:r>
              <a:rPr lang="ru-RU" sz="2800" dirty="0"/>
              <a:t> (для интерпретации весов признаков).</a:t>
            </a:r>
          </a:p>
          <a:p>
            <a:r>
              <a:rPr lang="ru-RU" sz="2800" dirty="0"/>
              <a:t>Параметры настраивали через </a:t>
            </a:r>
            <a:r>
              <a:rPr lang="ru-RU" sz="2800" b="1" dirty="0" err="1"/>
              <a:t>GridSearchCV</a:t>
            </a:r>
            <a:r>
              <a:rPr lang="ru-RU" sz="2800" dirty="0"/>
              <a:t> (C, </a:t>
            </a:r>
            <a:r>
              <a:rPr lang="ru-RU" sz="2800" dirty="0" err="1"/>
              <a:t>gamma</a:t>
            </a:r>
            <a:r>
              <a:rPr lang="ru-RU" sz="2800" dirty="0"/>
              <a:t>).</a:t>
            </a:r>
          </a:p>
          <a:p>
            <a:endParaRPr lang="ru-RU" sz="2800" dirty="0"/>
          </a:p>
          <a:p>
            <a:r>
              <a:rPr lang="ru-RU" sz="2800" b="1" dirty="0"/>
              <a:t>2. Нечёткий k‑ближайших соседей (</a:t>
            </a:r>
            <a:r>
              <a:rPr lang="ru-RU" sz="2800" b="1" dirty="0" err="1"/>
              <a:t>Fuzzy</a:t>
            </a:r>
            <a:r>
              <a:rPr lang="ru-RU" sz="2800" b="1" dirty="0"/>
              <a:t> </a:t>
            </a:r>
            <a:r>
              <a:rPr lang="ru-RU" sz="2800" b="1" dirty="0" err="1"/>
              <a:t>kNN</a:t>
            </a:r>
            <a:r>
              <a:rPr lang="ru-RU" sz="2800" b="1" dirty="0"/>
              <a:t>)</a:t>
            </a:r>
            <a:endParaRPr lang="ru-RU" sz="2800" dirty="0"/>
          </a:p>
          <a:p>
            <a:r>
              <a:rPr lang="ru-RU" sz="2800" dirty="0"/>
              <a:t>Классический </a:t>
            </a:r>
            <a:r>
              <a:rPr lang="ru-RU" sz="2800" dirty="0" err="1"/>
              <a:t>kNN</a:t>
            </a:r>
            <a:r>
              <a:rPr lang="ru-RU" sz="2800" dirty="0"/>
              <a:t> даёт жёсткий голос; 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назначает </a:t>
            </a:r>
            <a:r>
              <a:rPr lang="ru-RU" sz="2800" b="1" dirty="0"/>
              <a:t>веса соседям</a:t>
            </a:r>
            <a:r>
              <a:rPr lang="ru-RU" sz="2800" dirty="0"/>
              <a:t>, обратные расстоянию.</a:t>
            </a:r>
          </a:p>
          <a:p>
            <a:r>
              <a:rPr lang="ru-RU" sz="2800" dirty="0"/>
              <a:t>Возвращает </a:t>
            </a:r>
            <a:r>
              <a:rPr lang="ru-RU" sz="2800" b="1" dirty="0"/>
              <a:t>вероятность</a:t>
            </a:r>
            <a:r>
              <a:rPr lang="ru-RU" sz="2800" dirty="0"/>
              <a:t> принадлежности к классу 1 (риск заболевания).</a:t>
            </a:r>
          </a:p>
          <a:p>
            <a:r>
              <a:rPr lang="ru-RU" sz="2800" dirty="0"/>
              <a:t>Наши параметры: </a:t>
            </a:r>
            <a:r>
              <a:rPr lang="ru-RU" sz="2800" b="1" dirty="0"/>
              <a:t>k=7, m=2</a:t>
            </a:r>
            <a:r>
              <a:rPr lang="ru-RU" sz="2800" dirty="0"/>
              <a:t> (степень нечёткости, вес = 1/расстояние²).</a:t>
            </a:r>
          </a:p>
          <a:p>
            <a:endParaRPr lang="ru-RU" sz="2800" dirty="0"/>
          </a:p>
          <a:p>
            <a:r>
              <a:rPr lang="ru-RU" sz="2800" b="1" dirty="0"/>
              <a:t>3. Снижение размерности (PCA)</a:t>
            </a:r>
            <a:endParaRPr lang="ru-RU" sz="2800" dirty="0"/>
          </a:p>
          <a:p>
            <a:r>
              <a:rPr lang="ru-RU" sz="2800" dirty="0"/>
              <a:t>Сжали 13 признаков до 3 главных компонент (сохранено ~76% дисперсии).</a:t>
            </a:r>
          </a:p>
          <a:p>
            <a:r>
              <a:rPr lang="ru-RU" sz="2800" dirty="0"/>
              <a:t>Интерпретировали </a:t>
            </a:r>
            <a:r>
              <a:rPr lang="ru-RU" sz="2800" b="1" dirty="0"/>
              <a:t>нагрузки</a:t>
            </a:r>
            <a:r>
              <a:rPr lang="ru-RU" sz="2800" dirty="0"/>
              <a:t> (PC1 – «ишемическая ось», PC2 – «</a:t>
            </a:r>
            <a:r>
              <a:rPr lang="ru-RU" sz="2800" dirty="0" err="1"/>
              <a:t>метаболическо</a:t>
            </a:r>
            <a:r>
              <a:rPr lang="ru-RU" sz="2800" dirty="0"/>
              <a:t>-возрастная»).</a:t>
            </a:r>
          </a:p>
          <a:p>
            <a:endParaRPr lang="ru-RU" sz="2800" dirty="0"/>
          </a:p>
          <a:p>
            <a:r>
              <a:rPr lang="ru-RU" sz="2800" b="1" dirty="0"/>
              <a:t>4. Метрики оценки</a:t>
            </a:r>
            <a:endParaRPr lang="ru-RU" sz="2800" dirty="0"/>
          </a:p>
          <a:p>
            <a:r>
              <a:rPr lang="ru-RU" sz="2800" b="1" dirty="0" err="1"/>
              <a:t>Accuracy</a:t>
            </a:r>
            <a:r>
              <a:rPr lang="ru-RU" sz="2800" dirty="0"/>
              <a:t> – общая доля правильных ответов.</a:t>
            </a:r>
          </a:p>
          <a:p>
            <a:r>
              <a:rPr lang="ru-RU" sz="2800" b="1" dirty="0" err="1"/>
              <a:t>Recall</a:t>
            </a:r>
            <a:r>
              <a:rPr lang="ru-RU" sz="2800" b="1" dirty="0"/>
              <a:t> (чувствительность)</a:t>
            </a:r>
            <a:r>
              <a:rPr lang="ru-RU" sz="2800" dirty="0"/>
              <a:t> – доля правильно найденных больных (важнее всего).</a:t>
            </a:r>
          </a:p>
          <a:p>
            <a:r>
              <a:rPr lang="ru-RU" sz="2800" b="1" dirty="0"/>
              <a:t>ROC-AUC</a:t>
            </a:r>
            <a:r>
              <a:rPr lang="ru-RU" sz="2800" dirty="0"/>
              <a:t> – способность модели ранжировать пациентов по риску.</a:t>
            </a:r>
          </a:p>
          <a:p>
            <a:r>
              <a:rPr lang="ru-RU" sz="2800" b="1" dirty="0"/>
              <a:t>Матрица ошибок</a:t>
            </a:r>
            <a:r>
              <a:rPr lang="ru-RU" sz="2800" dirty="0"/>
              <a:t> – наглядно показывает ложноположительные и ложноотрицательные ошибки.</a:t>
            </a:r>
          </a:p>
          <a:p>
            <a:endParaRPr lang="ru-RU" sz="2800" dirty="0"/>
          </a:p>
          <a:p>
            <a:r>
              <a:rPr lang="ru-RU" sz="2800" b="1" dirty="0"/>
              <a:t>5. Порог вероятности для доклинического риска</a:t>
            </a:r>
            <a:endParaRPr lang="ru-RU" sz="2800" dirty="0"/>
          </a:p>
          <a:p>
            <a:r>
              <a:rPr lang="ru-RU" sz="2800" dirty="0"/>
              <a:t>Приняли </a:t>
            </a:r>
            <a:r>
              <a:rPr lang="ru-RU" sz="2800" b="1" dirty="0"/>
              <a:t>порог 0,7</a:t>
            </a:r>
            <a:r>
              <a:rPr lang="ru-RU" sz="2800" dirty="0"/>
              <a:t> – если вероятность болезни &gt;0,7, пациент считается «скрытым риском».</a:t>
            </a:r>
          </a:p>
          <a:p>
            <a:r>
              <a:rPr lang="ru-RU" sz="2800" dirty="0"/>
              <a:t>Это позволяет врачу назначать дополнительное обследование.</a:t>
            </a:r>
          </a:p>
        </p:txBody>
      </p:sp>
    </p:spTree>
    <p:extLst>
      <p:ext uri="{BB962C8B-B14F-4D97-AF65-F5344CB8AC3E}">
        <p14:creationId xmlns:p14="http://schemas.microsoft.com/office/powerpoint/2010/main" val="99044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Алгоритм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736913" y="3515390"/>
            <a:ext cx="20910173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Датасет:</a:t>
            </a:r>
            <a:r>
              <a:rPr lang="ru-RU" sz="3200" dirty="0"/>
              <a:t> UCI Heart </a:t>
            </a:r>
            <a:r>
              <a:rPr lang="ru-RU" sz="3200" dirty="0" err="1"/>
              <a:t>Disease</a:t>
            </a:r>
            <a:r>
              <a:rPr lang="ru-RU" sz="3200" dirty="0"/>
              <a:t> (</a:t>
            </a:r>
            <a:r>
              <a:rPr lang="ru-RU" sz="3200" dirty="0" err="1"/>
              <a:t>Cleveland</a:t>
            </a:r>
            <a:r>
              <a:rPr lang="ru-RU" sz="3200" dirty="0"/>
              <a:t>-версия)</a:t>
            </a:r>
          </a:p>
          <a:p>
            <a:r>
              <a:rPr lang="ru-RU" sz="3200" dirty="0"/>
              <a:t>303 записи, 14 клинических признаков (возраст, давление, холестерин, ЧСС, депрессия ST, количество сосудов и др.)</a:t>
            </a:r>
          </a:p>
          <a:p>
            <a:endParaRPr lang="ru-RU" sz="3200" dirty="0"/>
          </a:p>
          <a:p>
            <a:r>
              <a:rPr lang="ru-RU" sz="3200" dirty="0"/>
              <a:t>Целевая переменная: стеноз &gt;50% (болен / здоров)</a:t>
            </a:r>
          </a:p>
          <a:p>
            <a:r>
              <a:rPr lang="ru-RU" sz="3200" dirty="0"/>
              <a:t>После удаления пропусков – 297 записей</a:t>
            </a:r>
          </a:p>
          <a:p>
            <a:endParaRPr lang="ru-RU" sz="3200" dirty="0"/>
          </a:p>
          <a:p>
            <a:r>
              <a:rPr lang="ru-RU" sz="3200" b="1" dirty="0"/>
              <a:t>Шаги обработки данных и получения результата: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EDA (разведочный анализ)</a:t>
            </a:r>
            <a:r>
              <a:rPr lang="ru-RU" sz="3200" dirty="0"/>
              <a:t> – гистограммы, корреляции, выбросы.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PCA</a:t>
            </a:r>
            <a:r>
              <a:rPr lang="ru-RU" sz="3200" dirty="0"/>
              <a:t> – снижение размерности до 3 компонент, интерпретация нагрузок.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Разделение данных</a:t>
            </a:r>
            <a:r>
              <a:rPr lang="ru-RU" sz="3200" dirty="0"/>
              <a:t> – 80% обучение, 20% тест (стратификация по классу).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Масштабирование</a:t>
            </a:r>
            <a:r>
              <a:rPr lang="ru-RU" sz="3200" dirty="0"/>
              <a:t> – </a:t>
            </a:r>
            <a:r>
              <a:rPr lang="ru-RU" sz="3200" dirty="0" err="1"/>
              <a:t>StandardScaler</a:t>
            </a:r>
            <a:r>
              <a:rPr lang="ru-RU" sz="3200" dirty="0"/>
              <a:t> (обязательно для SVM и </a:t>
            </a:r>
            <a:r>
              <a:rPr lang="ru-RU" sz="3200" dirty="0" err="1"/>
              <a:t>kNN</a:t>
            </a:r>
            <a:r>
              <a:rPr lang="ru-RU" sz="32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Обучение SVM</a:t>
            </a:r>
            <a:r>
              <a:rPr lang="ru-RU" sz="3200" dirty="0"/>
              <a:t> (линейный и RBF с подбором </a:t>
            </a:r>
            <a:r>
              <a:rPr lang="ru-RU" sz="3200" dirty="0" err="1"/>
              <a:t>гиперпараметров</a:t>
            </a:r>
            <a:r>
              <a:rPr lang="ru-RU" sz="3200" dirty="0"/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Реализация и обучение </a:t>
            </a:r>
            <a:r>
              <a:rPr lang="ru-RU" sz="3200" b="1" dirty="0" err="1"/>
              <a:t>Fuzzy</a:t>
            </a:r>
            <a:r>
              <a:rPr lang="ru-RU" sz="3200" b="1" dirty="0"/>
              <a:t> </a:t>
            </a:r>
            <a:r>
              <a:rPr lang="ru-RU" sz="3200" b="1" dirty="0" err="1"/>
              <a:t>kNN</a:t>
            </a:r>
            <a:r>
              <a:rPr lang="ru-RU" sz="3200" dirty="0"/>
              <a:t> (k=7, m=2, вероятностный выход).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Оценка</a:t>
            </a:r>
            <a:r>
              <a:rPr lang="ru-RU" sz="3200" dirty="0"/>
              <a:t> – </a:t>
            </a:r>
            <a:r>
              <a:rPr lang="ru-RU" sz="3200" dirty="0" err="1"/>
              <a:t>Accuracy</a:t>
            </a:r>
            <a:r>
              <a:rPr lang="ru-RU" sz="3200" dirty="0"/>
              <a:t>, </a:t>
            </a:r>
            <a:r>
              <a:rPr lang="ru-RU" sz="3200" dirty="0" err="1"/>
              <a:t>recall</a:t>
            </a:r>
            <a:r>
              <a:rPr lang="ru-RU" sz="3200" dirty="0"/>
              <a:t>, ROC-AUC, матрицы ошибок, ROC-кривые.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Выявление доклинических нарушений</a:t>
            </a:r>
            <a:r>
              <a:rPr lang="ru-RU" sz="3200" dirty="0"/>
              <a:t> – порог вероятности 0,7, поиск здоровых с высоким риском.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b="1" dirty="0"/>
              <a:t>Сравнение моделей</a:t>
            </a:r>
            <a:r>
              <a:rPr lang="ru-RU" sz="3200" dirty="0"/>
              <a:t> – расхождения, сводная таблица, клиническая интерпретация примеров.</a:t>
            </a:r>
          </a:p>
        </p:txBody>
      </p:sp>
    </p:spTree>
    <p:extLst>
      <p:ext uri="{BB962C8B-B14F-4D97-AF65-F5344CB8AC3E}">
        <p14:creationId xmlns:p14="http://schemas.microsoft.com/office/powerpoint/2010/main" val="155219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6A682A-6C80-5509-65A4-3E0962984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2" y="2768752"/>
            <a:ext cx="11431595" cy="73257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F01F4E3-C2C2-0330-F7FD-6F2C99034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728" y="2774976"/>
            <a:ext cx="14314604" cy="62897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463378-B00C-46E7-7027-AA9211F10FBA}"/>
              </a:ext>
            </a:extLst>
          </p:cNvPr>
          <p:cNvSpPr txBox="1"/>
          <p:nvPr/>
        </p:nvSpPr>
        <p:spPr>
          <a:xfrm>
            <a:off x="742728" y="10238420"/>
            <a:ext cx="1000911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Площадь под кривой (AUC) у SVM = 0,954, у 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= 0,940.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Оба метода хорошо разделяют классы (AUC &gt; 0,94).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SVM имеет небольшое преимущество в ранжировании пациентов по риску.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D2C88-020E-47DF-0EFD-23DD3A04AD84}"/>
              </a:ext>
            </a:extLst>
          </p:cNvPr>
          <p:cNvSpPr txBox="1"/>
          <p:nvPr/>
        </p:nvSpPr>
        <p:spPr>
          <a:xfrm>
            <a:off x="12030307" y="9808440"/>
            <a:ext cx="100091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Обе модели правильно распознали 29 из 32 здоровых (ложноположительных – по 3).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SVM пропустил 6 больных (ложноотрицательных), 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– 5.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на 1 пациента с болезнью определил больше, то есть чувствительнее.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34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3B4D562E-3270-B8B7-B684-3FB969F8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>
            <a:extLst>
              <a:ext uri="{FF2B5EF4-FFF2-40B4-BE49-F238E27FC236}">
                <a16:creationId xmlns:a16="http://schemas.microsoft.com/office/drawing/2014/main" id="{D1D16919-E84A-C401-B9B7-91B850471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Результаты работы модели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C3B502B8-B9FD-C015-42B6-516FBF832E9E}"/>
              </a:ext>
            </a:extLst>
          </p:cNvPr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62161324-6CC9-2C58-0194-59CE870BF6E5}"/>
              </a:ext>
            </a:extLst>
          </p:cNvPr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C953E-21AC-4DA7-8FAA-8C1BE70000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31D4B3-59A3-D8AF-4C53-E6674753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79" r="8836" b="4627"/>
          <a:stretch>
            <a:fillRect/>
          </a:stretch>
        </p:blipFill>
        <p:spPr>
          <a:xfrm>
            <a:off x="12403080" y="2092025"/>
            <a:ext cx="10250346" cy="70927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1DD8D2-77B3-826D-E62D-A4B2700A1C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15" t="19907" r="15929" b="19154"/>
          <a:stretch>
            <a:fillRect/>
          </a:stretch>
        </p:blipFill>
        <p:spPr>
          <a:xfrm>
            <a:off x="702550" y="3113584"/>
            <a:ext cx="11521280" cy="53018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E3CD06-3BA6-FC1D-6797-C5DC684E309F}"/>
              </a:ext>
            </a:extLst>
          </p:cNvPr>
          <p:cNvSpPr txBox="1"/>
          <p:nvPr/>
        </p:nvSpPr>
        <p:spPr>
          <a:xfrm>
            <a:off x="1498449" y="8977972"/>
            <a:ext cx="995846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Модели </a:t>
            </a:r>
            <a:r>
              <a:rPr lang="ru-RU" sz="2800" b="1" dirty="0"/>
              <a:t>не согласны в 7 случаях</a:t>
            </a:r>
            <a:r>
              <a:rPr lang="ru-RU" sz="2800" dirty="0"/>
              <a:t> из 60 тестовых пациентов (≈12%).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Среди истинно здоровых (</a:t>
            </a:r>
            <a:r>
              <a:rPr lang="ru-RU" sz="2800" dirty="0" err="1"/>
              <a:t>true</a:t>
            </a:r>
            <a:r>
              <a:rPr lang="ru-RU" sz="2800" dirty="0"/>
              <a:t>=0) SVM ошибочно предсказал болезнь у пациента </a:t>
            </a:r>
            <a:r>
              <a:rPr lang="ru-RU" sz="2800" b="1" dirty="0"/>
              <a:t>12</a:t>
            </a:r>
            <a:r>
              <a:rPr lang="ru-RU" sz="2800" dirty="0"/>
              <a:t> (вероятность 0,732), а 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– у пациента </a:t>
            </a:r>
            <a:r>
              <a:rPr lang="ru-RU" sz="2800" b="1" dirty="0"/>
              <a:t>25</a:t>
            </a:r>
            <a:r>
              <a:rPr lang="ru-RU" sz="2800" dirty="0"/>
              <a:t> (вероятность 0,733). Это </a:t>
            </a:r>
            <a:r>
              <a:rPr lang="ru-RU" sz="2800" b="1" dirty="0"/>
              <a:t>разные профили риска</a:t>
            </a:r>
            <a:r>
              <a:rPr lang="ru-RU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 строке </a:t>
            </a:r>
            <a:r>
              <a:rPr lang="ru-RU" sz="2800" b="1" dirty="0"/>
              <a:t>25</a:t>
            </a:r>
            <a:r>
              <a:rPr lang="ru-RU" sz="2800" dirty="0"/>
              <a:t> 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дал риск 0,733, а SVM – 0,481 – яркий пример, когда мягкий метод «видит» скрытое нарушение, а жёсткий – нет.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3A948-28A4-2275-2A3C-06186B5130CA}"/>
              </a:ext>
            </a:extLst>
          </p:cNvPr>
          <p:cNvSpPr txBox="1"/>
          <p:nvPr/>
        </p:nvSpPr>
        <p:spPr>
          <a:xfrm>
            <a:off x="12136025" y="9534644"/>
            <a:ext cx="108977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Красные точки (расхождения) сконцентрированы в </a:t>
            </a:r>
            <a:r>
              <a:rPr lang="ru-RU" sz="2800" b="1" dirty="0"/>
              <a:t>«серой зоне» вероятностей 0,3–0,7</a:t>
            </a:r>
            <a:r>
              <a:rPr lang="ru-RU" sz="2800" dirty="0"/>
              <a:t> – там, где модели сомневаются.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Точки </a:t>
            </a:r>
            <a:r>
              <a:rPr lang="ru-RU" sz="2800" b="1" dirty="0"/>
              <a:t>выше диагонали</a:t>
            </a:r>
            <a:r>
              <a:rPr lang="ru-RU" sz="2800" dirty="0"/>
              <a:t> (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 &gt; SVM) соответствуют пациентам, которых нечёткий метод считает более рискованными (например, пациент 25).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Точки </a:t>
            </a:r>
            <a:r>
              <a:rPr lang="ru-RU" sz="2800" b="1" dirty="0"/>
              <a:t>ниже диагонали</a:t>
            </a:r>
            <a:r>
              <a:rPr lang="ru-RU" sz="2800" dirty="0"/>
              <a:t> (SVM &gt; </a:t>
            </a:r>
            <a:r>
              <a:rPr lang="ru-RU" sz="2800" dirty="0" err="1"/>
              <a:t>Fuzzy</a:t>
            </a:r>
            <a:r>
              <a:rPr lang="ru-RU" sz="2800" dirty="0"/>
              <a:t> </a:t>
            </a:r>
            <a:r>
              <a:rPr lang="ru-RU" sz="2800" dirty="0" err="1"/>
              <a:t>kNN</a:t>
            </a:r>
            <a:r>
              <a:rPr lang="ru-RU" sz="2800" dirty="0"/>
              <a:t>) соответствуют пациентам, которых SVM оценивает строже (пациент 12).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432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1FE00-CF21-CAE3-B91E-3FB3749A884A}"/>
              </a:ext>
            </a:extLst>
          </p:cNvPr>
          <p:cNvSpPr txBox="1"/>
          <p:nvPr/>
        </p:nvSpPr>
        <p:spPr>
          <a:xfrm>
            <a:off x="1325256" y="2476925"/>
            <a:ext cx="20910173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Основные выводы:</a:t>
            </a:r>
            <a:endParaRPr lang="ru-RU" sz="3200" dirty="0"/>
          </a:p>
          <a:p>
            <a:r>
              <a:rPr lang="ru-RU" sz="3200" b="1" dirty="0" err="1"/>
              <a:t>Fuzzy</a:t>
            </a:r>
            <a:r>
              <a:rPr lang="ru-RU" sz="3200" b="1" dirty="0"/>
              <a:t> </a:t>
            </a:r>
            <a:r>
              <a:rPr lang="ru-RU" sz="3200" b="1" dirty="0" err="1"/>
              <a:t>kNN</a:t>
            </a:r>
            <a:r>
              <a:rPr lang="ru-RU" sz="3200" b="1" dirty="0"/>
              <a:t> показал более высокую чувствительность (</a:t>
            </a:r>
            <a:r>
              <a:rPr lang="ru-RU" sz="3200" b="1" dirty="0" err="1"/>
              <a:t>recall</a:t>
            </a:r>
            <a:r>
              <a:rPr lang="ru-RU" sz="3200" b="1" dirty="0"/>
              <a:t>) по классу «болен»</a:t>
            </a:r>
            <a:r>
              <a:rPr lang="ru-RU" sz="3200" dirty="0"/>
              <a:t> – 0,82 против 0,79 у SVM. Это означает, что он реже пропускает пациентов с заболеванием.</a:t>
            </a:r>
          </a:p>
          <a:p>
            <a:r>
              <a:rPr lang="ru-RU" sz="3200" b="1" dirty="0"/>
              <a:t>Оба метода хорошо разделяют классы</a:t>
            </a:r>
            <a:r>
              <a:rPr lang="ru-RU" sz="3200" dirty="0"/>
              <a:t> (AUC &gt; 0,94), но SVM имеет небольшое преимущество в ранжировании риска (AUC 0,954 против 0,940).</a:t>
            </a:r>
          </a:p>
          <a:p>
            <a:r>
              <a:rPr lang="ru-RU" sz="3200" b="1" dirty="0"/>
              <a:t>Выявлены конкретные пациенты с доклиническими нарушениями:</a:t>
            </a:r>
            <a:endParaRPr lang="ru-RU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ru-RU" sz="3200" dirty="0"/>
              <a:t>Пациент №12 (риск по SVM &gt; 0,7)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ru-RU" sz="3200" dirty="0"/>
              <a:t>Пациент №25 (риск по </a:t>
            </a:r>
            <a:r>
              <a:rPr lang="ru-RU" sz="3200" dirty="0" err="1"/>
              <a:t>Fuzzy</a:t>
            </a:r>
            <a:r>
              <a:rPr lang="ru-RU" sz="3200" dirty="0"/>
              <a:t> </a:t>
            </a:r>
            <a:r>
              <a:rPr lang="ru-RU" sz="3200" dirty="0" err="1"/>
              <a:t>kNN</a:t>
            </a:r>
            <a:r>
              <a:rPr lang="ru-RU" sz="3200" dirty="0"/>
              <a:t> &gt; 0,7)</a:t>
            </a:r>
            <a:br>
              <a:rPr lang="ru-RU" sz="3200" dirty="0"/>
            </a:br>
            <a:r>
              <a:rPr lang="ru-RU" sz="3200" dirty="0"/>
              <a:t>Это разные люди – каждый метод нашёл свой скрытый профиль риска.</a:t>
            </a:r>
          </a:p>
          <a:p>
            <a:r>
              <a:rPr lang="ru-RU" sz="3200" b="1" dirty="0"/>
              <a:t>Модели не согласны в ~12% случаев</a:t>
            </a:r>
            <a:r>
              <a:rPr lang="ru-RU" sz="3200" dirty="0"/>
              <a:t> – это пограничная «серая зона», где вероятностный выход </a:t>
            </a:r>
            <a:r>
              <a:rPr lang="ru-RU" sz="3200" dirty="0" err="1"/>
              <a:t>Fuzzy</a:t>
            </a:r>
            <a:r>
              <a:rPr lang="ru-RU" sz="3200" dirty="0"/>
              <a:t> </a:t>
            </a:r>
            <a:r>
              <a:rPr lang="ru-RU" sz="3200" dirty="0" err="1"/>
              <a:t>kNN</a:t>
            </a:r>
            <a:r>
              <a:rPr lang="ru-RU" sz="3200" dirty="0"/>
              <a:t> даёт врачу дополнительную информацию для принятия решения.</a:t>
            </a:r>
          </a:p>
          <a:p>
            <a:r>
              <a:rPr lang="ru-RU" sz="3200" b="1" dirty="0"/>
              <a:t>Научная гипотеза подтвердилась: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err="1"/>
              <a:t>Fuzzy</a:t>
            </a:r>
            <a:r>
              <a:rPr lang="ru-RU" sz="3200" dirty="0"/>
              <a:t> </a:t>
            </a:r>
            <a:r>
              <a:rPr lang="ru-RU" sz="3200" dirty="0" err="1"/>
              <a:t>kNN</a:t>
            </a:r>
            <a:r>
              <a:rPr lang="ru-RU" sz="3200" dirty="0"/>
              <a:t> действительно лучше выявляет скрытые профили риска за счёт вероятностного выхода и учёта локальной структуры данных (выше </a:t>
            </a:r>
            <a:r>
              <a:rPr lang="ru-RU" sz="3200" dirty="0" err="1"/>
              <a:t>recall</a:t>
            </a:r>
            <a:r>
              <a:rPr lang="ru-RU" sz="3200" dirty="0"/>
              <a:t>, найден пациент 25, которого SVM пропустил).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SVM, в свою очередь, полезен для общей оценки порядка риска (выше AUC).</a:t>
            </a:r>
          </a:p>
          <a:p>
            <a:r>
              <a:rPr lang="ru-RU" sz="3200" b="1" dirty="0"/>
              <a:t>Практическая рекомендация: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Для </a:t>
            </a:r>
            <a:r>
              <a:rPr lang="ru-RU" sz="3200" b="1" dirty="0"/>
              <a:t>скрининга</a:t>
            </a:r>
            <a:r>
              <a:rPr lang="ru-RU" sz="3200" dirty="0"/>
              <a:t> доклинических нарушений предпочтительнее </a:t>
            </a:r>
            <a:r>
              <a:rPr lang="ru-RU" sz="3200" b="1" dirty="0" err="1"/>
              <a:t>Fuzzy</a:t>
            </a:r>
            <a:r>
              <a:rPr lang="ru-RU" sz="3200" b="1" dirty="0"/>
              <a:t> </a:t>
            </a:r>
            <a:r>
              <a:rPr lang="ru-RU" sz="3200" b="1" dirty="0" err="1"/>
              <a:t>kNN</a:t>
            </a:r>
            <a:r>
              <a:rPr lang="ru-RU" sz="3200" dirty="0"/>
              <a:t> (выше чувствительность).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Для </a:t>
            </a:r>
            <a:r>
              <a:rPr lang="ru-RU" sz="3200" b="1" dirty="0"/>
              <a:t>окончательного ранжирования</a:t>
            </a:r>
            <a:r>
              <a:rPr lang="ru-RU" sz="3200" dirty="0"/>
              <a:t> пациентов можно использовать </a:t>
            </a:r>
            <a:r>
              <a:rPr lang="ru-RU" sz="3200" b="1" dirty="0"/>
              <a:t>SVM</a:t>
            </a:r>
            <a:r>
              <a:rPr lang="ru-RU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Оптимально – </a:t>
            </a:r>
            <a:r>
              <a:rPr lang="ru-RU" sz="3200" b="1" dirty="0"/>
              <a:t>объединение обоих методов</a:t>
            </a:r>
            <a:r>
              <a:rPr lang="ru-RU" sz="3200" dirty="0"/>
              <a:t>: направлять на дообследование, если хотя бы один даёт риск &gt;0,7.</a:t>
            </a:r>
          </a:p>
        </p:txBody>
      </p:sp>
    </p:spTree>
    <p:extLst>
      <p:ext uri="{BB962C8B-B14F-4D97-AF65-F5344CB8AC3E}">
        <p14:creationId xmlns:p14="http://schemas.microsoft.com/office/powerpoint/2010/main" val="302908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>
            <a:spLocks noGrp="1"/>
          </p:cNvSpPr>
          <p:nvPr>
            <p:ph type="body" idx="1"/>
          </p:nvPr>
        </p:nvSpPr>
        <p:spPr>
          <a:xfrm>
            <a:off x="12315275" y="1068725"/>
            <a:ext cx="10897800" cy="14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r>
              <a:rPr lang="ru-RU" sz="5100" dirty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 sz="5100" dirty="0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</a:pPr>
            <a:endParaRPr sz="51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66624" y="994625"/>
            <a:ext cx="5288099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1184"/>
              </a:lnSpc>
              <a:spcBef>
                <a:spcPts val="0"/>
              </a:spcBef>
              <a:spcAft>
                <a:spcPts val="0"/>
              </a:spcAft>
              <a:buClr>
                <a:srgbClr val="2253A1"/>
              </a:buClr>
              <a:buSzPts val="3040"/>
              <a:buNone/>
            </a:pP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Центр цифровой медицины и </a:t>
            </a:r>
            <a:b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800" dirty="0">
                <a:solidFill>
                  <a:srgbClr val="2253A1"/>
                </a:solidFill>
                <a:latin typeface="Arial"/>
                <a:ea typeface="Arial"/>
                <a:cs typeface="Arial"/>
                <a:sym typeface="Arial"/>
              </a:rPr>
              <a:t>искусственного интеллекта в медицине</a:t>
            </a:r>
            <a:endParaRPr lang="ru-RU"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6847925" y="994625"/>
            <a:ext cx="5288100" cy="15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61184"/>
              </a:lnSpc>
              <a:buClr>
                <a:srgbClr val="2253A1"/>
              </a:buClr>
              <a:buSzPts val="3040"/>
              <a:buNone/>
              <a:defRPr sz="1800">
                <a:solidFill>
                  <a:srgbClr val="2253A1"/>
                </a:solidFill>
              </a:defRPr>
            </a:lvl1pPr>
          </a:lstStyle>
          <a:p>
            <a:r>
              <a:rPr lang="en-US" dirty="0" err="1"/>
              <a:t>Информационные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и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 (09.03.02)</a:t>
            </a:r>
            <a:endParaRPr dirty="0"/>
          </a:p>
          <a:p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BA9AE-AFCC-9289-C828-9202EC96B5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7AE55-88BC-D6C0-DAA8-9C7ED6059B09}"/>
              </a:ext>
            </a:extLst>
          </p:cNvPr>
          <p:cNvSpPr txBox="1"/>
          <p:nvPr/>
        </p:nvSpPr>
        <p:spPr>
          <a:xfrm>
            <a:off x="7815485" y="6304002"/>
            <a:ext cx="89995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6600" dirty="0"/>
              <a:t>Спасибо за внимание!</a:t>
            </a:r>
            <a:endParaRPr lang="en-RU" sz="6600" dirty="0"/>
          </a:p>
        </p:txBody>
      </p:sp>
    </p:spTree>
    <p:extLst>
      <p:ext uri="{BB962C8B-B14F-4D97-AF65-F5344CB8AC3E}">
        <p14:creationId xmlns:p14="http://schemas.microsoft.com/office/powerpoint/2010/main" val="350730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F4155F8-ECBD-4D85-9A53-37CC9963C3E4}">
  <we:reference id="wa200010196" version="1.0.0.0" store="ru-RU" storeType="OMEX"/>
  <we:alternateReferences>
    <we:reference id="WA200010196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AA8A387-B631-4C89-82B4-282F080E7836}">
  <we:reference id="wa200007130" version="1.0.0.1" store="ru-RU" storeType="OMEX"/>
  <we:alternateReferences>
    <we:reference id="WA200007130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1716</Words>
  <Application>Microsoft Office PowerPoint</Application>
  <PresentationFormat>Произвольный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Андриянова Екатерина Вячеславовна</dc:creator>
  <cp:keywords/>
  <dc:description/>
  <cp:lastModifiedBy>Вероника Мохова</cp:lastModifiedBy>
  <cp:revision>24</cp:revision>
  <dcterms:modified xsi:type="dcterms:W3CDTF">2026-06-04T09:06:32Z</dcterms:modified>
  <cp:category/>
</cp:coreProperties>
</file>