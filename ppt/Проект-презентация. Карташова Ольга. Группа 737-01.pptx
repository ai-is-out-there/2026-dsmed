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8" r:id="rId3"/>
    <p:sldId id="273" r:id="rId4"/>
    <p:sldId id="287" r:id="rId5"/>
    <p:sldId id="277" r:id="rId6"/>
    <p:sldId id="279" r:id="rId7"/>
    <p:sldId id="278" r:id="rId8"/>
    <p:sldId id="280" r:id="rId9"/>
    <p:sldId id="281" r:id="rId10"/>
    <p:sldId id="282" r:id="rId11"/>
    <p:sldId id="283" r:id="rId12"/>
    <p:sldId id="284" r:id="rId13"/>
    <p:sldId id="285" r:id="rId14"/>
    <p:sldId id="286" r:id="rId15"/>
  </p:sldIdLst>
  <p:sldSz cx="24384000" cy="13716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CA6F"/>
    <a:srgbClr val="E9F6E9"/>
    <a:srgbClr val="F0F0F0"/>
    <a:srgbClr val="FFECEE"/>
    <a:srgbClr val="E74C3B"/>
    <a:srgbClr val="FFF3E0"/>
    <a:srgbClr val="F49D12"/>
    <a:srgbClr val="FFFAE6"/>
    <a:srgbClr val="F2C31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70"/>
    <p:restoredTop sz="95089" autoAdjust="0"/>
  </p:normalViewPr>
  <p:slideViewPr>
    <p:cSldViewPr>
      <p:cViewPr varScale="1">
        <p:scale>
          <a:sx n="51" d="100"/>
          <a:sy n="51" d="100"/>
        </p:scale>
        <p:origin x="304" y="1048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918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2675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650BC176-0079-06DF-A01E-10850E29E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>
            <a:extLst>
              <a:ext uri="{FF2B5EF4-FFF2-40B4-BE49-F238E27FC236}">
                <a16:creationId xmlns:a16="http://schemas.microsoft.com/office/drawing/2014/main" id="{0CE939A8-EBB9-FFA3-466C-4A0F6E4A7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>
            <a:extLst>
              <a:ext uri="{FF2B5EF4-FFF2-40B4-BE49-F238E27FC236}">
                <a16:creationId xmlns:a16="http://schemas.microsoft.com/office/drawing/2014/main" id="{E93CFBCE-1A47-D9EC-6995-B3D13745CA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9146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2750BC1E-4449-A094-CD48-7D79369DC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>
            <a:extLst>
              <a:ext uri="{FF2B5EF4-FFF2-40B4-BE49-F238E27FC236}">
                <a16:creationId xmlns:a16="http://schemas.microsoft.com/office/drawing/2014/main" id="{0D2CCE3F-696D-76C2-0086-12844929FB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>
            <a:extLst>
              <a:ext uri="{FF2B5EF4-FFF2-40B4-BE49-F238E27FC236}">
                <a16:creationId xmlns:a16="http://schemas.microsoft.com/office/drawing/2014/main" id="{AD76655F-A398-4AA8-743F-35B214F030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971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C1002A4F-44BF-0B97-14B1-887127464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>
            <a:extLst>
              <a:ext uri="{FF2B5EF4-FFF2-40B4-BE49-F238E27FC236}">
                <a16:creationId xmlns:a16="http://schemas.microsoft.com/office/drawing/2014/main" id="{911F9837-3701-DF89-6DEF-6B358E732C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>
            <a:extLst>
              <a:ext uri="{FF2B5EF4-FFF2-40B4-BE49-F238E27FC236}">
                <a16:creationId xmlns:a16="http://schemas.microsoft.com/office/drawing/2014/main" id="{F0D01867-9CC9-CEF6-18A3-9EDB6EC540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11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019B7ED7-F132-5288-3139-D4A014D41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>
            <a:extLst>
              <a:ext uri="{FF2B5EF4-FFF2-40B4-BE49-F238E27FC236}">
                <a16:creationId xmlns:a16="http://schemas.microsoft.com/office/drawing/2014/main" id="{C0ACE706-40E6-DEAC-CF15-48D6D5611E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>
            <a:extLst>
              <a:ext uri="{FF2B5EF4-FFF2-40B4-BE49-F238E27FC236}">
                <a16:creationId xmlns:a16="http://schemas.microsoft.com/office/drawing/2014/main" id="{CDBFFB59-F172-495C-47CD-40EB6D8F05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906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7696AB22-64AD-4424-CF96-842A94E06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>
            <a:extLst>
              <a:ext uri="{FF2B5EF4-FFF2-40B4-BE49-F238E27FC236}">
                <a16:creationId xmlns:a16="http://schemas.microsoft.com/office/drawing/2014/main" id="{4BF483E1-AFBA-7939-2C39-A0F29E2829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>
            <a:extLst>
              <a:ext uri="{FF2B5EF4-FFF2-40B4-BE49-F238E27FC236}">
                <a16:creationId xmlns:a16="http://schemas.microsoft.com/office/drawing/2014/main" id="{0CC2C812-C785-5F0A-D536-C37B6155D4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0051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6AE39246-85E6-E05D-A229-3FA5AE676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>
            <a:extLst>
              <a:ext uri="{FF2B5EF4-FFF2-40B4-BE49-F238E27FC236}">
                <a16:creationId xmlns:a16="http://schemas.microsoft.com/office/drawing/2014/main" id="{F3985F75-CB86-D71E-C411-FDEF41566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>
            <a:extLst>
              <a:ext uri="{FF2B5EF4-FFF2-40B4-BE49-F238E27FC236}">
                <a16:creationId xmlns:a16="http://schemas.microsoft.com/office/drawing/2014/main" id="{922722C6-5EEB-981B-E5AE-CC6D78FF24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157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B443AB78-E1AE-171A-22C3-27E2F32F2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>
            <a:extLst>
              <a:ext uri="{FF2B5EF4-FFF2-40B4-BE49-F238E27FC236}">
                <a16:creationId xmlns:a16="http://schemas.microsoft.com/office/drawing/2014/main" id="{AF659C88-804C-C4EE-C163-9600F3390E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>
            <a:extLst>
              <a:ext uri="{FF2B5EF4-FFF2-40B4-BE49-F238E27FC236}">
                <a16:creationId xmlns:a16="http://schemas.microsoft.com/office/drawing/2014/main" id="{8901FC70-1B52-2C14-8B81-9914177B55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9579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E8CAFDBC-6C92-9E2D-AC83-0C5E6F05B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>
            <a:extLst>
              <a:ext uri="{FF2B5EF4-FFF2-40B4-BE49-F238E27FC236}">
                <a16:creationId xmlns:a16="http://schemas.microsoft.com/office/drawing/2014/main" id="{F11DC560-AF4E-A489-5A34-560D942341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>
            <a:extLst>
              <a:ext uri="{FF2B5EF4-FFF2-40B4-BE49-F238E27FC236}">
                <a16:creationId xmlns:a16="http://schemas.microsoft.com/office/drawing/2014/main" id="{0650D256-1F30-6A4A-71B1-BE7CAA6590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29972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6EE0AACA-4464-6F01-FF7A-1582939EE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>
            <a:extLst>
              <a:ext uri="{FF2B5EF4-FFF2-40B4-BE49-F238E27FC236}">
                <a16:creationId xmlns:a16="http://schemas.microsoft.com/office/drawing/2014/main" id="{902CCAFD-4FE4-B63F-918F-28EFC857E8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>
            <a:extLst>
              <a:ext uri="{FF2B5EF4-FFF2-40B4-BE49-F238E27FC236}">
                <a16:creationId xmlns:a16="http://schemas.microsoft.com/office/drawing/2014/main" id="{8BA41F2F-3FE5-39F3-8F22-67CAB3FDA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073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E335838A-6678-4C3D-5512-C82488FD3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>
            <a:extLst>
              <a:ext uri="{FF2B5EF4-FFF2-40B4-BE49-F238E27FC236}">
                <a16:creationId xmlns:a16="http://schemas.microsoft.com/office/drawing/2014/main" id="{9E8FF4F4-90F0-18EF-9469-6BDB820218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>
            <a:extLst>
              <a:ext uri="{FF2B5EF4-FFF2-40B4-BE49-F238E27FC236}">
                <a16:creationId xmlns:a16="http://schemas.microsoft.com/office/drawing/2014/main" id="{38C234BF-23FA-D703-B765-CB9DC9AF50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539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14B7C4FB-F187-D845-E3D6-A6B3AA888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>
            <a:extLst>
              <a:ext uri="{FF2B5EF4-FFF2-40B4-BE49-F238E27FC236}">
                <a16:creationId xmlns:a16="http://schemas.microsoft.com/office/drawing/2014/main" id="{6309A3C8-95BA-85D3-069A-113E545662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>
            <a:extLst>
              <a:ext uri="{FF2B5EF4-FFF2-40B4-BE49-F238E27FC236}">
                <a16:creationId xmlns:a16="http://schemas.microsoft.com/office/drawing/2014/main" id="{DE2E4326-72B1-D39E-EECA-D73A03F33F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163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ложка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Изображе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994219" y="1105429"/>
            <a:ext cx="22395562" cy="1150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 descr="сбор гум.помощи-0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8086" y="1924345"/>
            <a:ext cx="1532263" cy="1772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2"/>
          <p:cNvCxnSpPr/>
          <p:nvPr/>
        </p:nvCxnSpPr>
        <p:spPr>
          <a:xfrm>
            <a:off x="12180424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0" name="Google Shape;20;p2"/>
          <p:cNvCxnSpPr/>
          <p:nvPr/>
        </p:nvCxnSpPr>
        <p:spPr>
          <a:xfrm>
            <a:off x="17285159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1" name="Google Shape;21;p2"/>
          <p:cNvCxnSpPr/>
          <p:nvPr/>
        </p:nvCxnSpPr>
        <p:spPr>
          <a:xfrm>
            <a:off x="22358092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" name="Google Shape;22;p2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body" idx="2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body" idx="4"/>
          </p:nvPr>
        </p:nvSpPr>
        <p:spPr>
          <a:xfrm>
            <a:off x="2029011" y="4568039"/>
            <a:ext cx="20325978" cy="39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5"/>
          </p:nvPr>
        </p:nvSpPr>
        <p:spPr>
          <a:xfrm>
            <a:off x="2029011" y="9494374"/>
            <a:ext cx="9995707" cy="17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2" descr="Изображение"/>
          <p:cNvPicPr preferRelativeResize="0"/>
          <p:nvPr/>
        </p:nvPicPr>
        <p:blipFill rotWithShape="1">
          <a:blip r:embed="rId5">
            <a:alphaModFix amt="27474"/>
          </a:blip>
          <a:srcRect/>
          <a:stretch/>
        </p:blipFill>
        <p:spPr>
          <a:xfrm>
            <a:off x="13288396" y="1662907"/>
            <a:ext cx="16546249" cy="1779153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2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3">
  <p:cSld name="Текст_3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2"/>
          </p:nvPr>
        </p:nvSpPr>
        <p:spPr>
          <a:xfrm>
            <a:off x="1125839" y="4725596"/>
            <a:ext cx="22132322" cy="656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8" name="Google Shape;38;p4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" name="Google Shape;39;p4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0" name="Google Shape;40;p4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41" name="Google Shape;41;p4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2">
  <p:cSld name="Текст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5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1071388" y="4938019"/>
            <a:ext cx="9560764" cy="2951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2"/>
          </p:nvPr>
        </p:nvSpPr>
        <p:spPr>
          <a:xfrm>
            <a:off x="1071389" y="10647084"/>
            <a:ext cx="9560764" cy="7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3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4"/>
          </p:nvPr>
        </p:nvSpPr>
        <p:spPr>
          <a:xfrm>
            <a:off x="12190716" y="4925943"/>
            <a:ext cx="10974722" cy="3886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101600" rIns="101600" bIns="1016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0" name="Google Shape;50;p5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1" name="Google Shape;51;p5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2" name="Google Shape;52;p5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53" name="Google Shape;53;p5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1">
  <p:cSld name="График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6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 txBox="1">
            <a:spLocks noGrp="1"/>
          </p:cNvSpPr>
          <p:nvPr>
            <p:ph type="body" idx="1"/>
          </p:nvPr>
        </p:nvSpPr>
        <p:spPr>
          <a:xfrm>
            <a:off x="1026347" y="2970008"/>
            <a:ext cx="7120557" cy="211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body" idx="2"/>
          </p:nvPr>
        </p:nvSpPr>
        <p:spPr>
          <a:xfrm>
            <a:off x="1026347" y="6080647"/>
            <a:ext cx="7120557" cy="262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1" name="Google Shape;61;p6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2" name="Google Shape;62;p6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3" name="Google Shape;63;p6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64" name="Google Shape;64;p6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6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2">
  <p:cSld name="График_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2"/>
          </p:nvPr>
        </p:nvSpPr>
        <p:spPr>
          <a:xfrm>
            <a:off x="1071389" y="4886926"/>
            <a:ext cx="6960890" cy="462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7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3" name="Google Shape;73;p7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4" name="Google Shape;74;p7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75" name="Google Shape;75;p7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Цифры">
  <p:cSld name="Цифры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/>
        </p:nvSpPr>
        <p:spPr>
          <a:xfrm>
            <a:off x="2029012" y="4568039"/>
            <a:ext cx="20325977" cy="401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8600"/>
              <a:buFont typeface="Arial"/>
              <a:buNone/>
            </a:pP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Название презентации</a:t>
            </a:r>
            <a:b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может быть набрано в две </a:t>
            </a:r>
            <a:b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или три строки</a:t>
            </a:r>
            <a:endParaRPr/>
          </a:p>
        </p:txBody>
      </p:sp>
      <p:sp>
        <p:nvSpPr>
          <p:cNvPr id="79" name="Google Shape;79;p8"/>
          <p:cNvSpPr txBox="1"/>
          <p:nvPr/>
        </p:nvSpPr>
        <p:spPr>
          <a:xfrm>
            <a:off x="2029012" y="9794174"/>
            <a:ext cx="20325977" cy="66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 нужно больше места, то используйте подзаголовок</a:t>
            </a:r>
            <a:endParaRPr/>
          </a:p>
        </p:txBody>
      </p:sp>
      <p:pic>
        <p:nvPicPr>
          <p:cNvPr id="80" name="Google Shape;80;p8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1071390" y="4937092"/>
            <a:ext cx="5646296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body" idx="2"/>
          </p:nvPr>
        </p:nvSpPr>
        <p:spPr>
          <a:xfrm>
            <a:off x="8135580" y="4937092"/>
            <a:ext cx="6313734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3"/>
          </p:nvPr>
        </p:nvSpPr>
        <p:spPr>
          <a:xfrm>
            <a:off x="15110121" y="4937092"/>
            <a:ext cx="5646294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4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5"/>
          </p:nvPr>
        </p:nvSpPr>
        <p:spPr>
          <a:xfrm>
            <a:off x="1071391" y="8351777"/>
            <a:ext cx="5434543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body" idx="6"/>
          </p:nvPr>
        </p:nvSpPr>
        <p:spPr>
          <a:xfrm>
            <a:off x="8135580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8"/>
          <p:cNvSpPr txBox="1">
            <a:spLocks noGrp="1"/>
          </p:cNvSpPr>
          <p:nvPr>
            <p:ph type="body" idx="7"/>
          </p:nvPr>
        </p:nvSpPr>
        <p:spPr>
          <a:xfrm>
            <a:off x="15110121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89" name="Google Shape;89;p8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0" name="Google Shape;90;p8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1" name="Google Shape;91;p8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2" name="Google Shape;92;p8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аблица_1">
  <p:cSld name="Таблица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body" idx="2"/>
          </p:nvPr>
        </p:nvSpPr>
        <p:spPr>
          <a:xfrm>
            <a:off x="1071388" y="11162430"/>
            <a:ext cx="15527375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9" name="Google Shape;99;p9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0" name="Google Shape;100;p9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1" name="Google Shape;101;p9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2" name="Google Shape;102;p9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9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аблица_2">
  <p:cSld name="Таблица_2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0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0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body" idx="2"/>
          </p:nvPr>
        </p:nvSpPr>
        <p:spPr>
          <a:xfrm>
            <a:off x="17388763" y="4377478"/>
            <a:ext cx="5434542" cy="323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9" name="Google Shape;109;p10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0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1" name="Google Shape;111;p10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2" name="Google Shape;112;p10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3" name="Google Shape;113;p10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3">
  <p:cSld name="График_3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1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5543437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body" idx="2"/>
          </p:nvPr>
        </p:nvSpPr>
        <p:spPr>
          <a:xfrm>
            <a:off x="1125837" y="4734526"/>
            <a:ext cx="5434543" cy="2316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20" name="Google Shape;120;p1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1" name="Google Shape;121;p1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2" name="Google Shape;122;p1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23" name="Google Shape;123;p11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">
  <p:cSld name="Пустой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2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2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2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9" name="Google Shape;129;p12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0" name="Google Shape;130;p12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31" name="Google Shape;131;p12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сбор гум.помощи-06.png"/>
          <p:cNvPicPr preferRelativeResize="0"/>
          <p:nvPr/>
        </p:nvPicPr>
        <p:blipFill rotWithShape="1">
          <a:blip r:embed="rId13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8;p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" name="Google Shape;9;p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" name="Google Shape;10;p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1" name="Google Shape;11;p1" descr="сбор гум.помощи-05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3653366" y="2743200"/>
            <a:ext cx="19507201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00" cy="14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2400" dirty="0">
                <a:solidFill>
                  <a:srgbClr val="2253A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Центр цифровой медицины </a:t>
            </a:r>
          </a:p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2400" dirty="0">
                <a:solidFill>
                  <a:srgbClr val="2253A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и искусственного интеллекта в медицине</a:t>
            </a:r>
            <a:endParaRPr sz="24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8" name="Google Shape;138;p13"/>
          <p:cNvSpPr txBox="1">
            <a:spLocks noGrp="1"/>
          </p:cNvSpPr>
          <p:nvPr>
            <p:ph type="body" idx="2"/>
          </p:nvPr>
        </p:nvSpPr>
        <p:spPr>
          <a:xfrm>
            <a:off x="12479950" y="2224150"/>
            <a:ext cx="47268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2413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1305"/>
              <a:buFont typeface="Helvetica Neue"/>
              <a:buNone/>
            </a:pPr>
            <a:r>
              <a:rPr lang="ru-RU" sz="2400" dirty="0">
                <a:solidFill>
                  <a:srgbClr val="2253A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Информационные системы и технологии</a:t>
            </a:r>
            <a:r>
              <a:rPr lang="en-US" sz="2400" dirty="0">
                <a:solidFill>
                  <a:srgbClr val="2253A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(09.03.02)</a:t>
            </a:r>
            <a:endParaRPr sz="2400" dirty="0">
              <a:solidFill>
                <a:srgbClr val="2253A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4"/>
          </p:nvPr>
        </p:nvSpPr>
        <p:spPr>
          <a:xfrm>
            <a:off x="2028998" y="5091525"/>
            <a:ext cx="21180226" cy="44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 algn="ctr" latinLnBrk="1">
              <a:buNone/>
            </a:pPr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адаптивного пользовательского интерфейса</a:t>
            </a:r>
            <a:r>
              <a:rPr lang="ru-RU" dirty="0"/>
              <a:t> </a:t>
            </a:r>
          </a:p>
          <a:p>
            <a:pPr marL="114300" indent="0" algn="ctr" latinLnBrk="1">
              <a:buNone/>
            </a:pP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системы поддержки принятия решений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 algn="ctr" latinLnBrk="1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предиктивной аналитики</a:t>
            </a:r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5"/>
          </p:nvPr>
        </p:nvSpPr>
        <p:spPr>
          <a:xfrm>
            <a:off x="3908024" y="9537569"/>
            <a:ext cx="17143851" cy="3140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0000" lnSpcReduction="20000"/>
          </a:bodyPr>
          <a:lstStyle/>
          <a:p>
            <a:pPr marL="0" lvl="0" indent="0" algn="ctr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-RU" sz="10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Выполнила</a:t>
            </a:r>
            <a:r>
              <a:rPr lang="en-US" sz="10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:</a:t>
            </a:r>
            <a:r>
              <a:rPr lang="ru-RU" sz="10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Студентка Карташова Ольга Викторовна</a:t>
            </a:r>
            <a:r>
              <a:rPr lang="en-US" sz="10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ru-RU" sz="10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группа 737-01.</a:t>
            </a:r>
            <a:endParaRPr sz="10000" dirty="0">
              <a:solidFill>
                <a:schemeClr val="tx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ctr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-RU" sz="10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Руководитель</a:t>
            </a:r>
            <a:r>
              <a:rPr lang="en-US" sz="10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:</a:t>
            </a:r>
            <a:r>
              <a:rPr lang="ru-RU" sz="10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10000" dirty="0" err="1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Андриков</a:t>
            </a:r>
            <a:r>
              <a:rPr lang="en-US" sz="10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Д.А.</a:t>
            </a:r>
            <a:r>
              <a:rPr lang="ru-RU" sz="10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, Андриянова Е.В. </a:t>
            </a:r>
          </a:p>
          <a:p>
            <a:pPr marL="0" lvl="0" indent="0" algn="ctr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-RU" sz="8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Москва, 2026 </a:t>
            </a:r>
            <a:endParaRPr sz="8000" dirty="0">
              <a:solidFill>
                <a:schemeClr val="tx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ct val="100000"/>
              <a:buFont typeface="Helvetica Neue"/>
              <a:buNone/>
            </a:pPr>
            <a:endParaRPr sz="3200" dirty="0">
              <a:solidFill>
                <a:srgbClr val="2253A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280573" y="859249"/>
            <a:ext cx="10897800" cy="1368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ru-RU" b="1" dirty="0"/>
              <a:t>📌 </a:t>
            </a:r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искусственного интеллекта в медицине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03005" y="1153969"/>
            <a:ext cx="5288100" cy="67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pPr lvl="0">
              <a:lnSpc>
                <a:spcPct val="152413"/>
              </a:lnSpc>
              <a:buSzPts val="1305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системы и технологии (09.03.02)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C1ADB39-84F4-6173-79FF-B7509620475E}"/>
              </a:ext>
            </a:extLst>
          </p:cNvPr>
          <p:cNvSpPr/>
          <p:nvPr/>
        </p:nvSpPr>
        <p:spPr>
          <a:xfrm>
            <a:off x="1533916" y="2865820"/>
            <a:ext cx="16417824" cy="1719552"/>
          </a:xfrm>
          <a:prstGeom prst="round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F83DA56-70FD-8179-B18A-761F5258DEA3}"/>
              </a:ext>
            </a:extLst>
          </p:cNvPr>
          <p:cNvSpPr/>
          <p:nvPr/>
        </p:nvSpPr>
        <p:spPr>
          <a:xfrm>
            <a:off x="12091105" y="859249"/>
            <a:ext cx="271999" cy="1368152"/>
          </a:xfrm>
          <a:prstGeom prst="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F9B76430-D4AA-13D5-9DDA-995AC7A403F8}"/>
              </a:ext>
            </a:extLst>
          </p:cNvPr>
          <p:cNvSpPr/>
          <p:nvPr/>
        </p:nvSpPr>
        <p:spPr>
          <a:xfrm>
            <a:off x="1769448" y="2865820"/>
            <a:ext cx="20990452" cy="1719552"/>
          </a:xfrm>
          <a:prstGeom prst="roundRect">
            <a:avLst/>
          </a:prstGeom>
          <a:solidFill>
            <a:srgbClr val="F3F5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ED8DD3-1B4E-07CC-7EE8-C3B7936415A9}"/>
              </a:ext>
            </a:extLst>
          </p:cNvPr>
          <p:cNvSpPr txBox="1"/>
          <p:nvPr/>
        </p:nvSpPr>
        <p:spPr>
          <a:xfrm>
            <a:off x="1951807" y="3081509"/>
            <a:ext cx="2048038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«Адаптивный интерфейс сокращает время принятия решения на 37%» — Journal </a:t>
            </a:r>
            <a:r>
              <a:rPr lang="ru-RU" sz="4000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4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Medical Systems, 2023</a:t>
            </a:r>
            <a:endParaRPr lang="ru-RU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2ED8239-000F-5694-7966-1E9BFB09EF6D}"/>
              </a:ext>
            </a:extLst>
          </p:cNvPr>
          <p:cNvSpPr/>
          <p:nvPr/>
        </p:nvSpPr>
        <p:spPr>
          <a:xfrm>
            <a:off x="2126397" y="4818773"/>
            <a:ext cx="4968552" cy="6336704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📈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РОСТ ЗАБОЛЕВАНИЙ</a:t>
            </a:r>
          </a:p>
          <a:p>
            <a:pPr algn="ctr"/>
            <a:endParaRPr lang="ru-RU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+40%</a:t>
            </a:r>
          </a:p>
          <a:p>
            <a:pPr algn="ctr"/>
            <a:endParaRPr lang="ru-RU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ССЗ и диабет за 5 лет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ED28AB1B-AD86-2D5F-AD92-9B5B6FE91496}"/>
              </a:ext>
            </a:extLst>
          </p:cNvPr>
          <p:cNvSpPr/>
          <p:nvPr/>
        </p:nvSpPr>
        <p:spPr>
          <a:xfrm>
            <a:off x="17431479" y="4818773"/>
            <a:ext cx="4968552" cy="6336704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ПОЗДНЯЯ ДИАГНОСТИКА</a:t>
            </a:r>
          </a:p>
          <a:p>
            <a:pPr algn="ctr"/>
            <a:endParaRPr lang="ru-RU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Итог: 60%</a:t>
            </a:r>
          </a:p>
          <a:p>
            <a:pPr algn="ctr"/>
            <a:endParaRPr lang="ru-RU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осложнений из-за позднего выявления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0ED0D17B-EEA5-E0FC-993C-2D4E3259F2F7}"/>
              </a:ext>
            </a:extLst>
          </p:cNvPr>
          <p:cNvSpPr/>
          <p:nvPr/>
        </p:nvSpPr>
        <p:spPr>
          <a:xfrm>
            <a:off x="9778938" y="4818773"/>
            <a:ext cx="4968552" cy="6336704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🩺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ДЕФИЦИТ ВРАЧЕЙ</a:t>
            </a:r>
          </a:p>
          <a:p>
            <a:pPr algn="ctr"/>
            <a:endParaRPr lang="ru-RU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25%</a:t>
            </a:r>
          </a:p>
          <a:p>
            <a:pPr algn="ctr"/>
            <a:endParaRPr lang="ru-RU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нехватка кадров в поликлиниках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31A2C3-E8EF-3AB7-8CA1-6B3C15DCB373}"/>
              </a:ext>
            </a:extLst>
          </p:cNvPr>
          <p:cNvSpPr txBox="1"/>
          <p:nvPr/>
        </p:nvSpPr>
        <p:spPr>
          <a:xfrm>
            <a:off x="1606825" y="11836056"/>
            <a:ext cx="211530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4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r>
              <a:rPr lang="ru-RU" sz="4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Статичные интерфейсы не учитывают динамику состояния пациента</a:t>
            </a:r>
          </a:p>
          <a:p>
            <a:pPr algn="l">
              <a:buNone/>
            </a:pPr>
            <a:r>
              <a:rPr lang="ru-RU" sz="4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r>
              <a:rPr lang="ru-RU" sz="4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Адаптивный UI → меняется в зависимости от прогноза риска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2F1EBC-4695-114C-2E05-2546A5015228}"/>
              </a:ext>
            </a:extLst>
          </p:cNvPr>
          <p:cNvSpPr txBox="1"/>
          <p:nvPr/>
        </p:nvSpPr>
        <p:spPr>
          <a:xfrm>
            <a:off x="2539946" y="11070857"/>
            <a:ext cx="44358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Данные: Росстат, 2025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484515-650D-9D07-09CA-8A43343D1B55}"/>
              </a:ext>
            </a:extLst>
          </p:cNvPr>
          <p:cNvSpPr txBox="1"/>
          <p:nvPr/>
        </p:nvSpPr>
        <p:spPr>
          <a:xfrm>
            <a:off x="10153217" y="11155477"/>
            <a:ext cx="41477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Данные: Росстат, 2025</a:t>
            </a: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F8E0BF-9443-FC28-F615-FA2583424FD2}"/>
              </a:ext>
            </a:extLst>
          </p:cNvPr>
          <p:cNvSpPr txBox="1"/>
          <p:nvPr/>
        </p:nvSpPr>
        <p:spPr>
          <a:xfrm>
            <a:off x="17828734" y="11155477"/>
            <a:ext cx="4219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Данные: Росстат, 2025</a:t>
            </a: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9" name="Стрелка углом 18">
            <a:extLst>
              <a:ext uri="{FF2B5EF4-FFF2-40B4-BE49-F238E27FC236}">
                <a16:creationId xmlns:a16="http://schemas.microsoft.com/office/drawing/2014/main" id="{EC0B7501-F35A-C874-C61D-49F9652C3D88}"/>
              </a:ext>
            </a:extLst>
          </p:cNvPr>
          <p:cNvSpPr/>
          <p:nvPr/>
        </p:nvSpPr>
        <p:spPr>
          <a:xfrm rot="13630301" flipH="1">
            <a:off x="1082457" y="12187496"/>
            <a:ext cx="701203" cy="753898"/>
          </a:xfrm>
          <a:prstGeom prst="bentArrow">
            <a:avLst/>
          </a:prstGeom>
          <a:solidFill>
            <a:srgbClr val="E9F6E9"/>
          </a:solidFill>
          <a:ln>
            <a:solidFill>
              <a:srgbClr val="29CA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312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091105" y="1066737"/>
            <a:ext cx="108978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ctr">
              <a:spcBef>
                <a:spcPts val="0"/>
              </a:spcBef>
              <a:buSzPts val="4800"/>
              <a:buNone/>
            </a:pPr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🎯 ПОСТАНОВКА ЗАДАЧИ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искусственного интеллекта в медицине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03005" y="1174994"/>
            <a:ext cx="52881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pPr lvl="0">
              <a:lnSpc>
                <a:spcPct val="152413"/>
              </a:lnSpc>
              <a:buSzPts val="1305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системы и технологии (09.03.02)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97233F8-5D16-9209-A3DF-5FD90E2E74BE}"/>
              </a:ext>
            </a:extLst>
          </p:cNvPr>
          <p:cNvSpPr/>
          <p:nvPr/>
        </p:nvSpPr>
        <p:spPr>
          <a:xfrm>
            <a:off x="12091105" y="859249"/>
            <a:ext cx="271999" cy="1368152"/>
          </a:xfrm>
          <a:prstGeom prst="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E171007C-10FD-75C6-CE70-7E37F5AC80A0}"/>
              </a:ext>
            </a:extLst>
          </p:cNvPr>
          <p:cNvSpPr/>
          <p:nvPr/>
        </p:nvSpPr>
        <p:spPr>
          <a:xfrm>
            <a:off x="1606824" y="3903440"/>
            <a:ext cx="21746416" cy="2118111"/>
          </a:xfrm>
          <a:prstGeom prst="round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7E528408-0B1A-F8AB-8A48-89381BD9D57B}"/>
              </a:ext>
            </a:extLst>
          </p:cNvPr>
          <p:cNvSpPr/>
          <p:nvPr/>
        </p:nvSpPr>
        <p:spPr>
          <a:xfrm>
            <a:off x="1786724" y="3871460"/>
            <a:ext cx="21566516" cy="1719552"/>
          </a:xfrm>
          <a:prstGeom prst="roundRect">
            <a:avLst/>
          </a:prstGeom>
          <a:solidFill>
            <a:srgbClr val="F3F5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3BCE2E-7CE3-B90B-6B0F-E336D52D9A96}"/>
              </a:ext>
            </a:extLst>
          </p:cNvPr>
          <p:cNvSpPr txBox="1"/>
          <p:nvPr/>
        </p:nvSpPr>
        <p:spPr>
          <a:xfrm>
            <a:off x="1966624" y="4012985"/>
            <a:ext cx="213866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Комбинация методов машинного обучения (PCA, SVM,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AutoML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позволяет выявлять доклинические нарушения с точностью &gt;85%</a:t>
            </a:r>
            <a:endParaRPr lang="ru-RU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5EAE51BA-25FA-A761-ED16-A5AA411EB532}"/>
              </a:ext>
            </a:extLst>
          </p:cNvPr>
          <p:cNvSpPr/>
          <p:nvPr/>
        </p:nvSpPr>
        <p:spPr>
          <a:xfrm>
            <a:off x="1786724" y="7044571"/>
            <a:ext cx="4191981" cy="2952328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🤖</a:t>
            </a:r>
          </a:p>
          <a:p>
            <a:pPr algn="ctr"/>
            <a:r>
              <a:rPr lang="ru-RU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AutoML</a:t>
            </a:r>
            <a:endParaRPr lang="ru-RU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фреймворков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490E16-244A-7B3E-F193-F1E2933C095E}"/>
              </a:ext>
            </a:extLst>
          </p:cNvPr>
          <p:cNvSpPr txBox="1"/>
          <p:nvPr/>
        </p:nvSpPr>
        <p:spPr>
          <a:xfrm>
            <a:off x="1786724" y="10523280"/>
            <a:ext cx="2214761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 УСПЕХА:</a:t>
            </a: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ru-RU" dirty="0"/>
              <a:t>     </a:t>
            </a: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Точность &gt; 80%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(достигнуто: 92%, AutoGluon)</a:t>
            </a:r>
            <a:endParaRPr lang="ru-RU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ru-RU" sz="4000" dirty="0"/>
              <a:t>  </a:t>
            </a: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 &gt; 0.8 (достигнуто: 0.91, </a:t>
            </a:r>
            <a:r>
              <a:rPr lang="e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ru-RU" sz="4000" dirty="0"/>
              <a:t>  </a:t>
            </a: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Выделение «серой зоны» (достигнуто: 35% пациентов)</a:t>
            </a:r>
            <a:endParaRPr lang="ru-RU" sz="40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6805B7-A298-52D4-8A2E-AAC6E943C52A}"/>
              </a:ext>
            </a:extLst>
          </p:cNvPr>
          <p:cNvSpPr txBox="1"/>
          <p:nvPr/>
        </p:nvSpPr>
        <p:spPr>
          <a:xfrm>
            <a:off x="1966624" y="2754859"/>
            <a:ext cx="121994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75"/>
              </a:spcBef>
              <a:spcAft>
                <a:spcPts val="1125"/>
              </a:spcAft>
              <a:buNone/>
            </a:pPr>
            <a:r>
              <a:rPr lang="ru-RU" sz="4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0327AC-2C63-3134-9264-207BFE91336A}"/>
              </a:ext>
            </a:extLst>
          </p:cNvPr>
          <p:cNvSpPr txBox="1"/>
          <p:nvPr/>
        </p:nvSpPr>
        <p:spPr>
          <a:xfrm>
            <a:off x="1966624" y="6168266"/>
            <a:ext cx="121994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75"/>
              </a:spcBef>
              <a:spcAft>
                <a:spcPts val="1125"/>
              </a:spcAft>
              <a:buNone/>
            </a:pPr>
            <a:r>
              <a:rPr lang="ru-RU" sz="4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43D66DE3-7C30-28C9-E4BD-85666C680E59}"/>
              </a:ext>
            </a:extLst>
          </p:cNvPr>
          <p:cNvSpPr/>
          <p:nvPr/>
        </p:nvSpPr>
        <p:spPr>
          <a:xfrm>
            <a:off x="17540005" y="7044571"/>
            <a:ext cx="4191981" cy="2952328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🤝</a:t>
            </a:r>
          </a:p>
          <a:p>
            <a:pPr algn="ctr"/>
            <a:r>
              <a:rPr lang="ru-RU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endParaRPr lang="ru-RU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Скрининг преддиабета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83B12C75-A6A5-BCCE-2A81-84F22A11A5B8}"/>
              </a:ext>
            </a:extLst>
          </p:cNvPr>
          <p:cNvSpPr/>
          <p:nvPr/>
        </p:nvSpPr>
        <p:spPr>
          <a:xfrm>
            <a:off x="12288912" y="7044571"/>
            <a:ext cx="4191981" cy="2952328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🔲</a:t>
            </a:r>
          </a:p>
          <a:p>
            <a:pPr algn="ctr"/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 ССЗ-риска</a:t>
            </a: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3058B35E-E5FB-D2E4-F268-FB212AC5192B}"/>
              </a:ext>
            </a:extLst>
          </p:cNvPr>
          <p:cNvSpPr/>
          <p:nvPr/>
        </p:nvSpPr>
        <p:spPr>
          <a:xfrm>
            <a:off x="7037818" y="7044571"/>
            <a:ext cx="4191981" cy="2952328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📉</a:t>
            </a:r>
          </a:p>
          <a:p>
            <a:pPr algn="ctr"/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Выявление профилей риска</a:t>
            </a:r>
          </a:p>
        </p:txBody>
      </p:sp>
    </p:spTree>
    <p:extLst>
      <p:ext uri="{BB962C8B-B14F-4D97-AF65-F5344CB8AC3E}">
        <p14:creationId xmlns:p14="http://schemas.microsoft.com/office/powerpoint/2010/main" val="990443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A4C2442F-7F81-1386-9778-5ED3A6FB4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>
            <a:extLst>
              <a:ext uri="{FF2B5EF4-FFF2-40B4-BE49-F238E27FC236}">
                <a16:creationId xmlns:a16="http://schemas.microsoft.com/office/drawing/2014/main" id="{B19C94FF-B9EF-31FC-0A4D-1E283D21F2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369122" y="893914"/>
            <a:ext cx="10897800" cy="1368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📚 ОБЗОР ЛИТЕРАТУРЫ</a:t>
            </a:r>
          </a:p>
        </p:txBody>
      </p:sp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E97AD5EE-4BC6-1F63-B49E-6C6B4921F442}"/>
              </a:ext>
            </a:extLst>
          </p:cNvPr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искусственного интеллекта в медицине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07C35A18-41D8-5FA2-D8F4-81DF44907DAD}"/>
              </a:ext>
            </a:extLst>
          </p:cNvPr>
          <p:cNvSpPr txBox="1"/>
          <p:nvPr/>
        </p:nvSpPr>
        <p:spPr>
          <a:xfrm>
            <a:off x="6803005" y="1153969"/>
            <a:ext cx="5288100" cy="67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pPr lvl="0">
              <a:lnSpc>
                <a:spcPct val="152413"/>
              </a:lnSpc>
              <a:buSzPts val="1305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системы и технологии (09.03.02)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4477CD-B359-7F99-DCE7-658E05741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3D7D179-9BDB-5FE7-1224-BC1D6AE6045C}"/>
              </a:ext>
            </a:extLst>
          </p:cNvPr>
          <p:cNvSpPr/>
          <p:nvPr/>
        </p:nvSpPr>
        <p:spPr>
          <a:xfrm>
            <a:off x="12091105" y="859249"/>
            <a:ext cx="271999" cy="1368152"/>
          </a:xfrm>
          <a:prstGeom prst="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07FF44F0-5ED6-8042-37B1-7A27D79F2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313748"/>
              </p:ext>
            </p:extLst>
          </p:nvPr>
        </p:nvGraphicFramePr>
        <p:xfrm>
          <a:off x="709325" y="3329608"/>
          <a:ext cx="22965349" cy="8887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9482">
                  <a:extLst>
                    <a:ext uri="{9D8B030D-6E8A-4147-A177-3AD203B41FA5}">
                      <a16:colId xmlns:a16="http://schemas.microsoft.com/office/drawing/2014/main" val="1650567400"/>
                    </a:ext>
                  </a:extLst>
                </a:gridCol>
                <a:gridCol w="14365867">
                  <a:extLst>
                    <a:ext uri="{9D8B030D-6E8A-4147-A177-3AD203B41FA5}">
                      <a16:colId xmlns:a16="http://schemas.microsoft.com/office/drawing/2014/main" val="3422855290"/>
                    </a:ext>
                  </a:extLst>
                </a:gridCol>
              </a:tblGrid>
              <a:tr h="1656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Источник</a:t>
                      </a:r>
                    </a:p>
                  </a:txBody>
                  <a:tcPr marL="114300" marR="114300" marT="114300" marB="114300" anchor="ctr">
                    <a:cell3D prstMaterial="dkEdge">
                      <a:bevel prst="convex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Ключевые выводы</a:t>
                      </a:r>
                    </a:p>
                  </a:txBody>
                  <a:tcPr marL="114300" marR="114300" marT="114300" marB="114300" anchor="ctr">
                    <a:cell3D prstMaterial="dkEdge">
                      <a:bevel prst="convex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80929205"/>
                  </a:ext>
                </a:extLst>
              </a:tr>
              <a:tr h="17281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</a:t>
                      </a:r>
                      <a:r>
                        <a:rPr lang="ru-RU" sz="4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Medical Systems (2023)</a:t>
                      </a:r>
                    </a:p>
                  </a:txBody>
                  <a:tcPr marL="95250" marR="95250" marT="95250" marB="9525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Адаптивный интерфейс сокращает время принятия решения на </a:t>
                      </a:r>
                      <a:r>
                        <a:rPr lang="ru-RU" sz="4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37%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102308"/>
                  </a:ext>
                </a:extLst>
              </a:tr>
              <a:tr h="17171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Scientific </a:t>
                      </a:r>
                      <a:r>
                        <a:rPr lang="ru-RU" sz="4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</a:t>
                      </a: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(2025)</a:t>
                      </a:r>
                    </a:p>
                  </a:txBody>
                  <a:tcPr marL="95250" marR="95250" marT="95250" marB="952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AutoGluon</a:t>
                      </a: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лучший </a:t>
                      </a:r>
                      <a:r>
                        <a:rPr lang="ru-RU" sz="4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AutoML</a:t>
                      </a: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для медицинских задач (</a:t>
                      </a:r>
                      <a:r>
                        <a:rPr lang="ru-RU" sz="4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 0.89-0.92</a:t>
                      </a: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483463"/>
                  </a:ext>
                </a:extLst>
              </a:tr>
              <a:tr h="18417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Nature Medicine (2024)</a:t>
                      </a:r>
                    </a:p>
                  </a:txBody>
                  <a:tcPr marL="95250" marR="95250" marT="95250" marB="952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PCA + SVM для раннего выявления метаболического синдрома</a:t>
                      </a:r>
                    </a:p>
                  </a:txBody>
                  <a:tcPr marL="95250" marR="95250" marT="95250" marB="952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858805"/>
                  </a:ext>
                </a:extLst>
              </a:tr>
              <a:tr h="19442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TNNLS (2024)</a:t>
                      </a:r>
                    </a:p>
                  </a:txBody>
                  <a:tcPr marL="95250" marR="95250" marT="95250" marB="952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Fuzzy</a:t>
                      </a: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4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повышает доверие врачей с </a:t>
                      </a:r>
                      <a:r>
                        <a:rPr lang="ru-RU" sz="4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52% → 89%</a:t>
                      </a: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(SHAP)</a:t>
                      </a:r>
                    </a:p>
                  </a:txBody>
                  <a:tcPr marL="95250" marR="95250" marT="95250" marB="952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11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635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C717C212-7816-1899-A7A8-6F86ACB06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>
            <a:extLst>
              <a:ext uri="{FF2B5EF4-FFF2-40B4-BE49-F238E27FC236}">
                <a16:creationId xmlns:a16="http://schemas.microsoft.com/office/drawing/2014/main" id="{004CF425-A9E9-C4F7-52FC-6CC9806050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73080" y="572900"/>
            <a:ext cx="10897800" cy="2048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🧠 ИСПОЛЬЗОВАННЫЕ МЕТОДЫ</a:t>
            </a:r>
          </a:p>
        </p:txBody>
      </p:sp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EFC2613C-07A7-8ABF-2A76-23436CF89CD9}"/>
              </a:ext>
            </a:extLst>
          </p:cNvPr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искусственного интеллекта в медицине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78D89EF2-FC4A-E967-2012-4938AD13020C}"/>
              </a:ext>
            </a:extLst>
          </p:cNvPr>
          <p:cNvSpPr txBox="1"/>
          <p:nvPr/>
        </p:nvSpPr>
        <p:spPr>
          <a:xfrm>
            <a:off x="6784980" y="1154378"/>
            <a:ext cx="5288100" cy="768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pPr lvl="0">
              <a:lnSpc>
                <a:spcPct val="152413"/>
              </a:lnSpc>
              <a:buSzPts val="1305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системы и технологии (09.03.02)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82BE09-69D0-2B6A-78C5-14F85ACE7B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9F2D533-AA3F-F832-144A-CDB0A531C880}"/>
              </a:ext>
            </a:extLst>
          </p:cNvPr>
          <p:cNvSpPr/>
          <p:nvPr/>
        </p:nvSpPr>
        <p:spPr>
          <a:xfrm>
            <a:off x="12186307" y="717508"/>
            <a:ext cx="219817" cy="1759571"/>
          </a:xfrm>
          <a:prstGeom prst="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B813F15B-FBD5-EF77-79DA-7D42E6B4796D}"/>
              </a:ext>
            </a:extLst>
          </p:cNvPr>
          <p:cNvSpPr/>
          <p:nvPr/>
        </p:nvSpPr>
        <p:spPr>
          <a:xfrm>
            <a:off x="1606824" y="3203167"/>
            <a:ext cx="21746416" cy="2419826"/>
          </a:xfrm>
          <a:prstGeom prst="round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31A87F6-EB44-A9A6-C29E-2BAC30A830E4}"/>
              </a:ext>
            </a:extLst>
          </p:cNvPr>
          <p:cNvSpPr/>
          <p:nvPr/>
        </p:nvSpPr>
        <p:spPr>
          <a:xfrm>
            <a:off x="1786724" y="3203167"/>
            <a:ext cx="21566516" cy="2387845"/>
          </a:xfrm>
          <a:prstGeom prst="roundRect">
            <a:avLst/>
          </a:prstGeom>
          <a:solidFill>
            <a:srgbClr val="F3F5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7C1679D5-6D0C-E7E9-DCA0-9163984E54B7}"/>
              </a:ext>
            </a:extLst>
          </p:cNvPr>
          <p:cNvSpPr/>
          <p:nvPr/>
        </p:nvSpPr>
        <p:spPr>
          <a:xfrm>
            <a:off x="1030760" y="6858000"/>
            <a:ext cx="4191981" cy="2952328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📉</a:t>
            </a:r>
          </a:p>
          <a:p>
            <a:pPr algn="ctr"/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</a:t>
            </a:r>
            <a:r>
              <a:rPr lang="ru-RU" sz="4000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размерности</a:t>
            </a: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4B9ACD07-66F9-777D-DEBA-742952E9C049}"/>
              </a:ext>
            </a:extLst>
          </p:cNvPr>
          <p:cNvSpPr/>
          <p:nvPr/>
        </p:nvSpPr>
        <p:spPr>
          <a:xfrm>
            <a:off x="17983897" y="9424955"/>
            <a:ext cx="4191981" cy="2952328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🤝</a:t>
            </a:r>
          </a:p>
          <a:p>
            <a:pPr algn="ctr"/>
            <a:r>
              <a:rPr lang="ru-RU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endParaRPr lang="ru-RU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Нечеткая </a:t>
            </a:r>
            <a:r>
              <a:rPr lang="ru-RU" sz="4000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логика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3661966C-B9F7-4920-DD4A-FB724C45B997}"/>
              </a:ext>
            </a:extLst>
          </p:cNvPr>
          <p:cNvSpPr/>
          <p:nvPr/>
        </p:nvSpPr>
        <p:spPr>
          <a:xfrm>
            <a:off x="12296215" y="6858000"/>
            <a:ext cx="4191981" cy="2952328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🔲</a:t>
            </a:r>
          </a:p>
          <a:p>
            <a:pPr algn="ctr"/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</a:p>
          <a:p>
            <a:pPr algn="ctr"/>
            <a:r>
              <a:rPr lang="ru-RU" sz="4000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</a:t>
            </a: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AB7B0697-796B-8BFD-0CA4-41F19BA5B4B3}"/>
              </a:ext>
            </a:extLst>
          </p:cNvPr>
          <p:cNvSpPr/>
          <p:nvPr/>
        </p:nvSpPr>
        <p:spPr>
          <a:xfrm>
            <a:off x="6718442" y="9450288"/>
            <a:ext cx="4191981" cy="2952328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🤖</a:t>
            </a:r>
          </a:p>
          <a:p>
            <a:pPr algn="ctr"/>
            <a:r>
              <a:rPr lang="ru-RU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AutoML</a:t>
            </a:r>
            <a:endParaRPr lang="ru-RU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000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22F3C1-9266-9785-A157-962448DF5D22}"/>
              </a:ext>
            </a:extLst>
          </p:cNvPr>
          <p:cNvSpPr txBox="1"/>
          <p:nvPr/>
        </p:nvSpPr>
        <p:spPr>
          <a:xfrm>
            <a:off x="2252646" y="3588221"/>
            <a:ext cx="196408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0" i="0" dirty="0">
                <a:solidFill>
                  <a:srgbClr val="6A99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ru-RU" sz="4000" b="0" i="0" dirty="0" err="1">
                <a:solidFill>
                  <a:srgbClr val="6A99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ru-RU" sz="4000" b="0" i="0" dirty="0">
                <a:solidFill>
                  <a:srgbClr val="6A99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0" i="0" dirty="0" err="1">
                <a:solidFill>
                  <a:srgbClr val="6A99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r>
              <a:rPr lang="ru-RU" sz="4000" b="0" i="0" dirty="0">
                <a:solidFill>
                  <a:srgbClr val="6A99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формула</a:t>
            </a: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скор_риска</a:t>
            </a:r>
            <a:r>
              <a:rPr lang="ru-RU" sz="4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= </a:t>
            </a:r>
            <a:r>
              <a:rPr lang="ru-RU" sz="40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membership</a:t>
            </a:r>
            <a:r>
              <a:rPr lang="ru-RU" sz="4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["преддиабет"] * 0.5 + </a:t>
            </a:r>
            <a:r>
              <a:rPr lang="ru-RU" sz="40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membership</a:t>
            </a:r>
            <a:r>
              <a:rPr lang="ru-RU" sz="4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["диабет"] * 1.0</a:t>
            </a:r>
            <a:endParaRPr lang="ru-RU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052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F0464474-3845-9E41-F869-0FB41CE43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>
            <a:extLst>
              <a:ext uri="{FF2B5EF4-FFF2-40B4-BE49-F238E27FC236}">
                <a16:creationId xmlns:a16="http://schemas.microsoft.com/office/drawing/2014/main" id="{EECDD347-326F-8097-CF78-363A4A3A19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91105" y="1066737"/>
            <a:ext cx="108978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ru-RU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📋 АЛГОРИТМ РАБОТЫ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9C9FAF25-504F-C76E-75FE-84F71C8A9E4B}"/>
              </a:ext>
            </a:extLst>
          </p:cNvPr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искусственного интеллекта в медицине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28BC9A01-CA44-BE7D-8225-355CE0A4576D}"/>
              </a:ext>
            </a:extLst>
          </p:cNvPr>
          <p:cNvSpPr txBox="1"/>
          <p:nvPr/>
        </p:nvSpPr>
        <p:spPr>
          <a:xfrm>
            <a:off x="6803005" y="1174994"/>
            <a:ext cx="52881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pPr lvl="0">
              <a:lnSpc>
                <a:spcPct val="152413"/>
              </a:lnSpc>
              <a:buSzPts val="1305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системы и технологии (09.03.02)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1649B-A987-9B2B-38F3-C36078AE81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7CB1AA0-08D1-7565-6986-BC47220E6180}"/>
              </a:ext>
            </a:extLst>
          </p:cNvPr>
          <p:cNvSpPr/>
          <p:nvPr/>
        </p:nvSpPr>
        <p:spPr>
          <a:xfrm>
            <a:off x="12091105" y="859249"/>
            <a:ext cx="271999" cy="1368152"/>
          </a:xfrm>
          <a:prstGeom prst="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C3B798B6-E54C-BDDA-E222-FF8C0414151C}"/>
              </a:ext>
            </a:extLst>
          </p:cNvPr>
          <p:cNvSpPr/>
          <p:nvPr/>
        </p:nvSpPr>
        <p:spPr>
          <a:xfrm>
            <a:off x="804528" y="2703836"/>
            <a:ext cx="3960440" cy="3609290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</a:p>
          <a:p>
            <a:pPr algn="ctr"/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 пациентов</a:t>
            </a:r>
            <a:b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признаков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DD5BD1-3500-8542-F2B4-AD520715E06E}"/>
              </a:ext>
            </a:extLst>
          </p:cNvPr>
          <p:cNvSpPr txBox="1"/>
          <p:nvPr/>
        </p:nvSpPr>
        <p:spPr>
          <a:xfrm>
            <a:off x="1321490" y="11486625"/>
            <a:ext cx="221476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ДАННЫЕ: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dispensarization_data_2026.csv — 1000 пациентов 40-65 лет</a:t>
            </a:r>
            <a:endParaRPr lang="ru-RU" sz="40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CA83498F-55E4-CF2E-6D42-8145873539AC}"/>
              </a:ext>
            </a:extLst>
          </p:cNvPr>
          <p:cNvSpPr/>
          <p:nvPr/>
        </p:nvSpPr>
        <p:spPr>
          <a:xfrm>
            <a:off x="15410858" y="4963760"/>
            <a:ext cx="3541543" cy="4714584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④</a:t>
            </a:r>
          </a:p>
          <a:p>
            <a:pPr algn="ctr"/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PCA, SVM,</a:t>
            </a:r>
            <a:b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AutoML</a:t>
            </a:r>
            <a:endParaRPr lang="ru-RU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B1CCE8E6-7A9B-7C0F-89BA-4FAB02090A4F}"/>
              </a:ext>
            </a:extLst>
          </p:cNvPr>
          <p:cNvSpPr/>
          <p:nvPr/>
        </p:nvSpPr>
        <p:spPr>
          <a:xfrm>
            <a:off x="9309243" y="4366766"/>
            <a:ext cx="5702249" cy="3872032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</a:p>
          <a:p>
            <a:pPr algn="ctr"/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СТАНДАРТИЗАЦИЯ</a:t>
            </a:r>
          </a:p>
          <a:p>
            <a:pPr algn="ctr"/>
            <a:r>
              <a:rPr lang="ru-RU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b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(среднее=0, </a:t>
            </a:r>
            <a:r>
              <a:rPr lang="ru-RU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=1)</a:t>
            </a: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B0788A1D-E111-DA88-0642-168E2D5E52DF}"/>
              </a:ext>
            </a:extLst>
          </p:cNvPr>
          <p:cNvSpPr/>
          <p:nvPr/>
        </p:nvSpPr>
        <p:spPr>
          <a:xfrm>
            <a:off x="5266334" y="3674818"/>
            <a:ext cx="3541543" cy="4642576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</a:p>
          <a:p>
            <a:pPr algn="ctr"/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ОЧИСТКА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Заполнение пропусков</a:t>
            </a:r>
            <a:b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 выбросов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83B0A65D-B2FE-4595-6BD9-9293A538AEFE}"/>
              </a:ext>
            </a:extLst>
          </p:cNvPr>
          <p:cNvSpPr/>
          <p:nvPr/>
        </p:nvSpPr>
        <p:spPr>
          <a:xfrm>
            <a:off x="19351767" y="5996106"/>
            <a:ext cx="4191981" cy="4000830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⑤</a:t>
            </a:r>
          </a:p>
          <a:p>
            <a:pPr algn="ctr"/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ОЦЕНКА</a:t>
            </a:r>
          </a:p>
          <a:p>
            <a:pPr algn="ctr"/>
            <a:r>
              <a:rPr lang="ru-RU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AUC,</a:t>
            </a:r>
            <a:b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Precision</a:t>
            </a:r>
          </a:p>
        </p:txBody>
      </p:sp>
      <p:sp>
        <p:nvSpPr>
          <p:cNvPr id="5" name="Стрелка вниз 4">
            <a:extLst>
              <a:ext uri="{FF2B5EF4-FFF2-40B4-BE49-F238E27FC236}">
                <a16:creationId xmlns:a16="http://schemas.microsoft.com/office/drawing/2014/main" id="{7E5D0139-C217-95EE-E573-99197A38571B}"/>
              </a:ext>
            </a:extLst>
          </p:cNvPr>
          <p:cNvSpPr/>
          <p:nvPr/>
        </p:nvSpPr>
        <p:spPr>
          <a:xfrm>
            <a:off x="12091105" y="8734387"/>
            <a:ext cx="747168" cy="1296144"/>
          </a:xfrm>
          <a:prstGeom prst="downArrow">
            <a:avLst/>
          </a:prstGeom>
          <a:solidFill>
            <a:srgbClr val="29CA6F"/>
          </a:solidFill>
          <a:ln>
            <a:solidFill>
              <a:srgbClr val="29CA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3480ACF2-34BC-ACBC-DD18-D9B5FFBE9D1E}"/>
              </a:ext>
            </a:extLst>
          </p:cNvPr>
          <p:cNvSpPr/>
          <p:nvPr/>
        </p:nvSpPr>
        <p:spPr>
          <a:xfrm>
            <a:off x="1289297" y="10319704"/>
            <a:ext cx="22147612" cy="707886"/>
          </a:xfrm>
          <a:prstGeom prst="roundRect">
            <a:avLst/>
          </a:prstGeom>
          <a:solidFill>
            <a:srgbClr val="E9F6E9"/>
          </a:solidFill>
          <a:ln>
            <a:solidFill>
              <a:srgbClr val="29CA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⑥ </a:t>
            </a:r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Адаптивный UI + клинический протокол </a:t>
            </a:r>
          </a:p>
        </p:txBody>
      </p:sp>
    </p:spTree>
    <p:extLst>
      <p:ext uri="{BB962C8B-B14F-4D97-AF65-F5344CB8AC3E}">
        <p14:creationId xmlns:p14="http://schemas.microsoft.com/office/powerpoint/2010/main" val="727433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FD9FA43F-C31D-7EA3-D294-C077492DD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032E4452-ED60-E011-5F2F-42878266D479}"/>
              </a:ext>
            </a:extLst>
          </p:cNvPr>
          <p:cNvGrpSpPr/>
          <p:nvPr/>
        </p:nvGrpSpPr>
        <p:grpSpPr>
          <a:xfrm>
            <a:off x="889318" y="9939059"/>
            <a:ext cx="22463919" cy="648072"/>
            <a:chOff x="724786" y="8298160"/>
            <a:chExt cx="22864886" cy="648072"/>
          </a:xfrm>
          <a:solidFill>
            <a:schemeClr val="bg1"/>
          </a:solidFill>
        </p:grpSpPr>
        <p:sp>
          <p:nvSpPr>
            <p:cNvPr id="51" name="Скругленный прямоугольник 50">
              <a:extLst>
                <a:ext uri="{FF2B5EF4-FFF2-40B4-BE49-F238E27FC236}">
                  <a16:creationId xmlns:a16="http://schemas.microsoft.com/office/drawing/2014/main" id="{EDF547AE-25F9-F16B-DF72-F0D15475CAFD}"/>
                </a:ext>
              </a:extLst>
            </p:cNvPr>
            <p:cNvSpPr/>
            <p:nvPr/>
          </p:nvSpPr>
          <p:spPr>
            <a:xfrm>
              <a:off x="961218" y="8298160"/>
              <a:ext cx="22392022" cy="648072"/>
            </a:xfrm>
            <a:prstGeom prst="roundRect">
              <a:avLst/>
            </a:prstGeom>
            <a:grpFill/>
            <a:ln>
              <a:solidFill>
                <a:srgbClr val="E74C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Овал 51">
              <a:extLst>
                <a:ext uri="{FF2B5EF4-FFF2-40B4-BE49-F238E27FC236}">
                  <a16:creationId xmlns:a16="http://schemas.microsoft.com/office/drawing/2014/main" id="{E29C0D8F-951E-ABB1-295A-7DA1EB18FA47}"/>
                </a:ext>
              </a:extLst>
            </p:cNvPr>
            <p:cNvSpPr/>
            <p:nvPr/>
          </p:nvSpPr>
          <p:spPr>
            <a:xfrm>
              <a:off x="724786" y="8298160"/>
              <a:ext cx="661438" cy="648072"/>
            </a:xfrm>
            <a:prstGeom prst="ellipse">
              <a:avLst/>
            </a:prstGeom>
            <a:grpFill/>
            <a:ln>
              <a:solidFill>
                <a:srgbClr val="E74C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Овал 52">
              <a:extLst>
                <a:ext uri="{FF2B5EF4-FFF2-40B4-BE49-F238E27FC236}">
                  <a16:creationId xmlns:a16="http://schemas.microsoft.com/office/drawing/2014/main" id="{6520A475-E9AF-2045-737E-677F424DCAD6}"/>
                </a:ext>
              </a:extLst>
            </p:cNvPr>
            <p:cNvSpPr/>
            <p:nvPr/>
          </p:nvSpPr>
          <p:spPr>
            <a:xfrm>
              <a:off x="22928234" y="8298160"/>
              <a:ext cx="661438" cy="648072"/>
            </a:xfrm>
            <a:prstGeom prst="ellipse">
              <a:avLst/>
            </a:prstGeom>
            <a:grpFill/>
            <a:ln>
              <a:solidFill>
                <a:srgbClr val="E74C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D9FA41F5-8529-8252-C43A-3A23B114E31E}"/>
              </a:ext>
            </a:extLst>
          </p:cNvPr>
          <p:cNvGrpSpPr/>
          <p:nvPr/>
        </p:nvGrpSpPr>
        <p:grpSpPr>
          <a:xfrm>
            <a:off x="889319" y="8989045"/>
            <a:ext cx="22463919" cy="648072"/>
            <a:chOff x="724786" y="8298160"/>
            <a:chExt cx="22864886" cy="648072"/>
          </a:xfrm>
          <a:solidFill>
            <a:schemeClr val="bg1"/>
          </a:solidFill>
        </p:grpSpPr>
        <p:sp>
          <p:nvSpPr>
            <p:cNvPr id="37" name="Скругленный прямоугольник 36">
              <a:extLst>
                <a:ext uri="{FF2B5EF4-FFF2-40B4-BE49-F238E27FC236}">
                  <a16:creationId xmlns:a16="http://schemas.microsoft.com/office/drawing/2014/main" id="{217D4A84-29ED-C60C-3CCB-181541B239C3}"/>
                </a:ext>
              </a:extLst>
            </p:cNvPr>
            <p:cNvSpPr/>
            <p:nvPr/>
          </p:nvSpPr>
          <p:spPr>
            <a:xfrm>
              <a:off x="961218" y="8298160"/>
              <a:ext cx="22392022" cy="648072"/>
            </a:xfrm>
            <a:prstGeom prst="roundRect">
              <a:avLst/>
            </a:prstGeom>
            <a:grpFill/>
            <a:ln>
              <a:solidFill>
                <a:srgbClr val="F2C31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FA0D5B17-4822-DF91-0AB7-710C6CCC7C45}"/>
                </a:ext>
              </a:extLst>
            </p:cNvPr>
            <p:cNvSpPr/>
            <p:nvPr/>
          </p:nvSpPr>
          <p:spPr>
            <a:xfrm>
              <a:off x="724786" y="8298160"/>
              <a:ext cx="661438" cy="648072"/>
            </a:xfrm>
            <a:prstGeom prst="ellipse">
              <a:avLst/>
            </a:prstGeom>
            <a:grpFill/>
            <a:ln>
              <a:solidFill>
                <a:srgbClr val="F2C31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9DE1D68A-51A1-878B-2C7B-8B96451E7658}"/>
                </a:ext>
              </a:extLst>
            </p:cNvPr>
            <p:cNvSpPr/>
            <p:nvPr/>
          </p:nvSpPr>
          <p:spPr>
            <a:xfrm>
              <a:off x="22928234" y="8298160"/>
              <a:ext cx="661438" cy="648072"/>
            </a:xfrm>
            <a:prstGeom prst="ellipse">
              <a:avLst/>
            </a:prstGeom>
            <a:grpFill/>
            <a:ln>
              <a:solidFill>
                <a:srgbClr val="F2C31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208" name="Google Shape;208;p21">
            <a:extLst>
              <a:ext uri="{FF2B5EF4-FFF2-40B4-BE49-F238E27FC236}">
                <a16:creationId xmlns:a16="http://schemas.microsoft.com/office/drawing/2014/main" id="{F7788B46-EBE8-076E-BD0D-4E8B7A608C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73079" y="396221"/>
            <a:ext cx="10897800" cy="242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🤖 СРАВНЕНИЕ </a:t>
            </a:r>
          </a:p>
          <a:p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AUTOML-ФРЕЙМВОРКОВ</a:t>
            </a:r>
          </a:p>
        </p:txBody>
      </p:sp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3C05CC6E-41A3-2CB0-608D-EE4AFF2DAC79}"/>
              </a:ext>
            </a:extLst>
          </p:cNvPr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искусственного интеллекта в медицине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354D305D-1822-F752-C204-EDD43055E0A6}"/>
              </a:ext>
            </a:extLst>
          </p:cNvPr>
          <p:cNvSpPr txBox="1"/>
          <p:nvPr/>
        </p:nvSpPr>
        <p:spPr>
          <a:xfrm>
            <a:off x="6784980" y="1154378"/>
            <a:ext cx="5288100" cy="768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pPr lvl="0">
              <a:lnSpc>
                <a:spcPct val="152413"/>
              </a:lnSpc>
              <a:buSzPts val="1305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системы и технологии (09.03.02)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1B005B-5E45-C557-626E-33467B3CA1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BC13035-CF87-2024-4829-462C21B46AEA}"/>
              </a:ext>
            </a:extLst>
          </p:cNvPr>
          <p:cNvSpPr/>
          <p:nvPr/>
        </p:nvSpPr>
        <p:spPr>
          <a:xfrm>
            <a:off x="12186307" y="521296"/>
            <a:ext cx="221717" cy="2115157"/>
          </a:xfrm>
          <a:prstGeom prst="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C7CE4C94-9F67-5567-A4CF-9AB385E82D53}"/>
              </a:ext>
            </a:extLst>
          </p:cNvPr>
          <p:cNvSpPr/>
          <p:nvPr/>
        </p:nvSpPr>
        <p:spPr>
          <a:xfrm>
            <a:off x="985725" y="11116319"/>
            <a:ext cx="22367515" cy="1719552"/>
          </a:xfrm>
          <a:prstGeom prst="round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BC263993-11A6-935A-55E4-27B6C884F088}"/>
              </a:ext>
            </a:extLst>
          </p:cNvPr>
          <p:cNvSpPr/>
          <p:nvPr/>
        </p:nvSpPr>
        <p:spPr>
          <a:xfrm>
            <a:off x="1386224" y="11116319"/>
            <a:ext cx="21967016" cy="1719552"/>
          </a:xfrm>
          <a:prstGeom prst="roundRect">
            <a:avLst/>
          </a:prstGeom>
          <a:solidFill>
            <a:srgbClr val="F3F5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921FE-84FE-C6D3-D7BA-9143B6B7A7CE}"/>
              </a:ext>
            </a:extLst>
          </p:cNvPr>
          <p:cNvSpPr txBox="1"/>
          <p:nvPr/>
        </p:nvSpPr>
        <p:spPr>
          <a:xfrm>
            <a:off x="1476174" y="11468264"/>
            <a:ext cx="218770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💡 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AutoGluon точнее, но FLAML быстрее + имеет SHAP → выбран для адаптивного UI</a:t>
            </a:r>
            <a:endParaRPr lang="ru-RU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61A4F2C-1694-2785-2C42-D04C00BCA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006555"/>
              </p:ext>
            </p:extLst>
          </p:nvPr>
        </p:nvGraphicFramePr>
        <p:xfrm>
          <a:off x="945122" y="3614498"/>
          <a:ext cx="22367516" cy="3967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1879">
                  <a:extLst>
                    <a:ext uri="{9D8B030D-6E8A-4147-A177-3AD203B41FA5}">
                      <a16:colId xmlns:a16="http://schemas.microsoft.com/office/drawing/2014/main" val="1690680668"/>
                    </a:ext>
                  </a:extLst>
                </a:gridCol>
                <a:gridCol w="5591879">
                  <a:extLst>
                    <a:ext uri="{9D8B030D-6E8A-4147-A177-3AD203B41FA5}">
                      <a16:colId xmlns:a16="http://schemas.microsoft.com/office/drawing/2014/main" val="3951205498"/>
                    </a:ext>
                  </a:extLst>
                </a:gridCol>
                <a:gridCol w="5591879">
                  <a:extLst>
                    <a:ext uri="{9D8B030D-6E8A-4147-A177-3AD203B41FA5}">
                      <a16:colId xmlns:a16="http://schemas.microsoft.com/office/drawing/2014/main" val="3195756484"/>
                    </a:ext>
                  </a:extLst>
                </a:gridCol>
                <a:gridCol w="5591879">
                  <a:extLst>
                    <a:ext uri="{9D8B030D-6E8A-4147-A177-3AD203B41FA5}">
                      <a16:colId xmlns:a16="http://schemas.microsoft.com/office/drawing/2014/main" val="4053746720"/>
                    </a:ext>
                  </a:extLst>
                </a:gridCol>
              </a:tblGrid>
              <a:tr h="991862">
                <a:tc>
                  <a:txBody>
                    <a:bodyPr/>
                    <a:lstStyle/>
                    <a:p>
                      <a:pPr algn="ctr"/>
                      <a:r>
                        <a:rPr lang="ru-RU" sz="40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Фреймворк</a:t>
                      </a:r>
                      <a:endParaRPr lang="ru-RU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6879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Точность</a:t>
                      </a:r>
                      <a:endParaRPr lang="ru-RU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6879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AUC ROC</a:t>
                      </a:r>
                      <a:endParaRPr lang="ru-RU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6879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Время (сек)</a:t>
                      </a:r>
                      <a:endParaRPr lang="ru-RU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6879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743029"/>
                  </a:ext>
                </a:extLst>
              </a:tr>
              <a:tr h="9918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🚀 AutoGluon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92%</a:t>
                      </a:r>
                      <a:endParaRPr lang="ru-RU" sz="4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140966"/>
                  </a:ext>
                </a:extLst>
              </a:tr>
              <a:tr h="9918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⚡ FLAML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89%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977586"/>
                  </a:ext>
                </a:extLst>
              </a:tr>
              <a:tr h="9918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📊 H2O </a:t>
                      </a:r>
                      <a:r>
                        <a:rPr lang="ru-RU" sz="4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AutoML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85%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112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379258"/>
                  </a:ext>
                </a:extLst>
              </a:tr>
            </a:tbl>
          </a:graphicData>
        </a:graphic>
      </p:graphicFrame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1D214646-687B-50BF-FF85-2A649AF08EFC}"/>
              </a:ext>
            </a:extLst>
          </p:cNvPr>
          <p:cNvGrpSpPr/>
          <p:nvPr/>
        </p:nvGrpSpPr>
        <p:grpSpPr>
          <a:xfrm>
            <a:off x="889320" y="8006293"/>
            <a:ext cx="21313733" cy="648072"/>
            <a:chOff x="724786" y="8298160"/>
            <a:chExt cx="22864886" cy="648072"/>
          </a:xfrm>
        </p:grpSpPr>
        <p:sp>
          <p:nvSpPr>
            <p:cNvPr id="9" name="Скругленный прямоугольник 8">
              <a:extLst>
                <a:ext uri="{FF2B5EF4-FFF2-40B4-BE49-F238E27FC236}">
                  <a16:creationId xmlns:a16="http://schemas.microsoft.com/office/drawing/2014/main" id="{B6CF6014-9C6C-DDCB-2FAE-E56CA3332E86}"/>
                </a:ext>
              </a:extLst>
            </p:cNvPr>
            <p:cNvSpPr/>
            <p:nvPr/>
          </p:nvSpPr>
          <p:spPr>
            <a:xfrm>
              <a:off x="961218" y="8298160"/>
              <a:ext cx="22392022" cy="648072"/>
            </a:xfrm>
            <a:prstGeom prst="roundRect">
              <a:avLst/>
            </a:prstGeom>
            <a:solidFill>
              <a:srgbClr val="29CA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6C796192-7958-306C-4CB3-621C35EEAD3D}"/>
                </a:ext>
              </a:extLst>
            </p:cNvPr>
            <p:cNvSpPr/>
            <p:nvPr/>
          </p:nvSpPr>
          <p:spPr>
            <a:xfrm>
              <a:off x="724786" y="8298160"/>
              <a:ext cx="661438" cy="648072"/>
            </a:xfrm>
            <a:prstGeom prst="ellipse">
              <a:avLst/>
            </a:prstGeom>
            <a:solidFill>
              <a:srgbClr val="29CA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AAD08C2F-09D2-E566-F128-10080B743997}"/>
                </a:ext>
              </a:extLst>
            </p:cNvPr>
            <p:cNvSpPr/>
            <p:nvPr/>
          </p:nvSpPr>
          <p:spPr>
            <a:xfrm>
              <a:off x="22928234" y="8298160"/>
              <a:ext cx="661438" cy="648072"/>
            </a:xfrm>
            <a:prstGeom prst="ellipse">
              <a:avLst/>
            </a:prstGeom>
            <a:solidFill>
              <a:srgbClr val="29CA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F4307AB6-72D5-9AD3-A58E-99DD2F90323C}"/>
              </a:ext>
            </a:extLst>
          </p:cNvPr>
          <p:cNvGrpSpPr/>
          <p:nvPr/>
        </p:nvGrpSpPr>
        <p:grpSpPr>
          <a:xfrm>
            <a:off x="891487" y="8974564"/>
            <a:ext cx="19797457" cy="648072"/>
            <a:chOff x="724786" y="8298160"/>
            <a:chExt cx="22864886" cy="648072"/>
          </a:xfrm>
          <a:solidFill>
            <a:srgbClr val="F2C310"/>
          </a:solidFill>
        </p:grpSpPr>
        <p:sp>
          <p:nvSpPr>
            <p:cNvPr id="20" name="Скругленный прямоугольник 19">
              <a:extLst>
                <a:ext uri="{FF2B5EF4-FFF2-40B4-BE49-F238E27FC236}">
                  <a16:creationId xmlns:a16="http://schemas.microsoft.com/office/drawing/2014/main" id="{CDEAE969-9748-FB29-3341-F5FEB666BCDF}"/>
                </a:ext>
              </a:extLst>
            </p:cNvPr>
            <p:cNvSpPr/>
            <p:nvPr/>
          </p:nvSpPr>
          <p:spPr>
            <a:xfrm>
              <a:off x="961218" y="8298160"/>
              <a:ext cx="22392022" cy="64807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ABCB5751-20B1-E342-31AF-42D7BB912751}"/>
                </a:ext>
              </a:extLst>
            </p:cNvPr>
            <p:cNvSpPr/>
            <p:nvPr/>
          </p:nvSpPr>
          <p:spPr>
            <a:xfrm>
              <a:off x="724786" y="8298160"/>
              <a:ext cx="661438" cy="64807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03A35257-D19E-D47A-6323-53353BB02D40}"/>
                </a:ext>
              </a:extLst>
            </p:cNvPr>
            <p:cNvSpPr/>
            <p:nvPr/>
          </p:nvSpPr>
          <p:spPr>
            <a:xfrm>
              <a:off x="22928234" y="8298160"/>
              <a:ext cx="661438" cy="64807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27CE4ADA-882D-645C-6C93-FC1F0B2AA18E}"/>
              </a:ext>
            </a:extLst>
          </p:cNvPr>
          <p:cNvGrpSpPr/>
          <p:nvPr/>
        </p:nvGrpSpPr>
        <p:grpSpPr>
          <a:xfrm>
            <a:off x="858471" y="9942835"/>
            <a:ext cx="17598226" cy="648072"/>
            <a:chOff x="724786" y="8298160"/>
            <a:chExt cx="22864886" cy="648072"/>
          </a:xfrm>
          <a:solidFill>
            <a:srgbClr val="E74C3B"/>
          </a:solidFill>
        </p:grpSpPr>
        <p:sp>
          <p:nvSpPr>
            <p:cNvPr id="24" name="Скругленный прямоугольник 23">
              <a:extLst>
                <a:ext uri="{FF2B5EF4-FFF2-40B4-BE49-F238E27FC236}">
                  <a16:creationId xmlns:a16="http://schemas.microsoft.com/office/drawing/2014/main" id="{E72E8251-6D81-9E88-780C-0453A57DA9BD}"/>
                </a:ext>
              </a:extLst>
            </p:cNvPr>
            <p:cNvSpPr/>
            <p:nvPr/>
          </p:nvSpPr>
          <p:spPr>
            <a:xfrm>
              <a:off x="961218" y="8298160"/>
              <a:ext cx="22392022" cy="64807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8D1412F0-7DFF-F799-2152-E5A3BB0E4EC2}"/>
                </a:ext>
              </a:extLst>
            </p:cNvPr>
            <p:cNvSpPr/>
            <p:nvPr/>
          </p:nvSpPr>
          <p:spPr>
            <a:xfrm>
              <a:off x="724786" y="8298160"/>
              <a:ext cx="661438" cy="64807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5CD5BC48-8F43-0E24-F5DB-A3A91D3A865B}"/>
                </a:ext>
              </a:extLst>
            </p:cNvPr>
            <p:cNvSpPr/>
            <p:nvPr/>
          </p:nvSpPr>
          <p:spPr>
            <a:xfrm>
              <a:off x="22928234" y="8298160"/>
              <a:ext cx="661438" cy="64807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0DEB0E2C-FE2A-A7B7-2B30-AE9E63237D91}"/>
              </a:ext>
            </a:extLst>
          </p:cNvPr>
          <p:cNvGrpSpPr/>
          <p:nvPr/>
        </p:nvGrpSpPr>
        <p:grpSpPr>
          <a:xfrm>
            <a:off x="889320" y="8006293"/>
            <a:ext cx="22463919" cy="648072"/>
            <a:chOff x="724786" y="8298160"/>
            <a:chExt cx="22864886" cy="648072"/>
          </a:xfrm>
          <a:noFill/>
        </p:grpSpPr>
        <p:sp>
          <p:nvSpPr>
            <p:cNvPr id="29" name="Скругленный прямоугольник 28">
              <a:extLst>
                <a:ext uri="{FF2B5EF4-FFF2-40B4-BE49-F238E27FC236}">
                  <a16:creationId xmlns:a16="http://schemas.microsoft.com/office/drawing/2014/main" id="{3294CABB-8524-104E-AEC9-7B5E971BB5FA}"/>
                </a:ext>
              </a:extLst>
            </p:cNvPr>
            <p:cNvSpPr/>
            <p:nvPr/>
          </p:nvSpPr>
          <p:spPr>
            <a:xfrm>
              <a:off x="961218" y="8298160"/>
              <a:ext cx="22392022" cy="648072"/>
            </a:xfrm>
            <a:prstGeom prst="roundRect">
              <a:avLst/>
            </a:prstGeom>
            <a:grpFill/>
            <a:ln>
              <a:solidFill>
                <a:srgbClr val="29CA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349BDB20-CE86-190B-77B7-8D3C812466BE}"/>
                </a:ext>
              </a:extLst>
            </p:cNvPr>
            <p:cNvSpPr/>
            <p:nvPr/>
          </p:nvSpPr>
          <p:spPr>
            <a:xfrm>
              <a:off x="724786" y="8298160"/>
              <a:ext cx="661438" cy="648072"/>
            </a:xfrm>
            <a:prstGeom prst="ellipse">
              <a:avLst/>
            </a:prstGeom>
            <a:grpFill/>
            <a:ln>
              <a:solidFill>
                <a:srgbClr val="29CA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1C79BCAF-E773-F69B-EDEF-B666A70CFB84}"/>
                </a:ext>
              </a:extLst>
            </p:cNvPr>
            <p:cNvSpPr/>
            <p:nvPr/>
          </p:nvSpPr>
          <p:spPr>
            <a:xfrm>
              <a:off x="22928234" y="8298160"/>
              <a:ext cx="661438" cy="648072"/>
            </a:xfrm>
            <a:prstGeom prst="ellipse">
              <a:avLst/>
            </a:prstGeom>
            <a:grpFill/>
            <a:ln>
              <a:solidFill>
                <a:srgbClr val="29CA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33" name="Скругленный прямоугольник 32">
            <a:extLst>
              <a:ext uri="{FF2B5EF4-FFF2-40B4-BE49-F238E27FC236}">
                <a16:creationId xmlns:a16="http://schemas.microsoft.com/office/drawing/2014/main" id="{96672B31-9164-7F9D-D92B-959160571BE7}"/>
              </a:ext>
            </a:extLst>
          </p:cNvPr>
          <p:cNvSpPr/>
          <p:nvPr/>
        </p:nvSpPr>
        <p:spPr>
          <a:xfrm>
            <a:off x="22606924" y="8229440"/>
            <a:ext cx="488414" cy="39627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0DDF9C-062E-D405-DF90-94DA0188C481}"/>
              </a:ext>
            </a:extLst>
          </p:cNvPr>
          <p:cNvSpPr txBox="1"/>
          <p:nvPr/>
        </p:nvSpPr>
        <p:spPr>
          <a:xfrm>
            <a:off x="18109112" y="7975442"/>
            <a:ext cx="37806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AutoGluon 92%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Скругленный прямоугольник 40">
            <a:extLst>
              <a:ext uri="{FF2B5EF4-FFF2-40B4-BE49-F238E27FC236}">
                <a16:creationId xmlns:a16="http://schemas.microsoft.com/office/drawing/2014/main" id="{C4AF5F23-42F5-E91B-1964-A18225460A58}"/>
              </a:ext>
            </a:extLst>
          </p:cNvPr>
          <p:cNvSpPr/>
          <p:nvPr/>
        </p:nvSpPr>
        <p:spPr>
          <a:xfrm>
            <a:off x="22628431" y="9237890"/>
            <a:ext cx="445401" cy="37292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" name="Скругленный прямоугольник 41">
            <a:extLst>
              <a:ext uri="{FF2B5EF4-FFF2-40B4-BE49-F238E27FC236}">
                <a16:creationId xmlns:a16="http://schemas.microsoft.com/office/drawing/2014/main" id="{83A7736E-19FC-3791-98AE-25E2870DE010}"/>
              </a:ext>
            </a:extLst>
          </p:cNvPr>
          <p:cNvSpPr/>
          <p:nvPr/>
        </p:nvSpPr>
        <p:spPr>
          <a:xfrm>
            <a:off x="22675233" y="9016771"/>
            <a:ext cx="445401" cy="37292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A86371D8-53E5-66A8-AB24-20615E11319F}"/>
              </a:ext>
            </a:extLst>
          </p:cNvPr>
          <p:cNvSpPr/>
          <p:nvPr/>
        </p:nvSpPr>
        <p:spPr>
          <a:xfrm>
            <a:off x="22692833" y="8040857"/>
            <a:ext cx="440014" cy="50590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53F18510-CB53-B179-6059-290449263D8A}"/>
              </a:ext>
            </a:extLst>
          </p:cNvPr>
          <p:cNvSpPr/>
          <p:nvPr/>
        </p:nvSpPr>
        <p:spPr>
          <a:xfrm>
            <a:off x="22798298" y="8029502"/>
            <a:ext cx="322335" cy="21602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279F2E3E-5091-A539-7824-C40C02502521}"/>
              </a:ext>
            </a:extLst>
          </p:cNvPr>
          <p:cNvSpPr/>
          <p:nvPr/>
        </p:nvSpPr>
        <p:spPr>
          <a:xfrm>
            <a:off x="22912679" y="8379873"/>
            <a:ext cx="260845" cy="25013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25D81C5D-7847-F0BD-1051-C1D81253F65E}"/>
              </a:ext>
            </a:extLst>
          </p:cNvPr>
          <p:cNvSpPr/>
          <p:nvPr/>
        </p:nvSpPr>
        <p:spPr>
          <a:xfrm>
            <a:off x="22766773" y="8029502"/>
            <a:ext cx="322335" cy="21602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Овал 46">
            <a:extLst>
              <a:ext uri="{FF2B5EF4-FFF2-40B4-BE49-F238E27FC236}">
                <a16:creationId xmlns:a16="http://schemas.microsoft.com/office/drawing/2014/main" id="{78D3B511-0A89-9141-B4DC-A8634A18E18B}"/>
              </a:ext>
            </a:extLst>
          </p:cNvPr>
          <p:cNvSpPr/>
          <p:nvPr/>
        </p:nvSpPr>
        <p:spPr>
          <a:xfrm>
            <a:off x="22957945" y="8032307"/>
            <a:ext cx="201460" cy="1727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3DA8B7-76FE-A851-C3F7-84565059391A}"/>
              </a:ext>
            </a:extLst>
          </p:cNvPr>
          <p:cNvSpPr txBox="1"/>
          <p:nvPr/>
        </p:nvSpPr>
        <p:spPr>
          <a:xfrm>
            <a:off x="17159450" y="8942769"/>
            <a:ext cx="50436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FLAML 89%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F19868D2-9F5F-7D85-63E4-CA3AACC0D221}"/>
              </a:ext>
            </a:extLst>
          </p:cNvPr>
          <p:cNvSpPr/>
          <p:nvPr/>
        </p:nvSpPr>
        <p:spPr>
          <a:xfrm>
            <a:off x="22642729" y="9962761"/>
            <a:ext cx="445401" cy="37292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" name="Скругленный прямоугольник 54">
            <a:extLst>
              <a:ext uri="{FF2B5EF4-FFF2-40B4-BE49-F238E27FC236}">
                <a16:creationId xmlns:a16="http://schemas.microsoft.com/office/drawing/2014/main" id="{DD515ACB-B9B9-C21A-C08F-2F1D6DDB261F}"/>
              </a:ext>
            </a:extLst>
          </p:cNvPr>
          <p:cNvSpPr/>
          <p:nvPr/>
        </p:nvSpPr>
        <p:spPr>
          <a:xfrm>
            <a:off x="22692833" y="10185435"/>
            <a:ext cx="445401" cy="37292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CE6E5C-12C1-6487-7A27-CF0B949CDC9E}"/>
              </a:ext>
            </a:extLst>
          </p:cNvPr>
          <p:cNvSpPr txBox="1"/>
          <p:nvPr/>
        </p:nvSpPr>
        <p:spPr>
          <a:xfrm>
            <a:off x="15755558" y="9909152"/>
            <a:ext cx="24156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H2O 85%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37E9E6-64EF-B5F0-156E-FD99276C0E36}"/>
              </a:ext>
            </a:extLst>
          </p:cNvPr>
          <p:cNvSpPr txBox="1"/>
          <p:nvPr/>
        </p:nvSpPr>
        <p:spPr>
          <a:xfrm>
            <a:off x="19555454" y="10488648"/>
            <a:ext cx="39317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(проценты точности)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631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0EC526A6-A519-EE3B-D557-79C4B76FC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>
            <a:extLst>
              <a:ext uri="{FF2B5EF4-FFF2-40B4-BE49-F238E27FC236}">
                <a16:creationId xmlns:a16="http://schemas.microsoft.com/office/drawing/2014/main" id="{E7B3C7D1-9CD0-E16E-1990-8AA9FB0736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280573" y="859249"/>
            <a:ext cx="10897800" cy="1368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📉 РЕЗУЛЬТАТЫ PCA</a:t>
            </a: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60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0970421F-92E0-E4F3-E980-8076C604C11C}"/>
              </a:ext>
            </a:extLst>
          </p:cNvPr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искусственного интеллекта в медицине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1E6B08AF-E0E7-9F59-8D8B-4A7812209B95}"/>
              </a:ext>
            </a:extLst>
          </p:cNvPr>
          <p:cNvSpPr txBox="1"/>
          <p:nvPr/>
        </p:nvSpPr>
        <p:spPr>
          <a:xfrm>
            <a:off x="6803005" y="1153969"/>
            <a:ext cx="5288100" cy="67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pPr lvl="0">
              <a:lnSpc>
                <a:spcPct val="152413"/>
              </a:lnSpc>
              <a:buSzPts val="1305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системы и технологии (09.03.02)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96BC2D-BD66-F650-75AF-7B0D59A9C3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/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48FC1C52-8B8B-FD4A-CE87-B04020156776}"/>
              </a:ext>
            </a:extLst>
          </p:cNvPr>
          <p:cNvSpPr/>
          <p:nvPr/>
        </p:nvSpPr>
        <p:spPr>
          <a:xfrm>
            <a:off x="1476845" y="8004144"/>
            <a:ext cx="21078355" cy="2538069"/>
          </a:xfrm>
          <a:prstGeom prst="round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94DA568-D87D-AFE4-CFB0-734BB7BB94F7}"/>
              </a:ext>
            </a:extLst>
          </p:cNvPr>
          <p:cNvSpPr/>
          <p:nvPr/>
        </p:nvSpPr>
        <p:spPr>
          <a:xfrm>
            <a:off x="12091105" y="859249"/>
            <a:ext cx="271999" cy="1368152"/>
          </a:xfrm>
          <a:prstGeom prst="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D2712866-86F3-2556-747C-72E11B7A2BF0}"/>
              </a:ext>
            </a:extLst>
          </p:cNvPr>
          <p:cNvSpPr/>
          <p:nvPr/>
        </p:nvSpPr>
        <p:spPr>
          <a:xfrm>
            <a:off x="1801965" y="8004087"/>
            <a:ext cx="20917894" cy="2538069"/>
          </a:xfrm>
          <a:prstGeom prst="roundRect">
            <a:avLst/>
          </a:prstGeom>
          <a:solidFill>
            <a:srgbClr val="F3F5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39AD6-FE34-938D-A3CC-26971FA5B1E8}"/>
              </a:ext>
            </a:extLst>
          </p:cNvPr>
          <p:cNvSpPr txBox="1"/>
          <p:nvPr/>
        </p:nvSpPr>
        <p:spPr>
          <a:xfrm>
            <a:off x="2006392" y="8157175"/>
            <a:ext cx="209178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ДОКЛИНИЧЕСКИЕ НАРУШЕНИЯ: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пациентов (высокий PC1 + нормальные показатели). 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Эти 12 пациентов — группа доклинического риска. У них нет явных отклонений в анализах, но повышен общий метаболический риск.</a:t>
            </a:r>
            <a:endParaRPr 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A6DC6AC-BAE8-39B0-4F3B-577EC60B538C}"/>
              </a:ext>
            </a:extLst>
          </p:cNvPr>
          <p:cNvSpPr/>
          <p:nvPr/>
        </p:nvSpPr>
        <p:spPr>
          <a:xfrm>
            <a:off x="1594787" y="3168368"/>
            <a:ext cx="4968552" cy="4429008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PC1</a:t>
            </a:r>
          </a:p>
          <a:p>
            <a:pPr algn="ctr"/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35%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метаболический синдром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C19D88-1383-7F99-7955-C3C16C604BC3}"/>
              </a:ext>
            </a:extLst>
          </p:cNvPr>
          <p:cNvSpPr txBox="1"/>
          <p:nvPr/>
        </p:nvSpPr>
        <p:spPr>
          <a:xfrm>
            <a:off x="1560236" y="11105664"/>
            <a:ext cx="221476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Порог PC1 = 90-й перцентиль (1.52)</a:t>
            </a:r>
            <a:b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Группа высокого риска: 95 пациентов (10%)</a:t>
            </a:r>
            <a:endParaRPr lang="ru-RU" sz="40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8C4D684-A012-E469-9A5F-41A41EC37EEA}"/>
              </a:ext>
            </a:extLst>
          </p:cNvPr>
          <p:cNvSpPr/>
          <p:nvPr/>
        </p:nvSpPr>
        <p:spPr>
          <a:xfrm>
            <a:off x="9796297" y="3168368"/>
            <a:ext cx="4968552" cy="4429008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PC2</a:t>
            </a:r>
          </a:p>
          <a:p>
            <a:pPr algn="ctr"/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дислипидемия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6AA6AE8-C6A8-AEE0-A965-A67F9A6CFECA}"/>
              </a:ext>
            </a:extLst>
          </p:cNvPr>
          <p:cNvSpPr/>
          <p:nvPr/>
        </p:nvSpPr>
        <p:spPr>
          <a:xfrm>
            <a:off x="17716628" y="3168368"/>
            <a:ext cx="4968552" cy="4429008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PC3</a:t>
            </a:r>
          </a:p>
          <a:p>
            <a:pPr algn="ctr"/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15%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доп. факторы</a:t>
            </a:r>
          </a:p>
        </p:txBody>
      </p:sp>
    </p:spTree>
    <p:extLst>
      <p:ext uri="{BB962C8B-B14F-4D97-AF65-F5344CB8AC3E}">
        <p14:creationId xmlns:p14="http://schemas.microsoft.com/office/powerpoint/2010/main" val="374125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16C8C231-706F-C7D6-1123-5A843445B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>
            <a:extLst>
              <a:ext uri="{FF2B5EF4-FFF2-40B4-BE49-F238E27FC236}">
                <a16:creationId xmlns:a16="http://schemas.microsoft.com/office/drawing/2014/main" id="{CCC0DCFE-B0C8-C3C4-FC1E-91ABEB8F5A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369122" y="893914"/>
            <a:ext cx="10897800" cy="1368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🔲 SVM ДЛЯ ССЗ-РИСКА</a:t>
            </a:r>
          </a:p>
        </p:txBody>
      </p:sp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7FEE95BC-BC72-4694-837C-99B1B4633501}"/>
              </a:ext>
            </a:extLst>
          </p:cNvPr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искусственного интеллекта в медицине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95548FBA-2967-642D-BBF8-5733C36B52C7}"/>
              </a:ext>
            </a:extLst>
          </p:cNvPr>
          <p:cNvSpPr txBox="1"/>
          <p:nvPr/>
        </p:nvSpPr>
        <p:spPr>
          <a:xfrm>
            <a:off x="6803005" y="1153969"/>
            <a:ext cx="5288100" cy="67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pPr lvl="0">
              <a:lnSpc>
                <a:spcPct val="152413"/>
              </a:lnSpc>
              <a:buSzPts val="1305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системы и технологии (09.03.02)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3B9A07-AC8C-5D1D-5D05-71FD5F0CB6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52A523-C6BF-3781-D2A4-CDF9001DCC0A}"/>
              </a:ext>
            </a:extLst>
          </p:cNvPr>
          <p:cNvSpPr/>
          <p:nvPr/>
        </p:nvSpPr>
        <p:spPr>
          <a:xfrm>
            <a:off x="12091105" y="859249"/>
            <a:ext cx="271999" cy="1368152"/>
          </a:xfrm>
          <a:prstGeom prst="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F61DE1-2BA1-6665-141F-3F7B610CDEFF}"/>
              </a:ext>
            </a:extLst>
          </p:cNvPr>
          <p:cNvSpPr txBox="1"/>
          <p:nvPr/>
        </p:nvSpPr>
        <p:spPr>
          <a:xfrm>
            <a:off x="1733053" y="7032477"/>
            <a:ext cx="209178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ПОРОГИ ДЛЯ ВРАЧА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3A32EA73-CCEE-2298-3081-759B044BF492}"/>
              </a:ext>
            </a:extLst>
          </p:cNvPr>
          <p:cNvSpPr/>
          <p:nvPr/>
        </p:nvSpPr>
        <p:spPr>
          <a:xfrm>
            <a:off x="2750301" y="3089447"/>
            <a:ext cx="3720744" cy="3653494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</a:p>
          <a:p>
            <a:pPr algn="ctr"/>
            <a:r>
              <a:rPr lang="ru-RU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endParaRPr lang="ru-RU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85%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8FCE88D2-2C1C-8936-5908-F80A0353F553}"/>
              </a:ext>
            </a:extLst>
          </p:cNvPr>
          <p:cNvSpPr/>
          <p:nvPr/>
        </p:nvSpPr>
        <p:spPr>
          <a:xfrm>
            <a:off x="9867515" y="3089447"/>
            <a:ext cx="3720744" cy="3653494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🎯</a:t>
            </a:r>
          </a:p>
          <a:p>
            <a:pPr algn="ctr"/>
            <a:r>
              <a:rPr lang="ru-RU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lang="ru-RU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86%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0D248F83-5213-8D04-2AFC-96A31DFB87EC}"/>
              </a:ext>
            </a:extLst>
          </p:cNvPr>
          <p:cNvSpPr/>
          <p:nvPr/>
        </p:nvSpPr>
        <p:spPr>
          <a:xfrm>
            <a:off x="16984729" y="3114170"/>
            <a:ext cx="3720744" cy="3653494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📈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 ROC</a:t>
            </a:r>
          </a:p>
          <a:p>
            <a:pPr algn="ctr"/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0.91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397EE89E-DF5B-BA91-6417-7D2485D4E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514983"/>
              </p:ext>
            </p:extLst>
          </p:nvPr>
        </p:nvGraphicFramePr>
        <p:xfrm>
          <a:off x="675922" y="7731289"/>
          <a:ext cx="22965349" cy="5309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9482">
                  <a:extLst>
                    <a:ext uri="{9D8B030D-6E8A-4147-A177-3AD203B41FA5}">
                      <a16:colId xmlns:a16="http://schemas.microsoft.com/office/drawing/2014/main" val="1650567400"/>
                    </a:ext>
                  </a:extLst>
                </a:gridCol>
                <a:gridCol w="14365867">
                  <a:extLst>
                    <a:ext uri="{9D8B030D-6E8A-4147-A177-3AD203B41FA5}">
                      <a16:colId xmlns:a16="http://schemas.microsoft.com/office/drawing/2014/main" val="3422855290"/>
                    </a:ext>
                  </a:extLst>
                </a:gridCol>
              </a:tblGrid>
              <a:tr h="1080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Порог</a:t>
                      </a:r>
                    </a:p>
                  </a:txBody>
                  <a:tcPr marL="114300" marR="114300" marT="114300" marB="114300" anchor="ctr">
                    <a:cell3D prstMaterial="dkEdge">
                      <a:bevel prst="convex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Рекомендация</a:t>
                      </a:r>
                    </a:p>
                  </a:txBody>
                  <a:tcPr marL="114300" marR="114300" marT="114300" marB="114300" anchor="ctr">
                    <a:cell3D prstMaterial="dkEdge">
                      <a:bevel prst="convex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80929205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</a:p>
                  </a:txBody>
                  <a:tcPr marL="95250" marR="95250" marT="95250" marB="9525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4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🔍 Массовый скрининг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4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(не пропустить ни одного пациента)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102308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</a:p>
                  </a:txBody>
                  <a:tcPr marL="95250" marR="95250" marT="95250" marB="952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4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📋 Рутинная практика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4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(баланс)</a:t>
                      </a:r>
                    </a:p>
                  </a:txBody>
                  <a:tcPr marL="95250" marR="95250" marT="95250" marB="952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483463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</a:p>
                  </a:txBody>
                  <a:tcPr marL="95250" marR="95250" marT="95250" marB="952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4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🏥 Подтверждение диагноза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4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(избежать ложных тревог)</a:t>
                      </a:r>
                    </a:p>
                  </a:txBody>
                  <a:tcPr marL="95250" marR="95250" marT="95250" marB="952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858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829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7CF6C2EA-F5E1-B1A9-DC22-22351E5B6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>
            <a:extLst>
              <a:ext uri="{FF2B5EF4-FFF2-40B4-BE49-F238E27FC236}">
                <a16:creationId xmlns:a16="http://schemas.microsoft.com/office/drawing/2014/main" id="{25C35A53-ADA1-F729-E7D1-81D75A738C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260912" y="667646"/>
            <a:ext cx="11072667" cy="1867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🤝 FUZZY KNN ДЛЯ ПРЕДДИАБЕТА</a:t>
            </a: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60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99B33AB9-550E-9D04-2907-358E057988D0}"/>
              </a:ext>
            </a:extLst>
          </p:cNvPr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искусственного интеллекта в медицине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ED83FBB2-8787-E5A8-17CC-D8E5F19A5007}"/>
              </a:ext>
            </a:extLst>
          </p:cNvPr>
          <p:cNvSpPr txBox="1"/>
          <p:nvPr/>
        </p:nvSpPr>
        <p:spPr>
          <a:xfrm>
            <a:off x="6803005" y="1153969"/>
            <a:ext cx="5288100" cy="67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pPr lvl="0">
              <a:lnSpc>
                <a:spcPct val="152413"/>
              </a:lnSpc>
              <a:buSzPts val="1305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системы и технологии (09.03.02)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86EEED-F6E2-6818-7F04-D9655204FA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A7F53FA-0810-B2CB-23D8-B0A660A49EA5}"/>
              </a:ext>
            </a:extLst>
          </p:cNvPr>
          <p:cNvSpPr/>
          <p:nvPr/>
        </p:nvSpPr>
        <p:spPr>
          <a:xfrm>
            <a:off x="12091105" y="737320"/>
            <a:ext cx="169807" cy="1728192"/>
          </a:xfrm>
          <a:prstGeom prst="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9E969EE2-9FAE-74DF-F5EC-31333EBFCDF8}"/>
              </a:ext>
            </a:extLst>
          </p:cNvPr>
          <p:cNvSpPr/>
          <p:nvPr/>
        </p:nvSpPr>
        <p:spPr>
          <a:xfrm>
            <a:off x="2830960" y="10151720"/>
            <a:ext cx="18899226" cy="1719552"/>
          </a:xfrm>
          <a:prstGeom prst="roundRect">
            <a:avLst/>
          </a:prstGeom>
          <a:solidFill>
            <a:srgbClr val="FFFAE6"/>
          </a:solidFill>
          <a:ln>
            <a:solidFill>
              <a:srgbClr val="F49D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CFC498-7DAE-C55B-5AF3-DADCE5271540}"/>
              </a:ext>
            </a:extLst>
          </p:cNvPr>
          <p:cNvSpPr txBox="1"/>
          <p:nvPr/>
        </p:nvSpPr>
        <p:spPr>
          <a:xfrm>
            <a:off x="3395405" y="10349776"/>
            <a:ext cx="144018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🟡 «СЕРАЯ ЗОНА» (риск 30-70%): 35% пациентов</a:t>
            </a: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Требуют усиленного контроля и персонализированного подхода</a:t>
            </a:r>
            <a:endParaRPr lang="ru-RU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6C82E463-7C20-8776-D0D2-32683EEF2697}"/>
              </a:ext>
            </a:extLst>
          </p:cNvPr>
          <p:cNvSpPr/>
          <p:nvPr/>
        </p:nvSpPr>
        <p:spPr>
          <a:xfrm>
            <a:off x="2791638" y="4908412"/>
            <a:ext cx="4968552" cy="4429008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🩸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группа</a:t>
            </a:r>
          </a:p>
          <a:p>
            <a:pPr algn="ctr"/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глюкоза 5.4-6.5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42050512-32D0-3517-9E90-AE7B3B04551F}"/>
              </a:ext>
            </a:extLst>
          </p:cNvPr>
          <p:cNvSpPr/>
          <p:nvPr/>
        </p:nvSpPr>
        <p:spPr>
          <a:xfrm>
            <a:off x="9776636" y="4094112"/>
            <a:ext cx="4968552" cy="4429008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🟡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Преддиабет:</a:t>
            </a:r>
          </a:p>
          <a:p>
            <a:pPr algn="ctr"/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55%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пациентов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44872BEC-D899-8AD1-8F41-B0FDC2E5A150}"/>
              </a:ext>
            </a:extLst>
          </p:cNvPr>
          <p:cNvSpPr/>
          <p:nvPr/>
        </p:nvSpPr>
        <p:spPr>
          <a:xfrm>
            <a:off x="16761634" y="3320705"/>
            <a:ext cx="4968552" cy="5113048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Неопределённость прогноза</a:t>
            </a:r>
          </a:p>
          <a:p>
            <a:pPr algn="ctr"/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0.25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(чем выше, тем больше сомнений модели)</a:t>
            </a:r>
          </a:p>
        </p:txBody>
      </p:sp>
    </p:spTree>
    <p:extLst>
      <p:ext uri="{BB962C8B-B14F-4D97-AF65-F5344CB8AC3E}">
        <p14:creationId xmlns:p14="http://schemas.microsoft.com/office/powerpoint/2010/main" val="3746124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FCC12D81-A0D9-E8C4-FAE8-5A0726D69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>
            <a:extLst>
              <a:ext uri="{FF2B5EF4-FFF2-40B4-BE49-F238E27FC236}">
                <a16:creationId xmlns:a16="http://schemas.microsoft.com/office/drawing/2014/main" id="{E15496E2-F116-5BF5-45C5-B4BADF9575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363104" y="714039"/>
            <a:ext cx="11488174" cy="1961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📋 КЛИНИЧЕСКИЙ ПРОТОКОЛ</a:t>
            </a:r>
          </a:p>
        </p:txBody>
      </p:sp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3A517FAC-520F-55A3-CFFC-A6344D298A3F}"/>
              </a:ext>
            </a:extLst>
          </p:cNvPr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искусственного интеллекта в медицине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FEB8176B-F0E2-6539-D12B-40F263F328D3}"/>
              </a:ext>
            </a:extLst>
          </p:cNvPr>
          <p:cNvSpPr txBox="1"/>
          <p:nvPr/>
        </p:nvSpPr>
        <p:spPr>
          <a:xfrm>
            <a:off x="6803005" y="1153969"/>
            <a:ext cx="5288100" cy="67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pPr lvl="0">
              <a:lnSpc>
                <a:spcPct val="152413"/>
              </a:lnSpc>
              <a:buSzPts val="1305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системы и технологии (09.03.02)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2A1E1C-013E-0DEF-772E-12DB46831E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A67B07B-3A8E-F530-BCCE-43214A8843EA}"/>
              </a:ext>
            </a:extLst>
          </p:cNvPr>
          <p:cNvSpPr/>
          <p:nvPr/>
        </p:nvSpPr>
        <p:spPr>
          <a:xfrm>
            <a:off x="12091105" y="859249"/>
            <a:ext cx="271999" cy="1816508"/>
          </a:xfrm>
          <a:prstGeom prst="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EE40C372-6321-89DC-2CD3-E685B9D2E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315081"/>
              </p:ext>
            </p:extLst>
          </p:nvPr>
        </p:nvGraphicFramePr>
        <p:xfrm>
          <a:off x="1599400" y="3617640"/>
          <a:ext cx="21527408" cy="4960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7870">
                  <a:extLst>
                    <a:ext uri="{9D8B030D-6E8A-4147-A177-3AD203B41FA5}">
                      <a16:colId xmlns:a16="http://schemas.microsoft.com/office/drawing/2014/main" val="1650567400"/>
                    </a:ext>
                  </a:extLst>
                </a:gridCol>
                <a:gridCol w="16619538">
                  <a:extLst>
                    <a:ext uri="{9D8B030D-6E8A-4147-A177-3AD203B41FA5}">
                      <a16:colId xmlns:a16="http://schemas.microsoft.com/office/drawing/2014/main" val="3422855290"/>
                    </a:ext>
                  </a:extLst>
                </a:gridCol>
              </a:tblGrid>
              <a:tr h="15121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Скор риска</a:t>
                      </a:r>
                    </a:p>
                  </a:txBody>
                  <a:tcPr marL="114300" marR="114300" marT="114300" marB="114300" anchor="ctr"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Рекомендация</a:t>
                      </a:r>
                    </a:p>
                  </a:txBody>
                  <a:tcPr marL="114300" marR="114300" marT="114300" marB="114300" anchor="ctr"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80929205"/>
                  </a:ext>
                </a:extLst>
              </a:tr>
              <a:tr h="12241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&lt;30%</a:t>
                      </a:r>
                    </a:p>
                  </a:txBody>
                  <a:tcPr marL="95250" marR="95250" marT="95250" marB="9525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Стандартная диспансеризация (1 раз/год)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102308"/>
                  </a:ext>
                </a:extLst>
              </a:tr>
              <a:tr h="11601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30-70%</a:t>
                      </a:r>
                    </a:p>
                  </a:txBody>
                  <a:tcPr marL="95250" marR="95250" marT="95250" marB="952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Усиленный контроль (2-3 раза/год + диетолог)</a:t>
                      </a:r>
                    </a:p>
                  </a:txBody>
                  <a:tcPr marL="95250" marR="95250" marT="95250" marB="952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483463"/>
                  </a:ext>
                </a:extLst>
              </a:tr>
              <a:tr h="10640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≥70%</a:t>
                      </a:r>
                    </a:p>
                  </a:txBody>
                  <a:tcPr marL="95250" marR="95250" marT="95250" marB="952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C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Направление к эндокринологу + ПГТТ</a:t>
                      </a:r>
                    </a:p>
                  </a:txBody>
                  <a:tcPr marL="95250" marR="95250" marT="95250" marB="952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858805"/>
                  </a:ext>
                </a:extLst>
              </a:tr>
            </a:tbl>
          </a:graphicData>
        </a:graphic>
      </p:graphicFrame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8F93C0B7-BBD4-1E44-8F0F-9D5E0EE725C6}"/>
              </a:ext>
            </a:extLst>
          </p:cNvPr>
          <p:cNvSpPr/>
          <p:nvPr/>
        </p:nvSpPr>
        <p:spPr>
          <a:xfrm>
            <a:off x="1589980" y="9847278"/>
            <a:ext cx="21078355" cy="1719552"/>
          </a:xfrm>
          <a:prstGeom prst="round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FB5AE251-A260-A8DB-72EA-B91AB1146D93}"/>
              </a:ext>
            </a:extLst>
          </p:cNvPr>
          <p:cNvSpPr/>
          <p:nvPr/>
        </p:nvSpPr>
        <p:spPr>
          <a:xfrm>
            <a:off x="1915100" y="9847221"/>
            <a:ext cx="21211708" cy="1719552"/>
          </a:xfrm>
          <a:prstGeom prst="roundRect">
            <a:avLst/>
          </a:prstGeom>
          <a:solidFill>
            <a:srgbClr val="F3F5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D8ABF-B464-2679-1FB3-DDAB76ED8544}"/>
              </a:ext>
            </a:extLst>
          </p:cNvPr>
          <p:cNvSpPr txBox="1"/>
          <p:nvPr/>
        </p:nvSpPr>
        <p:spPr>
          <a:xfrm>
            <a:off x="1979678" y="10008000"/>
            <a:ext cx="209178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⚖️ 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ЭТИЧЕСКИЕ ПРИНЦИПЫ: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Все рекомендации соответствуют стандартам Министерства здравоохранения РФ и ФЗ № 323</a:t>
            </a:r>
            <a:endParaRPr lang="ru-RU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312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8596984F-BB2A-BF7C-6483-3F833E03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59561B04-2D84-BA05-3AC8-ED0F4664C7D7}"/>
              </a:ext>
            </a:extLst>
          </p:cNvPr>
          <p:cNvSpPr/>
          <p:nvPr/>
        </p:nvSpPr>
        <p:spPr>
          <a:xfrm>
            <a:off x="12950670" y="4276488"/>
            <a:ext cx="7986778" cy="7190024"/>
          </a:xfrm>
          <a:prstGeom prst="roundRect">
            <a:avLst/>
          </a:prstGeom>
          <a:solidFill>
            <a:srgbClr val="29CA6F"/>
          </a:solidFill>
          <a:ln>
            <a:solidFill>
              <a:srgbClr val="29CA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000" dirty="0">
              <a:ln>
                <a:solidFill>
                  <a:srgbClr val="E74C3B"/>
                </a:solidFill>
              </a:ln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A79F0891-037A-4108-5C92-8BD8F5DA3F6F}"/>
              </a:ext>
            </a:extLst>
          </p:cNvPr>
          <p:cNvSpPr/>
          <p:nvPr/>
        </p:nvSpPr>
        <p:spPr>
          <a:xfrm>
            <a:off x="2254896" y="4308456"/>
            <a:ext cx="7848872" cy="7200800"/>
          </a:xfrm>
          <a:prstGeom prst="roundRect">
            <a:avLst/>
          </a:prstGeom>
          <a:solidFill>
            <a:srgbClr val="E74C3B"/>
          </a:solidFill>
          <a:ln>
            <a:solidFill>
              <a:srgbClr val="E74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000" dirty="0">
              <a:ln>
                <a:solidFill>
                  <a:srgbClr val="E74C3B"/>
                </a:solidFill>
              </a:ln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Google Shape;208;p21">
            <a:extLst>
              <a:ext uri="{FF2B5EF4-FFF2-40B4-BE49-F238E27FC236}">
                <a16:creationId xmlns:a16="http://schemas.microsoft.com/office/drawing/2014/main" id="{2CF78110-AA44-61C8-690A-BA43729188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260912" y="667646"/>
            <a:ext cx="11072667" cy="1941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⚡ ЖЁСТКИЙ </a:t>
            </a:r>
            <a:r>
              <a:rPr lang="ru-RU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НЕЧЁТКИЙ ПОДХОД</a:t>
            </a: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60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1BA7E91A-83B4-8CC5-2B04-51EFBF6F6DF9}"/>
              </a:ext>
            </a:extLst>
          </p:cNvPr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искусственного интеллекта в медицине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7002D6E0-6085-00B0-CA8E-A9BC3AFDBC0D}"/>
              </a:ext>
            </a:extLst>
          </p:cNvPr>
          <p:cNvSpPr txBox="1"/>
          <p:nvPr/>
        </p:nvSpPr>
        <p:spPr>
          <a:xfrm>
            <a:off x="6803005" y="1153969"/>
            <a:ext cx="5288100" cy="67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pPr lvl="0">
              <a:lnSpc>
                <a:spcPct val="152413"/>
              </a:lnSpc>
              <a:buSzPts val="1305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системы и технологии (09.03.02)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B266BA-6E38-562C-5217-5DF5590430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US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793DA0D-F5C1-AF4E-CD40-FB58D25D1799}"/>
              </a:ext>
            </a:extLst>
          </p:cNvPr>
          <p:cNvSpPr/>
          <p:nvPr/>
        </p:nvSpPr>
        <p:spPr>
          <a:xfrm>
            <a:off x="12091105" y="737320"/>
            <a:ext cx="169807" cy="1941882"/>
          </a:xfrm>
          <a:prstGeom prst="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526BC00C-744F-266E-63FB-1EC38AD48301}"/>
              </a:ext>
            </a:extLst>
          </p:cNvPr>
          <p:cNvSpPr/>
          <p:nvPr/>
        </p:nvSpPr>
        <p:spPr>
          <a:xfrm>
            <a:off x="2792372" y="4233744"/>
            <a:ext cx="7848872" cy="7286288"/>
          </a:xfrm>
          <a:prstGeom prst="roundRect">
            <a:avLst/>
          </a:prstGeom>
          <a:solidFill>
            <a:srgbClr val="FFECEE"/>
          </a:solidFill>
          <a:ln>
            <a:solidFill>
              <a:srgbClr val="FFEC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ЖЁСТКИЙ ПОДХОД</a:t>
            </a:r>
          </a:p>
          <a:p>
            <a:pPr algn="ctr"/>
            <a:endParaRPr lang="ru-RU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 0 или 1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Объяснимость: низкая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Доверие врача: 52%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«Серая зона»: не выделяется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05B134E6-E0EE-4052-C4EE-A7577A98CAB6}"/>
              </a:ext>
            </a:extLst>
          </p:cNvPr>
          <p:cNvSpPr/>
          <p:nvPr/>
        </p:nvSpPr>
        <p:spPr>
          <a:xfrm>
            <a:off x="13488146" y="4233744"/>
            <a:ext cx="8064894" cy="7232768"/>
          </a:xfrm>
          <a:prstGeom prst="roundRect">
            <a:avLst/>
          </a:prstGeom>
          <a:solidFill>
            <a:srgbClr val="E9F6E9"/>
          </a:solidFill>
          <a:ln>
            <a:solidFill>
              <a:srgbClr val="E9F6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НЕЧЁТКИЙ ПОДХОД (</a:t>
            </a:r>
            <a:r>
              <a:rPr lang="ru-RU" sz="6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endParaRPr lang="ru-RU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 0-100% (скор. риска)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Объяснимость: высокая (SHAP)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Доверие врача: 89%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«Серая зона»: чётко выделяется</a:t>
            </a:r>
          </a:p>
        </p:txBody>
      </p:sp>
    </p:spTree>
    <p:extLst>
      <p:ext uri="{BB962C8B-B14F-4D97-AF65-F5344CB8AC3E}">
        <p14:creationId xmlns:p14="http://schemas.microsoft.com/office/powerpoint/2010/main" val="3569461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DD8021AB-6846-8A8B-B791-B801D8A0A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>
            <a:extLst>
              <a:ext uri="{FF2B5EF4-FFF2-40B4-BE49-F238E27FC236}">
                <a16:creationId xmlns:a16="http://schemas.microsoft.com/office/drawing/2014/main" id="{403A0768-9E7A-D9F6-8CA3-5AE1E8A2B7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73079" y="1048593"/>
            <a:ext cx="108978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ВЫВОДЫ</a:t>
            </a:r>
          </a:p>
        </p:txBody>
      </p:sp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9F5CE1B1-9527-37D1-A104-2336B62D46F4}"/>
              </a:ext>
            </a:extLst>
          </p:cNvPr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искусственного интеллекта в медицине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30B4BAD9-7DA7-1190-CC72-139266ED2E2F}"/>
              </a:ext>
            </a:extLst>
          </p:cNvPr>
          <p:cNvSpPr txBox="1"/>
          <p:nvPr/>
        </p:nvSpPr>
        <p:spPr>
          <a:xfrm>
            <a:off x="6784980" y="1154378"/>
            <a:ext cx="5288100" cy="768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pPr lvl="0">
              <a:lnSpc>
                <a:spcPct val="152413"/>
              </a:lnSpc>
              <a:buSzPts val="1305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системы и технологии (09.03.02)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C89752-F5FA-2EBF-4FF6-F23881EFF7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US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3077D70-007A-0F76-7AE6-7DBDAF328440}"/>
              </a:ext>
            </a:extLst>
          </p:cNvPr>
          <p:cNvSpPr/>
          <p:nvPr/>
        </p:nvSpPr>
        <p:spPr>
          <a:xfrm>
            <a:off x="12186307" y="717508"/>
            <a:ext cx="219817" cy="1759571"/>
          </a:xfrm>
          <a:prstGeom prst="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ECC4DF80-199E-A250-FC2C-1E03B49A177C}"/>
              </a:ext>
            </a:extLst>
          </p:cNvPr>
          <p:cNvSpPr/>
          <p:nvPr/>
        </p:nvSpPr>
        <p:spPr>
          <a:xfrm>
            <a:off x="17495629" y="7289323"/>
            <a:ext cx="5153319" cy="4583179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🤝</a:t>
            </a:r>
          </a:p>
          <a:p>
            <a:pPr algn="ctr"/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FUZZY KNN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35% в «серой зоне»</a:t>
            </a:r>
            <a:b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клинический протокол готов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6FDB5B75-992A-30FE-3ADC-5286DF080487}"/>
              </a:ext>
            </a:extLst>
          </p:cNvPr>
          <p:cNvSpPr/>
          <p:nvPr/>
        </p:nvSpPr>
        <p:spPr>
          <a:xfrm>
            <a:off x="9339146" y="5456448"/>
            <a:ext cx="5467865" cy="5112568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📉</a:t>
            </a:r>
          </a:p>
          <a:p>
            <a:pPr algn="ctr"/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 пациентов</a:t>
            </a:r>
            <a:b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доклиническими нарушениями</a:t>
            </a: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3CC0376B-CD87-4CD6-07D4-F8A531790489}"/>
              </a:ext>
            </a:extLst>
          </p:cNvPr>
          <p:cNvSpPr/>
          <p:nvPr/>
        </p:nvSpPr>
        <p:spPr>
          <a:xfrm>
            <a:off x="1182663" y="7024628"/>
            <a:ext cx="5467865" cy="5112568"/>
          </a:xfrm>
          <a:prstGeom prst="roundRect">
            <a:avLst/>
          </a:prstGeom>
          <a:solidFill>
            <a:srgbClr val="F3F5FD"/>
          </a:solidFill>
          <a:ln>
            <a:solidFill>
              <a:srgbClr val="F3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🤖</a:t>
            </a:r>
          </a:p>
          <a:p>
            <a:pPr algn="ctr"/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AUTOML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AutoGluon 92%</a:t>
            </a:r>
            <a:b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FLAML быстрее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B51C4102-1C52-B820-0A57-71BA6A7603DC}"/>
              </a:ext>
            </a:extLst>
          </p:cNvPr>
          <p:cNvSpPr/>
          <p:nvPr/>
        </p:nvSpPr>
        <p:spPr>
          <a:xfrm>
            <a:off x="6629785" y="2839978"/>
            <a:ext cx="16883002" cy="1719552"/>
          </a:xfrm>
          <a:prstGeom prst="roundRect">
            <a:avLst/>
          </a:prstGeom>
          <a:solidFill>
            <a:srgbClr val="E9F6E9"/>
          </a:solidFill>
          <a:ln>
            <a:solidFill>
              <a:srgbClr val="29CA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 ПОДТВЕРДИЛАСЬ: </a:t>
            </a:r>
          </a:p>
          <a:p>
            <a:pPr algn="ctr"/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комбинация методов ML даёт точность до 92%</a:t>
            </a:r>
          </a:p>
        </p:txBody>
      </p:sp>
    </p:spTree>
    <p:extLst>
      <p:ext uri="{BB962C8B-B14F-4D97-AF65-F5344CB8AC3E}">
        <p14:creationId xmlns:p14="http://schemas.microsoft.com/office/powerpoint/2010/main" val="2332108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AA9CC6EB-5FD2-C50F-3098-887981711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7F032B75-6483-8D05-0183-CB672C2BC3C6}"/>
              </a:ext>
            </a:extLst>
          </p:cNvPr>
          <p:cNvSpPr/>
          <p:nvPr/>
        </p:nvSpPr>
        <p:spPr>
          <a:xfrm>
            <a:off x="13454254" y="8869424"/>
            <a:ext cx="7910575" cy="1087977"/>
          </a:xfrm>
          <a:prstGeom prst="round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84EFA69E-89BF-7B08-0BFE-2F5ACA66E6B9}"/>
              </a:ext>
            </a:extLst>
          </p:cNvPr>
          <p:cNvSpPr/>
          <p:nvPr/>
        </p:nvSpPr>
        <p:spPr>
          <a:xfrm>
            <a:off x="3161853" y="8869424"/>
            <a:ext cx="7750281" cy="1087977"/>
          </a:xfrm>
          <a:prstGeom prst="round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8" name="Google Shape;208;p21">
            <a:extLst>
              <a:ext uri="{FF2B5EF4-FFF2-40B4-BE49-F238E27FC236}">
                <a16:creationId xmlns:a16="http://schemas.microsoft.com/office/drawing/2014/main" id="{FC992BDD-6C93-2AB4-7855-00F399AE08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329508" y="1049937"/>
            <a:ext cx="11488174" cy="1435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ru-RU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🎯 ЗАКЛЮЧЕНИЕ</a:t>
            </a:r>
          </a:p>
        </p:txBody>
      </p:sp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31A0847E-C990-0A66-6B22-06DC93AA64E8}"/>
              </a:ext>
            </a:extLst>
          </p:cNvPr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искусственного интеллекта в медицине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B544B0A1-D5FF-74C6-CFB3-1BF22C9E19EB}"/>
              </a:ext>
            </a:extLst>
          </p:cNvPr>
          <p:cNvSpPr txBox="1"/>
          <p:nvPr/>
        </p:nvSpPr>
        <p:spPr>
          <a:xfrm>
            <a:off x="6803005" y="1153969"/>
            <a:ext cx="5288100" cy="67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pPr lvl="0">
              <a:lnSpc>
                <a:spcPct val="152413"/>
              </a:lnSpc>
              <a:buSzPts val="1305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системы и технологии (09.03.02)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C607AD-24EC-8C90-AA6F-98B7563491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US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0744B85-0F63-4A04-E731-547C9CDABB5E}"/>
              </a:ext>
            </a:extLst>
          </p:cNvPr>
          <p:cNvSpPr/>
          <p:nvPr/>
        </p:nvSpPr>
        <p:spPr>
          <a:xfrm>
            <a:off x="12091105" y="859249"/>
            <a:ext cx="271999" cy="1816508"/>
          </a:xfrm>
          <a:prstGeom prst="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949ED467-7696-2AD5-AECB-A823EF3AC8C7}"/>
              </a:ext>
            </a:extLst>
          </p:cNvPr>
          <p:cNvSpPr/>
          <p:nvPr/>
        </p:nvSpPr>
        <p:spPr>
          <a:xfrm>
            <a:off x="1551927" y="3674651"/>
            <a:ext cx="21078355" cy="1719552"/>
          </a:xfrm>
          <a:prstGeom prst="roundRect">
            <a:avLst/>
          </a:prstGeom>
          <a:solidFill>
            <a:srgbClr val="0153A6"/>
          </a:solidFill>
          <a:ln>
            <a:solidFill>
              <a:srgbClr val="015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DF057F2A-C653-02D0-573C-A78C103422A7}"/>
              </a:ext>
            </a:extLst>
          </p:cNvPr>
          <p:cNvSpPr/>
          <p:nvPr/>
        </p:nvSpPr>
        <p:spPr>
          <a:xfrm>
            <a:off x="1985784" y="3543968"/>
            <a:ext cx="21211708" cy="1719552"/>
          </a:xfrm>
          <a:prstGeom prst="roundRect">
            <a:avLst/>
          </a:prstGeom>
          <a:solidFill>
            <a:srgbClr val="F3F5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8EF29-2EA7-B490-25C7-ED409A151527}"/>
              </a:ext>
            </a:extLst>
          </p:cNvPr>
          <p:cNvSpPr txBox="1"/>
          <p:nvPr/>
        </p:nvSpPr>
        <p:spPr>
          <a:xfrm>
            <a:off x="2286001" y="3755882"/>
            <a:ext cx="2077813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Разработанный прототип может использоваться в поликлиниках для персонализированной оценки риска и ранней профилактики</a:t>
            </a:r>
            <a:endParaRPr lang="ru-RU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1BC31D-4E6C-FCC1-E5E9-A66F90CB7387}"/>
              </a:ext>
            </a:extLst>
          </p:cNvPr>
          <p:cNvSpPr txBox="1"/>
          <p:nvPr/>
        </p:nvSpPr>
        <p:spPr>
          <a:xfrm>
            <a:off x="3349150" y="9090248"/>
            <a:ext cx="75467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36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github.com</a:t>
            </a:r>
            <a:r>
              <a:rPr lang="ru-RU" sz="3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36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OlgaMilova</a:t>
            </a:r>
            <a:r>
              <a:rPr lang="ru-RU" sz="3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/StudyRepo26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127188-9E9F-FBC9-C4A4-206805280B5A}"/>
              </a:ext>
            </a:extLst>
          </p:cNvPr>
          <p:cNvSpPr txBox="1"/>
          <p:nvPr/>
        </p:nvSpPr>
        <p:spPr>
          <a:xfrm>
            <a:off x="4127104" y="8080592"/>
            <a:ext cx="6048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💻 CODE AVAILABILITY</a:t>
            </a:r>
            <a:endParaRPr lang="ru-RU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1BC04B-520A-9834-F00C-BBDCAD862C2D}"/>
              </a:ext>
            </a:extLst>
          </p:cNvPr>
          <p:cNvSpPr txBox="1"/>
          <p:nvPr/>
        </p:nvSpPr>
        <p:spPr>
          <a:xfrm>
            <a:off x="14388245" y="8080592"/>
            <a:ext cx="60940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📊 DATA AVAILABILITY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1D3003-C955-4B48-032D-37EF6DB94EB3}"/>
              </a:ext>
            </a:extLst>
          </p:cNvPr>
          <p:cNvSpPr txBox="1"/>
          <p:nvPr/>
        </p:nvSpPr>
        <p:spPr>
          <a:xfrm>
            <a:off x="13488146" y="9006969"/>
            <a:ext cx="78942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github.com</a:t>
            </a:r>
            <a:r>
              <a:rPr lang="ru-RU" sz="4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40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KateAndri</a:t>
            </a:r>
            <a:r>
              <a:rPr lang="ru-RU" sz="4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/StudyRepo26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CA1EC1-254D-F8AF-F006-1014C86AAA56}"/>
              </a:ext>
            </a:extLst>
          </p:cNvPr>
          <p:cNvSpPr txBox="1"/>
          <p:nvPr/>
        </p:nvSpPr>
        <p:spPr>
          <a:xfrm>
            <a:off x="6577164" y="11859364"/>
            <a:ext cx="121958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75"/>
              </a:spcBef>
              <a:spcAft>
                <a:spcPts val="1125"/>
              </a:spcAft>
              <a:buNone/>
            </a:pPr>
            <a:r>
              <a:rPr lang="ru-RU" sz="6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3138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1298</TotalTime>
  <Words>1053</Words>
  <Application>Microsoft Macintosh PowerPoint</Application>
  <PresentationFormat>Произвольный</PresentationFormat>
  <Paragraphs>252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Calibri</vt:lpstr>
      <vt:lpstr>Helvetica Neue</vt:lpstr>
      <vt:lpstr>Times New Roman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Андриянова Екатерина Вячеславовна</dc:creator>
  <cp:keywords/>
  <dc:description/>
  <cp:lastModifiedBy>илья карташов</cp:lastModifiedBy>
  <cp:revision>19</cp:revision>
  <dcterms:modified xsi:type="dcterms:W3CDTF">2026-06-04T11:02:57Z</dcterms:modified>
  <cp:category/>
</cp:coreProperties>
</file>