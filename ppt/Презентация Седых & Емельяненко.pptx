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24384000" cy="1371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екст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6" name="Google Shape;44;p5" descr="Google Shape;44;p5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" name="Google Shape;45;p5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1071360" y="4938120"/>
            <a:ext cx="9560160" cy="29509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071360" y="10647000"/>
            <a:ext cx="9560160" cy="791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071360" y="2793960"/>
            <a:ext cx="2008224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Outlin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Outli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Out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line 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</a:t>
            </a: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12190680" y="4925880"/>
            <a:ext cx="10973880" cy="3885480"/>
          </a:xfrm>
          <a:prstGeom prst="rect">
            <a:avLst/>
          </a:prstGeom>
          <a:noFill/>
          <a:ln w="12600">
            <a:noFill/>
          </a:ln>
        </p:spPr>
        <p:txBody>
          <a:bodyPr lIns="101520" rIns="101520" tIns="101520" bIns="1015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50;p5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" name="Google Shape;51;p5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" name="Google Shape;52;p5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5" name="Google Shape;53;p5" descr="Google Shape;53;p5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6" name="PlaceHolder 5"/>
          <p:cNvSpPr>
            <a:spLocks noGrp="1"/>
          </p:cNvSpPr>
          <p:nvPr>
            <p:ph type="sldNum" idx="1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График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8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9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0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1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22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3" name="Google Shape;56;p6" descr="Google Shape;56;p6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" name="Google Shape;57;p6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1026360" y="2970000"/>
            <a:ext cx="7119720" cy="21124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026360" y="6080760"/>
            <a:ext cx="7119720" cy="26204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071360" y="11527920"/>
            <a:ext cx="6537960" cy="10965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61;p6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" name="Google Shape;62;p6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" name="Google Shape;63;p6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1" name="Google Shape;64;p6" descr="Google Shape;64;p6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2" name="PlaceHolder 4"/>
          <p:cNvSpPr>
            <a:spLocks noGrp="1"/>
          </p:cNvSpPr>
          <p:nvPr>
            <p:ph type="sldNum" idx="2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График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4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5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6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7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8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9" name="Google Shape;67;p7" descr="Google Shape;67;p7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0" name="Google Shape;68;p7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2008224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071360" y="4887000"/>
            <a:ext cx="6960240" cy="46270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071360" y="11527920"/>
            <a:ext cx="6537960" cy="10965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72;p7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5" name="Google Shape;73;p7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6" name="Google Shape;74;p7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47" name="Google Shape;75;p7" descr="Google Shape;75;p7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8" name="PlaceHolder 4"/>
          <p:cNvSpPr>
            <a:spLocks noGrp="1"/>
          </p:cNvSpPr>
          <p:nvPr>
            <p:ph type="sldNum" idx="3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Цифр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0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1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4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5" name="Google Shape;78;p8"/>
          <p:cNvSpPr/>
          <p:nvPr/>
        </p:nvSpPr>
        <p:spPr>
          <a:xfrm>
            <a:off x="2028960" y="4568040"/>
            <a:ext cx="20325240" cy="3429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8600" strike="noStrike" u="none">
                <a:solidFill>
                  <a:srgbClr val="172c65"/>
                </a:solidFill>
                <a:effectLst/>
                <a:uFillTx/>
                <a:latin typeface="Arial"/>
                <a:ea typeface="Arial"/>
              </a:rPr>
              <a:t>Название презентации</a:t>
            </a:r>
            <a:br>
              <a:rPr sz="8600"/>
            </a:br>
            <a:r>
              <a:rPr b="0" lang="en-US" sz="8600" strike="noStrike" u="none">
                <a:solidFill>
                  <a:srgbClr val="172c65"/>
                </a:solidFill>
                <a:effectLst/>
                <a:uFillTx/>
                <a:latin typeface="Arial"/>
                <a:ea typeface="Arial"/>
              </a:rPr>
              <a:t>может быть набрано в две </a:t>
            </a:r>
            <a:br>
              <a:rPr sz="8600"/>
            </a:br>
            <a:r>
              <a:rPr b="0" lang="en-US" sz="8600" strike="noStrike" u="none">
                <a:solidFill>
                  <a:srgbClr val="172c65"/>
                </a:solidFill>
                <a:effectLst/>
                <a:uFillTx/>
                <a:latin typeface="Arial"/>
                <a:ea typeface="Arial"/>
              </a:rPr>
              <a:t>или три строки</a:t>
            </a:r>
            <a:endParaRPr b="0" lang="en-US" sz="8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9;p8"/>
          <p:cNvSpPr/>
          <p:nvPr/>
        </p:nvSpPr>
        <p:spPr>
          <a:xfrm>
            <a:off x="2028960" y="9794160"/>
            <a:ext cx="20325240" cy="576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Если нужно больше места, то используйте подзаголовок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80;p8" descr="Google Shape;80;p8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8" name="Google Shape;81;p8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6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1071360" y="4937040"/>
            <a:ext cx="5645520" cy="3103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135640" y="4937040"/>
            <a:ext cx="6312960" cy="3103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5110280" y="4937040"/>
            <a:ext cx="5645520" cy="3103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1071360" y="2793960"/>
            <a:ext cx="2008224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1071360" y="8351640"/>
            <a:ext cx="5433840" cy="1706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8135640" y="8351640"/>
            <a:ext cx="5433840" cy="1706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body"/>
          </p:nvPr>
        </p:nvSpPr>
        <p:spPr>
          <a:xfrm>
            <a:off x="15110280" y="8351640"/>
            <a:ext cx="5433840" cy="1706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8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7" name="Google Shape;90;p8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Google Shape;91;p8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69" name="Google Shape;92;p8" descr="Google Shape;92;p8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0" name="PlaceHolder 8"/>
          <p:cNvSpPr>
            <a:spLocks noGrp="1"/>
          </p:cNvSpPr>
          <p:nvPr>
            <p:ph type="sldNum" idx="4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аблица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2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3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4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5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76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77" name="Google Shape;95;p9" descr="Google Shape;95;p9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8" name="Google Shape;96;p9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15526800" cy="1147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071360" y="11162520"/>
            <a:ext cx="15526800" cy="10965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99;p9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" name="Google Shape;100;p9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" name="Google Shape;101;p9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84" name="Google Shape;102;p9" descr="Google Shape;102;p9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5" name="PlaceHolder 3"/>
          <p:cNvSpPr>
            <a:spLocks noGrp="1"/>
          </p:cNvSpPr>
          <p:nvPr>
            <p:ph type="sldNum" idx="5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аблица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7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8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9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91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92" name="Google Shape;105;p10" descr="Google Shape;105;p10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3" name="Google Shape;106;p10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15526800" cy="1147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7388720" y="4377600"/>
            <a:ext cx="5433840" cy="3230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Google Shape;109;p10" descr="Google Shape;109;p10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7" name="Google Shape;110;p10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8" name="Google Shape;111;p10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9" name="Google Shape;112;p10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6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График_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2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3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4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5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06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07" name="Google Shape;115;p11" descr="Google Shape;115;p11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8" name="Google Shape;116;p1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554256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1125720" y="4734360"/>
            <a:ext cx="5433840" cy="23158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1071360" y="11527920"/>
            <a:ext cx="6537960" cy="10965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20;p11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3" name="Google Shape;121;p11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" name="Google Shape;122;p11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15" name="Google Shape;123;p11" descr="Google Shape;123;p11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6" name="PlaceHolder 4"/>
          <p:cNvSpPr>
            <a:spLocks noGrp="1"/>
          </p:cNvSpPr>
          <p:nvPr>
            <p:ph type="sldNum" idx="7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Пусто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8" name="Google Shape;127;p12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9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0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1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22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sldNum" idx="8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6;p12" descr="Google Shape;126;p12"/>
          <p:cNvPicPr/>
          <p:nvPr/>
        </p:nvPicPr>
        <p:blipFill>
          <a:blip r:embed="rId3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5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6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7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29" name="Google Shape;131;p12" descr="Google Shape;131;p12"/>
          <p:cNvPicPr/>
          <p:nvPr/>
        </p:nvPicPr>
        <p:blipFill>
          <a:blip r:embed="rId4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30" name="Google Shape;16;p2" descr="Google Shape;16;p2"/>
          <p:cNvPicPr/>
          <p:nvPr/>
        </p:nvPicPr>
        <p:blipFill>
          <a:blip r:embed="rId5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1" name="Google Shape;17;p2"/>
          <p:cNvSpPr/>
          <p:nvPr/>
        </p:nvSpPr>
        <p:spPr>
          <a:xfrm>
            <a:off x="994320" y="1105560"/>
            <a:ext cx="22394880" cy="115045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3600" strike="noStrike" u="none">
              <a:solidFill>
                <a:srgbClr val="000000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32" name="Google Shape;18;p2" descr="Google Shape;18;p2"/>
          <p:cNvPicPr/>
          <p:nvPr/>
        </p:nvPicPr>
        <p:blipFill>
          <a:blip r:embed="rId6"/>
          <a:stretch/>
        </p:blipFill>
        <p:spPr>
          <a:xfrm>
            <a:off x="2148120" y="1924200"/>
            <a:ext cx="1531440" cy="1772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3" name="Google Shape;19;p2"/>
          <p:cNvSpPr/>
          <p:nvPr/>
        </p:nvSpPr>
        <p:spPr>
          <a:xfrm>
            <a:off x="12180240" y="1924200"/>
            <a:ext cx="360" cy="168048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" name="Google Shape;20;p2"/>
          <p:cNvSpPr/>
          <p:nvPr/>
        </p:nvSpPr>
        <p:spPr>
          <a:xfrm>
            <a:off x="17285040" y="1924200"/>
            <a:ext cx="360" cy="168048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5" name="Google Shape;21;p2"/>
          <p:cNvSpPr/>
          <p:nvPr/>
        </p:nvSpPr>
        <p:spPr>
          <a:xfrm>
            <a:off x="22357800" y="1924200"/>
            <a:ext cx="360" cy="168048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body"/>
          </p:nvPr>
        </p:nvSpPr>
        <p:spPr>
          <a:xfrm>
            <a:off x="4261320" y="2224080"/>
            <a:ext cx="7162200" cy="1407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12480120" y="2224080"/>
            <a:ext cx="4505040" cy="108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17592120" y="2224080"/>
            <a:ext cx="4505040" cy="108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2028960" y="4568040"/>
            <a:ext cx="20325240" cy="39621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/>
          </p:nvPr>
        </p:nvSpPr>
        <p:spPr>
          <a:xfrm>
            <a:off x="2028960" y="9494280"/>
            <a:ext cx="9995040" cy="17722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Google Shape;27;p2" descr="Google Shape;27;p2"/>
          <p:cNvPicPr/>
          <p:nvPr/>
        </p:nvPicPr>
        <p:blipFill>
          <a:blip r:embed="rId7">
            <a:alphaModFix amt="27000"/>
          </a:blip>
          <a:stretch/>
        </p:blipFill>
        <p:spPr>
          <a:xfrm>
            <a:off x="13288320" y="1662840"/>
            <a:ext cx="16545600" cy="177908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42" name="PlaceHolder 6"/>
          <p:cNvSpPr>
            <a:spLocks noGrp="1"/>
          </p:cNvSpPr>
          <p:nvPr>
            <p:ph type="sldNum" idx="9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7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екст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45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46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7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8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49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50" name="Google Shape;6;p1" descr="Google Shape;6;p1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51" name="Google Shape;7;p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1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2" name="Google Shape;8;p1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" name="Google Shape;9;p1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4" name="Google Shape;10;p1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55" name="Google Shape;11;p1" descr="Google Shape;11;p1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2008224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1125720" y="4725720"/>
            <a:ext cx="9072720" cy="3534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0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екст_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26;p12" descr="Google Shape;126;p12"/>
          <p:cNvPicPr/>
          <p:nvPr/>
        </p:nvPicPr>
        <p:blipFill>
          <a:blip r:embed="rId2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61" name="Google Shape;127;p12" hidden="1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2" name="Google Shape;128;p12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3" name="Google Shape;129;p12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4" name="Google Shape;130;p12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65" name="Google Shape;131;p12" descr="Google Shape;131;p12"/>
          <p:cNvPicPr/>
          <p:nvPr/>
        </p:nvPicPr>
        <p:blipFill>
          <a:blip r:embed="rId3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66" name="Google Shape;34;p4" descr="Google Shape;34;p4"/>
          <p:cNvPicPr/>
          <p:nvPr/>
        </p:nvPicPr>
        <p:blipFill>
          <a:blip r:embed="rId4"/>
          <a:srcRect l="0" t="3" r="0" b="3"/>
          <a:stretch/>
        </p:blipFill>
        <p:spPr>
          <a:xfrm>
            <a:off x="0" y="0"/>
            <a:ext cx="24383160" cy="13715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67" name="Google Shape;35;p4"/>
          <p:cNvSpPr/>
          <p:nvPr/>
        </p:nvSpPr>
        <p:spPr>
          <a:xfrm>
            <a:off x="265320" y="269640"/>
            <a:ext cx="23852520" cy="13204080"/>
          </a:xfrm>
          <a:prstGeom prst="rect">
            <a:avLst/>
          </a:prstGeom>
          <a:solidFill>
            <a:srgbClr val="ffffff"/>
          </a:solidFill>
          <a:ln w="0">
            <a:solidFill>
              <a:srgbClr val="32538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body"/>
          </p:nvPr>
        </p:nvSpPr>
        <p:spPr>
          <a:xfrm>
            <a:off x="1071360" y="2793960"/>
            <a:ext cx="20082240" cy="15818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572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1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2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3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8288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286000" indent="-343080" defTabSz="91440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Уровень текста 5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125720" y="4725720"/>
            <a:ext cx="22131720" cy="6564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38;p4"/>
          <p:cNvSpPr/>
          <p:nvPr/>
        </p:nvSpPr>
        <p:spPr>
          <a:xfrm>
            <a:off x="659736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1" name="Google Shape;39;p4"/>
          <p:cNvSpPr/>
          <p:nvPr/>
        </p:nvSpPr>
        <p:spPr>
          <a:xfrm>
            <a:off x="1219860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2" name="Google Shape;40;p4"/>
          <p:cNvSpPr/>
          <p:nvPr/>
        </p:nvSpPr>
        <p:spPr>
          <a:xfrm>
            <a:off x="23287680" y="928440"/>
            <a:ext cx="360" cy="1172520"/>
          </a:xfrm>
          <a:prstGeom prst="line">
            <a:avLst/>
          </a:prstGeom>
          <a:ln w="0">
            <a:solidFill>
              <a:srgbClr val="102d69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73" name="Google Shape;41;p4" descr="Google Shape;41;p4"/>
          <p:cNvPicPr/>
          <p:nvPr/>
        </p:nvPicPr>
        <p:blipFill>
          <a:blip r:embed="rId5"/>
          <a:stretch/>
        </p:blipFill>
        <p:spPr>
          <a:xfrm>
            <a:off x="1095120" y="1095120"/>
            <a:ext cx="774000" cy="895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74" name="PlaceHolder 3"/>
          <p:cNvSpPr>
            <a:spLocks noGrp="1"/>
          </p:cNvSpPr>
          <p:nvPr>
            <p:ph type="sldNum" idx="11"/>
          </p:nvPr>
        </p:nvSpPr>
        <p:spPr>
          <a:xfrm>
            <a:off x="22203000" y="12835800"/>
            <a:ext cx="503640" cy="483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4261320" y="2224080"/>
            <a:ext cx="7162200" cy="1407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 искусственного интеллекта в медицине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2480120" y="2224080"/>
            <a:ext cx="4726080" cy="108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52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17592120" y="2224080"/>
            <a:ext cx="4505040" cy="1080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72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Москва, 2026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2028960" y="5091480"/>
            <a:ext cx="14112360" cy="4435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Сравнение кастомного AutoML-подхода и готовых фреймворков</a:t>
            </a:r>
            <a:endParaRPr b="0" lang="en-US" sz="5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141;p13"/>
          <p:cNvSpPr/>
          <p:nvPr/>
        </p:nvSpPr>
        <p:spPr>
          <a:xfrm>
            <a:off x="2032920" y="8709840"/>
            <a:ext cx="12875760" cy="317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rmAutofit lnSpcReduction="9999"/>
          </a:bodyPr>
          <a:p>
            <a:pPr defTabSz="658440">
              <a:lnSpc>
                <a:spcPct val="142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Выполнил:</a:t>
            </a:r>
            <a:endParaRPr b="0" lang="en-US" sz="17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58440">
              <a:lnSpc>
                <a:spcPct val="142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студент гр. 737-01                                                                     ФИО Седых Арсений Сергеевич, Емельяненко Артем Юрьевич </a:t>
            </a:r>
            <a:endParaRPr b="0" lang="en-US" sz="17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58440">
              <a:lnSpc>
                <a:spcPct val="142000"/>
              </a:lnSpc>
              <a:tabLst>
                <a:tab algn="l" pos="0"/>
              </a:tabLst>
            </a:pPr>
            <a:endParaRPr b="0" lang="en-US" sz="7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58440">
              <a:lnSpc>
                <a:spcPct val="142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Руководитель:</a:t>
            </a:r>
            <a:endParaRPr b="0" lang="en-US" sz="17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58440">
              <a:lnSpc>
                <a:spcPct val="142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Андриков Д.А., Андриянова Е.В. </a:t>
            </a:r>
            <a:endParaRPr b="0" lang="en-US" sz="172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Введение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2415240" y="3399120"/>
            <a:ext cx="19553040" cy="8711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Постановка задачи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Перед нами стоит задача построить модель, которая по медицинским и демографическим признакам пациента предсказывает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наличие диабета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Как обычно решают такую задачу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Задача относится к бинарной классификации: модель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должна отнести пациента к одному из двух классов: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0 — диабета нет;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 — диабет есть.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В работе сравниваются два подхода: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кастомный sklearn-пайплайн с ручно заданными моделями и GridSearchCV;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готовые AutoML-фреймворки из подхода друга: H2O AutoML и FLAML AutoML.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Почему мы сделали свой пайплайн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AutoML удобен тем, что сам подбирает модель и гиперпараметры, но может работать дольше. Кастомный пайплайн прозрачнее: видно, какие модели проверялись и какие параметры были выбраны.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13258800" y="4428720"/>
            <a:ext cx="7982640" cy="471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Постановка задачи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1911960" y="4131000"/>
            <a:ext cx="8704800" cy="7731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Что нужно сделать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Нужно сравнить, какой подход лучше работает на одной и той же выборке: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кастомный подбор моделей через sklearn GridSearchCV;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готовые AutoML-фреймворки H2O и FLAML.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Для этого мы: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скачали Kaggle Diabetes Prediction Dataset;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уменьшили датасет до 10000 записей, чтобы не перегружать компьютер;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сохранили долю классов через стратифицированную выборку;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разделили данные на train/test в пропорции 80/20;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обучили модели на одинаковом train;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сравнили качество на одинаковом test.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Как оценивать решение…"/>
          <p:cNvSpPr/>
          <p:nvPr/>
        </p:nvSpPr>
        <p:spPr>
          <a:xfrm>
            <a:off x="13662720" y="4032360"/>
            <a:ext cx="8704800" cy="445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Как оценивать решение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Основная метрика — ROC-AUC, потому что классы несбалансированы: пациентов с диабетом только 8.5%. Дополнительно оцениваем F1, balanced accuracy, precision, recall и время обучения.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Научная гипотеза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AutoML может дать немного лучшее качество, но кастомный GridSearch должен быть значительно быстрее и проще для объяснения.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Обзор литературы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Ключевые опубликованные исследования…"/>
          <p:cNvSpPr/>
          <p:nvPr/>
        </p:nvSpPr>
        <p:spPr>
          <a:xfrm>
            <a:off x="1586520" y="3829320"/>
            <a:ext cx="21210480" cy="3257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Ключевые опубликованные исследования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Pedregosa et al., 2011 — Scikit-learn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 Machine Learning in Python. На этой библиотеке построен кастомный пайплайн.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Hutter, Kotthoff, Vanschoren, 2019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Automated Machine Learning: Methods, Systems, Challenges. Источник по идее AutoML.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H2O 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готовый AutoML-фреймворк, который автоматически обучает несколько моделей и ансамблей.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FLAML 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AutoML-библиотека, ориентированная на быстрый подбор моделей при ограниченном временном бюджете.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Kaggle Diabetes Prediction Dataset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табличный медицинский датасет с признаками `age`, `bmi`, `HbA1c_level`, `blood_glucose_level`, `hypertension`, `heart_disease`, `gender`,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Теория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Ключевые теоретические положения и методы…"/>
          <p:cNvSpPr/>
          <p:nvPr/>
        </p:nvSpPr>
        <p:spPr>
          <a:xfrm>
            <a:off x="2042640" y="3934080"/>
            <a:ext cx="20298240" cy="6626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Ключевые теоретические положения и методы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В основе работы лежит задача бинарной классификации: по признакам пациента нужно определить, есть ли у него диабет.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Для решения использовались: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EDA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разведочный анализ данных: размер выборки, баланс классов, пропуски, типы признаков.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Pipeline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единая цепочка предобработки и обучения модели.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One-hot encoding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преобразование категориальных признаков в числовой вид.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StandardScaler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масштабирование числовых признаков.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GridSearchCV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перебор гиперпараметров с кросс-валидацией.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cccccc"/>
              </a:buClr>
              <a:buFont typeface="TimesNewRomanPSMT"/>
              <a:buChar char="•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— автоматический подбор моделей и гиперпараметров.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Метрики: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ROC-AUC показывает, насколько хорошо модель ранжирует пациентов по риску диабета.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F1 балансирует precision и recall.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Balanced accuracy учитывает дисбаланс классов.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Recall показывает, какую долю пациентов с диабетом модель смогла найти.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16916400" y="6297840"/>
            <a:ext cx="6171840" cy="448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Алгоритм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Датасет…"/>
          <p:cNvSpPr/>
          <p:nvPr/>
        </p:nvSpPr>
        <p:spPr>
          <a:xfrm>
            <a:off x="990000" y="2876760"/>
            <a:ext cx="12454920" cy="9081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Датасет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Использован Kaggle Diabetes Prediction Dataset. Для эксперимента взята стратифицированная выборка на 10000 записей.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В данных: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10000 записей;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8 признаков;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0 пропусков;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47 полных дубликатов;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целевая переменная — `diabetes`;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a7a7a7"/>
              </a:buClr>
              <a:buFont typeface="TimesNewRomanPSMT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положительный класс — 850 пациентов, то есть 8.5% выборки.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Шаги обработки данных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Загрузили CSV-файл.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Выделили целевую переменную `diabetes`.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Разделили признаки на числовые и категориальные.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Для числовых признаков применили медианную импутацию и StandardScaler.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Для категориальных признаков применили заполнение самым частым значением и one-hot encoding.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Разделили данные на train/test 80/20 со стратификацией.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Обучили кастомные sklearn-модели через GridSearchCV.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Обучили AutoML-фреймворки H2O и FLAML с бюджетом 60 секунд.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buClr>
                <a:srgbClr val="000000"/>
              </a:buClr>
              <a:buFont typeface="TimesNewRomanPSMT"/>
              <a:buAutoNum type="arabicPeriod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Сравнили метрики на test.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13859280" y="2393280"/>
            <a:ext cx="8771760" cy="518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14401800" y="7574400"/>
            <a:ext cx="7772040" cy="565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Результаты работы модели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Результаты и оценка качества…"/>
          <p:cNvSpPr/>
          <p:nvPr/>
        </p:nvSpPr>
        <p:spPr>
          <a:xfrm>
            <a:off x="918720" y="3175200"/>
            <a:ext cx="22535280" cy="5958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Результаты и оценка качества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Лучшее качество по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ROC-AUC показал H2O 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,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но отрыв от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кастомного HistGradientBoosting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минимальный.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Ключевые результаты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H2O 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 ROC-AUC = 0.9831, F1 = 0.8173, fit time = 61.87 c.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FLAML 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 ROC-AUC = 0.9828, F1 = 0.8123, fit time = 60.06 c.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HistGradientBoosting GridSearch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 ROC-AUC = 0.9826, F1 = 0.8151,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fit time = 2.25 c.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RandomForest GridSearch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 ROC-AUC = 0.9823, recall = 0.8824.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Интерпретация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AutoML получил немного лучший ROC-AUC и F1, но кастомный HistGradientBoosting дал почти такое же качество примерно за 2 секунды.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2573000" y="3057120"/>
            <a:ext cx="10515240" cy="56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2"/>
          <a:stretch/>
        </p:blipFill>
        <p:spPr>
          <a:xfrm>
            <a:off x="3200400" y="9144000"/>
            <a:ext cx="15558120" cy="412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Выводы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Основные выводы…"/>
          <p:cNvSpPr/>
          <p:nvPr/>
        </p:nvSpPr>
        <p:spPr>
          <a:xfrm>
            <a:off x="963720" y="2921760"/>
            <a:ext cx="11151720" cy="9447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Основные выводы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По качеству победил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AutoML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лучший AutoML: H2O AutoML;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ROC-AUC = 0.9831;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F1 = 0.8173;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balanced accuracy = 0.8596.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Лучший кастомный вариант: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HistGradientBoosting GridSearch;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ROC-AUC = 0.9826;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F1 = 0.8151;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balanced accuracy = 0.8492.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Разница между подходами: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ROC-AUC: AutoML лучше всего на 0.05 процентных пункта;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F1: AutoML лучше на 0.22 процентных пункта;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время обучения: кастомный вариант быстрее примерно на 59.62 секунды.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2573000" y="3200400"/>
            <a:ext cx="10743840" cy="9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Итоговый вывод</a:t>
            </a: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AutoML дал немного лучшее качество, но преимущество оказалось очень маленьким. Кастомный GridSearch почти не уступил по метрикам и оказался намного быстрее. Поэтому для этой задачи кастомный пайплайн выглядит более практичным, если важны скорость, прозрачность и объяснимость.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6629400" y="6400800"/>
            <a:ext cx="7169040" cy="388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2"/>
          <a:stretch/>
        </p:blipFill>
        <p:spPr>
          <a:xfrm>
            <a:off x="13944600" y="6400800"/>
            <a:ext cx="8720280" cy="59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/>
          </p:nvPr>
        </p:nvSpPr>
        <p:spPr>
          <a:xfrm>
            <a:off x="12315240" y="1068840"/>
            <a:ext cx="10897200" cy="1407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91440" bIns="91440" anchor="t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100" strike="noStrike" u="none">
                <a:solidFill>
                  <a:srgbClr val="0e2d69"/>
                </a:solidFill>
                <a:effectLst/>
                <a:uFillTx/>
                <a:latin typeface="Arial"/>
                <a:ea typeface="Arial"/>
              </a:rPr>
              <a:t>Заключение</a:t>
            </a:r>
            <a:endParaRPr b="0" lang="en-US" sz="5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09;p21"/>
          <p:cNvSpPr/>
          <p:nvPr/>
        </p:nvSpPr>
        <p:spPr>
          <a:xfrm>
            <a:off x="1966680" y="994680"/>
            <a:ext cx="5287320" cy="86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Центр цифровой медицины и </a:t>
            </a:r>
            <a:br>
              <a:rPr sz="1800"/>
            </a:b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искусственного интеллекта в медицине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10;p21"/>
          <p:cNvSpPr/>
          <p:nvPr/>
        </p:nvSpPr>
        <p:spPr>
          <a:xfrm>
            <a:off x="6847920" y="994680"/>
            <a:ext cx="5287320" cy="1292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61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253a1"/>
                </a:solidFill>
                <a:effectLst/>
                <a:uFillTx/>
                <a:latin typeface="Arial"/>
                <a:ea typeface="Arial"/>
              </a:rPr>
              <a:t>Информационные системы и технологии (09.03.02)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"/>
          <p:cNvSpPr/>
          <p:nvPr/>
        </p:nvSpPr>
        <p:spPr>
          <a:xfrm>
            <a:off x="2632680" y="3992040"/>
            <a:ext cx="7960680" cy="911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b="0" lang="en-US" sz="6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2026-06-08T00:48:46Z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