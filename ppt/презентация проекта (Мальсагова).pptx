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68" r:id="rId3"/>
    <p:sldId id="272" r:id="rId4"/>
    <p:sldId id="271" r:id="rId5"/>
    <p:sldId id="273" r:id="rId6"/>
    <p:sldId id="274" r:id="rId7"/>
    <p:sldId id="275" r:id="rId8"/>
    <p:sldId id="276" r:id="rId9"/>
    <p:sldId id="270" r:id="rId10"/>
    <p:sldId id="277" r:id="rId11"/>
  </p:sldIdLst>
  <p:sldSz cx="24384000" cy="13716000"/>
  <p:notesSz cx="6858000" cy="9144000"/>
  <p:embeddedFontLst>
    <p:embeddedFont>
      <p:font typeface="Book Antiqua" panose="02040602050305030304" pitchFamily="18" charset="0"/>
      <p:regular r:id="rId13"/>
      <p:bold r:id="rId14"/>
      <p:italic r:id="rId15"/>
      <p:boldItalic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Helvetica Neue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08"/>
    <p:restoredTop sz="95080" autoAdjust="0"/>
  </p:normalViewPr>
  <p:slideViewPr>
    <p:cSldViewPr>
      <p:cViewPr varScale="1">
        <p:scale>
          <a:sx n="24" d="100"/>
          <a:sy n="24" d="100"/>
        </p:scale>
        <p:origin x="139" y="816"/>
      </p:cViewPr>
      <p:guideLst>
        <p:guide orient="horz" pos="4320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0918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6962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9264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2675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6959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5809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22652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321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Обложка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Изображение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994219" y="1105429"/>
            <a:ext cx="22395562" cy="11505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2" descr="сбор гум.помощи-0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48086" y="1924345"/>
            <a:ext cx="1532263" cy="1772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Google Shape;19;p2"/>
          <p:cNvCxnSpPr/>
          <p:nvPr/>
        </p:nvCxnSpPr>
        <p:spPr>
          <a:xfrm>
            <a:off x="12180424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0" name="Google Shape;20;p2"/>
          <p:cNvCxnSpPr/>
          <p:nvPr/>
        </p:nvCxnSpPr>
        <p:spPr>
          <a:xfrm>
            <a:off x="17285159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1" name="Google Shape;21;p2"/>
          <p:cNvCxnSpPr/>
          <p:nvPr/>
        </p:nvCxnSpPr>
        <p:spPr>
          <a:xfrm>
            <a:off x="22358092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2" name="Google Shape;22;p2"/>
          <p:cNvSpPr txBox="1">
            <a:spLocks noGrp="1"/>
          </p:cNvSpPr>
          <p:nvPr>
            <p:ph type="body" idx="1"/>
          </p:nvPr>
        </p:nvSpPr>
        <p:spPr>
          <a:xfrm>
            <a:off x="4261479" y="2224144"/>
            <a:ext cx="7162818" cy="1408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body" idx="2"/>
          </p:nvPr>
        </p:nvSpPr>
        <p:spPr>
          <a:xfrm>
            <a:off x="12479957" y="2224145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body" idx="3"/>
          </p:nvPr>
        </p:nvSpPr>
        <p:spPr>
          <a:xfrm>
            <a:off x="17592002" y="2224145"/>
            <a:ext cx="4505670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body" idx="4"/>
          </p:nvPr>
        </p:nvSpPr>
        <p:spPr>
          <a:xfrm>
            <a:off x="2029011" y="4568039"/>
            <a:ext cx="20325978" cy="396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5"/>
          </p:nvPr>
        </p:nvSpPr>
        <p:spPr>
          <a:xfrm>
            <a:off x="2029011" y="9494374"/>
            <a:ext cx="9995707" cy="17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7" name="Google Shape;27;p2" descr="Изображение"/>
          <p:cNvPicPr preferRelativeResize="0"/>
          <p:nvPr/>
        </p:nvPicPr>
        <p:blipFill rotWithShape="1">
          <a:blip r:embed="rId5">
            <a:alphaModFix amt="27474"/>
          </a:blip>
          <a:srcRect/>
          <a:stretch/>
        </p:blipFill>
        <p:spPr>
          <a:xfrm>
            <a:off x="13288396" y="1662907"/>
            <a:ext cx="16546249" cy="1779153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1">
  <p:cSld name="Текст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2"/>
          </p:nvPr>
        </p:nvSpPr>
        <p:spPr>
          <a:xfrm>
            <a:off x="1125837" y="4725596"/>
            <a:ext cx="9073420" cy="353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екст_3">
  <p:cSld name="Текст_3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2"/>
          </p:nvPr>
        </p:nvSpPr>
        <p:spPr>
          <a:xfrm>
            <a:off x="1125839" y="4725596"/>
            <a:ext cx="22132322" cy="6565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8" name="Google Shape;38;p4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9" name="Google Shape;39;p4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0" name="Google Shape;40;p4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41" name="Google Shape;41;p4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екст_2">
  <p:cSld name="Текст_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5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1"/>
          </p:nvPr>
        </p:nvSpPr>
        <p:spPr>
          <a:xfrm>
            <a:off x="1071388" y="4938019"/>
            <a:ext cx="9560764" cy="2951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2"/>
          </p:nvPr>
        </p:nvSpPr>
        <p:spPr>
          <a:xfrm>
            <a:off x="1071389" y="10647084"/>
            <a:ext cx="9560764" cy="7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body" idx="3"/>
          </p:nvPr>
        </p:nvSpPr>
        <p:spPr>
          <a:xfrm>
            <a:off x="1071391" y="2793806"/>
            <a:ext cx="20083100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body" idx="4"/>
          </p:nvPr>
        </p:nvSpPr>
        <p:spPr>
          <a:xfrm>
            <a:off x="12190716" y="4925943"/>
            <a:ext cx="10974722" cy="3886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101600" rIns="101600" bIns="1016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50" name="Google Shape;50;p5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1" name="Google Shape;51;p5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2" name="Google Shape;52;p5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53" name="Google Shape;53;p5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График_1">
  <p:cSld name="График_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6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 txBox="1">
            <a:spLocks noGrp="1"/>
          </p:cNvSpPr>
          <p:nvPr>
            <p:ph type="body" idx="1"/>
          </p:nvPr>
        </p:nvSpPr>
        <p:spPr>
          <a:xfrm>
            <a:off x="1026347" y="2970008"/>
            <a:ext cx="7120557" cy="211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body" idx="2"/>
          </p:nvPr>
        </p:nvSpPr>
        <p:spPr>
          <a:xfrm>
            <a:off x="1026347" y="6080647"/>
            <a:ext cx="7120557" cy="2621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body" idx="3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1" name="Google Shape;61;p6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2" name="Google Shape;62;p6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3" name="Google Shape;63;p6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64" name="Google Shape;64;p6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6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График_2">
  <p:cSld name="График_2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7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body" idx="2"/>
          </p:nvPr>
        </p:nvSpPr>
        <p:spPr>
          <a:xfrm>
            <a:off x="1071389" y="4886926"/>
            <a:ext cx="6960890" cy="462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body" idx="3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2" name="Google Shape;72;p7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3" name="Google Shape;73;p7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4" name="Google Shape;74;p7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75" name="Google Shape;75;p7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Цифры">
  <p:cSld name="Цифры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 txBox="1"/>
          <p:nvPr/>
        </p:nvSpPr>
        <p:spPr>
          <a:xfrm>
            <a:off x="2029012" y="4568039"/>
            <a:ext cx="20325977" cy="401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C65"/>
              </a:buClr>
              <a:buSzPts val="8600"/>
              <a:buFont typeface="Arial"/>
              <a:buNone/>
            </a:pPr>
            <a: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  <a:t>Название презентации</a:t>
            </a:r>
            <a:b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  <a:t>может быть набрано в две </a:t>
            </a:r>
            <a:b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  <a:t>или три строки</a:t>
            </a:r>
            <a:endParaRPr/>
          </a:p>
        </p:txBody>
      </p:sp>
      <p:sp>
        <p:nvSpPr>
          <p:cNvPr id="79" name="Google Shape;79;p8"/>
          <p:cNvSpPr txBox="1"/>
          <p:nvPr/>
        </p:nvSpPr>
        <p:spPr>
          <a:xfrm>
            <a:off x="2029012" y="9794174"/>
            <a:ext cx="20325977" cy="66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Если нужно больше места, то используйте подзаголовок</a:t>
            </a:r>
            <a:endParaRPr/>
          </a:p>
        </p:txBody>
      </p:sp>
      <p:pic>
        <p:nvPicPr>
          <p:cNvPr id="80" name="Google Shape;80;p8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8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endParaRPr sz="3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 txBox="1">
            <a:spLocks noGrp="1"/>
          </p:cNvSpPr>
          <p:nvPr>
            <p:ph type="body" idx="1"/>
          </p:nvPr>
        </p:nvSpPr>
        <p:spPr>
          <a:xfrm>
            <a:off x="1071390" y="4937092"/>
            <a:ext cx="5646296" cy="310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"/>
          <p:cNvSpPr txBox="1">
            <a:spLocks noGrp="1"/>
          </p:cNvSpPr>
          <p:nvPr>
            <p:ph type="body" idx="2"/>
          </p:nvPr>
        </p:nvSpPr>
        <p:spPr>
          <a:xfrm>
            <a:off x="8135580" y="4937092"/>
            <a:ext cx="6313734" cy="310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8"/>
          <p:cNvSpPr txBox="1">
            <a:spLocks noGrp="1"/>
          </p:cNvSpPr>
          <p:nvPr>
            <p:ph type="body" idx="3"/>
          </p:nvPr>
        </p:nvSpPr>
        <p:spPr>
          <a:xfrm>
            <a:off x="15110121" y="4937092"/>
            <a:ext cx="5646294" cy="310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8"/>
          <p:cNvSpPr txBox="1">
            <a:spLocks noGrp="1"/>
          </p:cNvSpPr>
          <p:nvPr>
            <p:ph type="body" idx="4"/>
          </p:nvPr>
        </p:nvSpPr>
        <p:spPr>
          <a:xfrm>
            <a:off x="1071391" y="2793806"/>
            <a:ext cx="20083100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body" idx="5"/>
          </p:nvPr>
        </p:nvSpPr>
        <p:spPr>
          <a:xfrm>
            <a:off x="1071391" y="8351777"/>
            <a:ext cx="5434543" cy="17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8"/>
          <p:cNvSpPr txBox="1">
            <a:spLocks noGrp="1"/>
          </p:cNvSpPr>
          <p:nvPr>
            <p:ph type="body" idx="6"/>
          </p:nvPr>
        </p:nvSpPr>
        <p:spPr>
          <a:xfrm>
            <a:off x="8135580" y="8351777"/>
            <a:ext cx="5434542" cy="17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8"/>
          <p:cNvSpPr txBox="1">
            <a:spLocks noGrp="1"/>
          </p:cNvSpPr>
          <p:nvPr>
            <p:ph type="body" idx="7"/>
          </p:nvPr>
        </p:nvSpPr>
        <p:spPr>
          <a:xfrm>
            <a:off x="15110121" y="8351777"/>
            <a:ext cx="5434542" cy="17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89" name="Google Shape;89;p8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0" name="Google Shape;90;p8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1" name="Google Shape;91;p8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92" name="Google Shape;92;p8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аблица_1">
  <p:cSld name="Таблица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15527372" cy="114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body" idx="2"/>
          </p:nvPr>
        </p:nvSpPr>
        <p:spPr>
          <a:xfrm>
            <a:off x="1071388" y="11162430"/>
            <a:ext cx="15527375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99" name="Google Shape;99;p9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0" name="Google Shape;100;p9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1" name="Google Shape;101;p9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02" name="Google Shape;102;p9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9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аблица_2">
  <p:cSld name="Таблица_2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0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0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15527372" cy="114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body" idx="2"/>
          </p:nvPr>
        </p:nvSpPr>
        <p:spPr>
          <a:xfrm>
            <a:off x="17388763" y="4377478"/>
            <a:ext cx="5434542" cy="323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09" name="Google Shape;109;p10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10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1" name="Google Shape;111;p10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2" name="Google Shape;112;p10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3" name="Google Shape;113;p10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устой">
  <p:cSld name="Пустой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2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2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2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9" name="Google Shape;129;p12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0" name="Google Shape;130;p12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31" name="Google Shape;131;p12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2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сбор гум.помощи-06.png"/>
          <p:cNvPicPr preferRelativeResize="0"/>
          <p:nvPr/>
        </p:nvPicPr>
        <p:blipFill rotWithShape="1">
          <a:blip r:embed="rId1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" name="Google Shape;8;p1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" name="Google Shape;9;p1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" name="Google Shape;10;p1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1" name="Google Shape;11;p1" descr="сбор гум.помощи-05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title"/>
          </p:nvPr>
        </p:nvSpPr>
        <p:spPr>
          <a:xfrm>
            <a:off x="3653366" y="2743200"/>
            <a:ext cx="19507201" cy="93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"/>
          <p:cNvSpPr txBox="1">
            <a:spLocks noGrp="1"/>
          </p:cNvSpPr>
          <p:nvPr>
            <p:ph type="body" idx="1"/>
          </p:nvPr>
        </p:nvSpPr>
        <p:spPr>
          <a:xfrm>
            <a:off x="4261479" y="2224144"/>
            <a:ext cx="7162800" cy="14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</a:t>
            </a:r>
          </a:p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 искусственного интеллекта в медицине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3"/>
          <p:cNvSpPr txBox="1">
            <a:spLocks noGrp="1"/>
          </p:cNvSpPr>
          <p:nvPr>
            <p:ph type="body" idx="2"/>
          </p:nvPr>
        </p:nvSpPr>
        <p:spPr>
          <a:xfrm>
            <a:off x="12479950" y="2224150"/>
            <a:ext cx="4726800" cy="10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2413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1305"/>
              <a:buFont typeface="Helvetica Neue"/>
              <a:buNone/>
            </a:pP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Информационные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системы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технологии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(09.03.02)</a:t>
            </a:r>
            <a:endParaRPr sz="2400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3"/>
          <p:cNvSpPr txBox="1">
            <a:spLocks noGrp="1"/>
          </p:cNvSpPr>
          <p:nvPr>
            <p:ph type="body" idx="3"/>
          </p:nvPr>
        </p:nvSpPr>
        <p:spPr>
          <a:xfrm>
            <a:off x="17592002" y="2224145"/>
            <a:ext cx="4505670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72413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2088"/>
              <a:buFont typeface="Helvetica Neue"/>
              <a:buNone/>
            </a:pP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Москва</a:t>
            </a: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4"/>
          </p:nvPr>
        </p:nvSpPr>
        <p:spPr>
          <a:xfrm>
            <a:off x="2028999" y="5091525"/>
            <a:ext cx="14113200" cy="44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9870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5968"/>
              <a:buFont typeface="Helvetica Neue"/>
              <a:buNone/>
            </a:pPr>
            <a:r>
              <a:rPr lang="ru-RU" sz="51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Прогностическая модель необоснованных вызовов СМП у пожилых пациентов</a:t>
            </a: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5"/>
          </p:nvPr>
        </p:nvSpPr>
        <p:spPr>
          <a:xfrm>
            <a:off x="2032925" y="8709974"/>
            <a:ext cx="12876600" cy="4124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Выполнила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lang="ru-RU"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-RU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Мальсагова Танзила Ахмедовна</a:t>
            </a: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студент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гр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ru-RU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737-01</a:t>
            </a: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Руководитель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Андриков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Д.А.</a:t>
            </a:r>
            <a:r>
              <a:rPr lang="ru-RU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, Андриянова Е.В. </a:t>
            </a: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ct val="100000"/>
              <a:buFont typeface="Helvetica Neue"/>
              <a:buNone/>
            </a:pPr>
            <a:endParaRPr sz="3200" dirty="0">
              <a:solidFill>
                <a:srgbClr val="2253A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Введение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1170925" y="2200000"/>
            <a:ext cx="21416158" cy="10847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3600" b="1" dirty="0">
                <a:solidFill>
                  <a:srgbClr val="0E2D69"/>
                </a:solidFill>
                <a:latin typeface="Arial"/>
              </a:rPr>
              <a:t>Проблема: до 40% вызовов СМП к пожилым (65+) завершаются без госпитализации — так называемые «необоснованные вызовы».</a:t>
            </a:r>
          </a:p>
          <a:p>
            <a:pPr mar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3600" b="1" dirty="0">
                <a:solidFill>
                  <a:srgbClr val="0E2D69"/>
                </a:solidFill>
                <a:latin typeface="Arial"/>
              </a:rPr>
              <a:t>Причины необоснованных вызовов: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600" dirty="0">
                <a:solidFill>
                  <a:srgbClr val="333333"/>
                </a:solidFill>
                <a:latin typeface="Arial"/>
              </a:rPr>
              <a:t>Полисенсорный дефицит и когнитивные нарушения: пациент не всегда способен различить гипертонический криз и транзиторное повышение давления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600" dirty="0">
                <a:solidFill>
                  <a:srgbClr val="333333"/>
                </a:solidFill>
                <a:latin typeface="Arial"/>
              </a:rPr>
              <a:t>Высокая тревожность и социальная изоляция: соматизация психологического дискомфорта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600" dirty="0">
                <a:solidFill>
                  <a:srgbClr val="333333"/>
                </a:solidFill>
                <a:latin typeface="Arial"/>
              </a:rPr>
              <a:t>Отсутствие объективных данных на этапе принятия решения о вызове</a:t>
            </a:r>
          </a:p>
          <a:p>
            <a:pPr mar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3600" b="1" dirty="0">
                <a:solidFill>
                  <a:srgbClr val="0E2D69"/>
                </a:solidFill>
                <a:latin typeface="Arial"/>
              </a:rPr>
              <a:t>Последствия: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600" dirty="0">
                <a:solidFill>
                  <a:srgbClr val="333333"/>
                </a:solidFill>
                <a:latin typeface="Arial"/>
              </a:rPr>
              <a:t>Увеличение времени доезда до экстренных пациентов (ОИМ, ОНМК, травмы)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600" dirty="0">
                <a:solidFill>
                  <a:srgbClr val="333333"/>
                </a:solidFill>
                <a:latin typeface="Arial"/>
              </a:rPr>
              <a:t>Профессиональное выгорание персонала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600" dirty="0">
                <a:solidFill>
                  <a:srgbClr val="333333"/>
                </a:solidFill>
              </a:rPr>
              <a:t>Н</a:t>
            </a:r>
            <a:r>
              <a:rPr lang="ru-RU" sz="3600" dirty="0">
                <a:solidFill>
                  <a:srgbClr val="333333"/>
                </a:solidFill>
                <a:latin typeface="Arial"/>
              </a:rPr>
              <a:t>еэффективный расход средств ОМС</a:t>
            </a:r>
          </a:p>
          <a:p>
            <a:pPr mar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3600" b="1" dirty="0">
                <a:solidFill>
                  <a:srgbClr val="0E2D69"/>
                </a:solidFill>
                <a:latin typeface="Arial"/>
              </a:rPr>
              <a:t>Существующие подходы и их ограничения: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600" dirty="0">
                <a:solidFill>
                  <a:srgbClr val="333333"/>
                </a:solidFill>
                <a:latin typeface="Arial"/>
              </a:rPr>
              <a:t>Телефонная сортировка (Emergency Severity Index) — субъективность ответов пациента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600" dirty="0">
                <a:solidFill>
                  <a:srgbClr val="333333"/>
                </a:solidFill>
                <a:latin typeface="Arial"/>
              </a:rPr>
              <a:t>Телемедицинские консультации — высокая стоимость, зависимость от доступности врача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600" dirty="0">
                <a:solidFill>
                  <a:srgbClr val="333333"/>
                </a:solidFill>
                <a:latin typeface="Arial"/>
              </a:rPr>
              <a:t>Мобильные симптом-чекеры (Ada, Babylon) — точность 34–72%, нет интеграции с физиологическими данными</a:t>
            </a:r>
          </a:p>
        </p:txBody>
      </p:sp>
    </p:spTree>
    <p:extLst>
      <p:ext uri="{BB962C8B-B14F-4D97-AF65-F5344CB8AC3E}">
        <p14:creationId xmlns:p14="http://schemas.microsoft.com/office/powerpoint/2010/main" val="971312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Постановка задачи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1189593" y="2651062"/>
            <a:ext cx="21892864" cy="10158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3600" b="1" dirty="0">
                <a:solidFill>
                  <a:srgbClr val="0E2D69"/>
                </a:solidFill>
                <a:latin typeface="Arial"/>
              </a:rPr>
              <a:t>Цель: разработать прогностическую модель ML для классификации вызова СМП от пожилых пациентов как обоснованного или необоснованного.</a:t>
            </a:r>
          </a:p>
          <a:p>
            <a:pPr mar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3600" b="1" dirty="0">
                <a:solidFill>
                  <a:srgbClr val="0E2D69"/>
                </a:solidFill>
                <a:latin typeface="Arial"/>
              </a:rPr>
              <a:t>Входные данные (доступны в домашних условиях):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600" dirty="0">
                <a:solidFill>
                  <a:srgbClr val="333333"/>
                </a:solidFill>
                <a:latin typeface="Arial"/>
              </a:rPr>
              <a:t>Физиологические: ЧСС, вариабельность сердечного ритма (SDNN), АД (систолическое/диастолическое), сатурация SpO2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600" dirty="0">
                <a:solidFill>
                  <a:srgbClr val="333333"/>
                </a:solidFill>
                <a:latin typeface="Arial"/>
              </a:rPr>
              <a:t>Демографические: возраст, пол, индекс коморбидности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600" dirty="0">
                <a:solidFill>
                  <a:srgbClr val="333333"/>
                </a:solidFill>
                <a:latin typeface="Arial"/>
              </a:rPr>
              <a:t>Психологические: баллы тревожности GAD-2, интенсивность симптома (1–10)</a:t>
            </a:r>
          </a:p>
          <a:p>
            <a:pPr mar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3600" b="1" dirty="0">
                <a:solidFill>
                  <a:srgbClr val="0E2D69"/>
                </a:solidFill>
                <a:latin typeface="Arial"/>
              </a:rPr>
              <a:t>Научная гипотеза: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600" dirty="0">
                <a:solidFill>
                  <a:srgbClr val="333333"/>
                </a:solidFill>
                <a:latin typeface="Arial"/>
              </a:rPr>
              <a:t>Комбинация физиологических параметров и тревожности позволит классифицировать необоснованные вызовы с AUC-ROC ≥ 0,75 при Recall ≥ 0,95 по классу «обоснованный вызов»</a:t>
            </a:r>
          </a:p>
          <a:p>
            <a:pPr mar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3600" b="1" dirty="0">
                <a:solidFill>
                  <a:srgbClr val="0E2D69"/>
                </a:solidFill>
                <a:latin typeface="Arial"/>
              </a:rPr>
              <a:t>Критерии успеха: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600" dirty="0">
                <a:solidFill>
                  <a:srgbClr val="333333"/>
                </a:solidFill>
                <a:latin typeface="Arial"/>
              </a:rPr>
              <a:t>AUC-ROC ≥ 0,75 на тестовой выборке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600" dirty="0">
                <a:solidFill>
                  <a:srgbClr val="333333"/>
                </a:solidFill>
                <a:latin typeface="Arial"/>
              </a:rPr>
              <a:t>Recall ≥ 0,95 по классу «обоснованный вызов»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600" dirty="0">
                <a:solidFill>
                  <a:srgbClr val="333333"/>
                </a:solidFill>
                <a:latin typeface="Arial"/>
              </a:rPr>
              <a:t>Стандартное отклонение AUC при кросс-валидации ≤ 0,05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600" dirty="0">
                <a:solidFill>
                  <a:srgbClr val="333333"/>
                </a:solidFill>
                <a:latin typeface="Arial"/>
              </a:rPr>
              <a:t>Физиологические параметры и тревожность вносят значимый вклад в качество предсказания</a:t>
            </a:r>
          </a:p>
        </p:txBody>
      </p:sp>
    </p:spTree>
    <p:extLst>
      <p:ext uri="{BB962C8B-B14F-4D97-AF65-F5344CB8AC3E}">
        <p14:creationId xmlns:p14="http://schemas.microsoft.com/office/powerpoint/2010/main" val="1983919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Обзор литературы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792839" y="2309710"/>
            <a:ext cx="22686371" cy="10693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3600" b="1" dirty="0">
                <a:solidFill>
                  <a:srgbClr val="0E2D69"/>
                </a:solidFill>
                <a:latin typeface="Arial"/>
              </a:rPr>
              <a:t>Отечественные исследования: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600" dirty="0">
                <a:solidFill>
                  <a:srgbClr val="333333"/>
                </a:solidFill>
                <a:latin typeface="Arial"/>
              </a:rPr>
              <a:t>Багненко С.Ф. (2021): 42% вызовов СМП завершаются без госпитализации; в группе 70+ — до 48%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600" dirty="0">
                <a:solidFill>
                  <a:srgbClr val="333333"/>
                </a:solidFill>
                <a:latin typeface="Arial"/>
              </a:rPr>
              <a:t>Плахотин А.В. (2023): 28,7% поводов — «повышение АД» без гипертонического криза; 15,3% — «общая слабость»; более 50% потенциально могли быть обслужены амбулаторно</a:t>
            </a:r>
          </a:p>
          <a:p>
            <a:pPr mar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3600" b="1" dirty="0">
                <a:solidFill>
                  <a:srgbClr val="0E2D69"/>
                </a:solidFill>
                <a:latin typeface="Arial"/>
              </a:rPr>
              <a:t>Зарубежные исследования: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600" dirty="0">
                <a:solidFill>
                  <a:srgbClr val="333333"/>
                </a:solidFill>
                <a:latin typeface="Arial"/>
              </a:rPr>
              <a:t>Booker M.J. (2024, EMJ): мета-анализ 47 исследований — средняя доля нетребующих экстренного реагирования вызовов 37% (95% ДИ: 31–43%)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600" dirty="0">
                <a:solidFill>
                  <a:srgbClr val="333333"/>
                </a:solidFill>
                <a:latin typeface="Arial"/>
              </a:rPr>
              <a:t>Agarwal S. (2021): наличие тревожности/депрессии повышает риск повторного необоснованного вызова в 2,4 раза</a:t>
            </a:r>
          </a:p>
          <a:p>
            <a:pPr mar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3600" b="1" dirty="0">
                <a:solidFill>
                  <a:srgbClr val="0E2D69"/>
                </a:solidFill>
                <a:latin typeface="Arial"/>
              </a:rPr>
              <a:t>Предиктивная аналитика и носимые устройства: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600" dirty="0">
                <a:solidFill>
                  <a:srgbClr val="333333"/>
                </a:solidFill>
                <a:latin typeface="Arial"/>
              </a:rPr>
              <a:t>Shcherbina A. (2022): данные с фитнес-браслета + ML выявляют инфекционные заболевания за 24–48 ч до симптомов, AUC=0,82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600" dirty="0">
                <a:solidFill>
                  <a:srgbClr val="333333"/>
                </a:solidFill>
                <a:latin typeface="Arial"/>
              </a:rPr>
              <a:t>Li X. (2021): Random Forest на данных умных часов предсказывает экстренное обращение с AUC=0,71 — ближайший аналог данной работы</a:t>
            </a:r>
          </a:p>
          <a:p>
            <a:pPr mar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3600" b="1" dirty="0">
                <a:solidFill>
                  <a:srgbClr val="4472C4"/>
                </a:solidFill>
                <a:latin typeface="Arial"/>
              </a:rPr>
              <a:t>Пробел в литературе: нет работ, объединяющих физиологические данные и психологический статус в одной модели для мобильного 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3582614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Теория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1441730" y="2625125"/>
            <a:ext cx="21500539" cy="9798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4000" b="1" dirty="0">
                <a:solidFill>
                  <a:srgbClr val="0E2D69"/>
                </a:solidFill>
                <a:latin typeface="Arial"/>
              </a:rPr>
              <a:t>EDA (Exploratory Data Analysis):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4000" dirty="0">
                <a:solidFill>
                  <a:srgbClr val="333333"/>
                </a:solidFill>
                <a:latin typeface="Arial"/>
              </a:rPr>
              <a:t>Анализ распределений признаков, выявление выбросов, оценка дисбаланса классов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4000" dirty="0">
                <a:solidFill>
                  <a:srgbClr val="333333"/>
                </a:solidFill>
                <a:latin typeface="Arial"/>
              </a:rPr>
              <a:t>Матрица корреляций Пирсона для выявления мультиколлинеарности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4000" dirty="0">
                <a:solidFill>
                  <a:srgbClr val="333333"/>
                </a:solidFill>
                <a:latin typeface="Arial"/>
              </a:rPr>
              <a:t>Визуализация через PCA и t-SNE для оценки разделимости классов</a:t>
            </a:r>
          </a:p>
          <a:p>
            <a:pPr mar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4000" b="1" dirty="0">
                <a:solidFill>
                  <a:srgbClr val="0E2D69"/>
                </a:solidFill>
                <a:latin typeface="Arial"/>
              </a:rPr>
              <a:t>Методы классификации: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4000" dirty="0">
                <a:solidFill>
                  <a:srgbClr val="333333"/>
                </a:solidFill>
                <a:latin typeface="Arial"/>
              </a:rPr>
              <a:t>Logistic Regression — базовая линейная модель (baseline)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4000" dirty="0">
                <a:solidFill>
                  <a:srgbClr val="333333"/>
                </a:solidFill>
                <a:latin typeface="Arial"/>
              </a:rPr>
              <a:t>SVM (RBF) — метод опорных векторов с радиально-базисным ядром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4000" dirty="0">
                <a:solidFill>
                  <a:srgbClr val="333333"/>
                </a:solidFill>
                <a:latin typeface="Arial"/>
              </a:rPr>
              <a:t>Random Forest — 300 деревьев; устойчив к выбросам, выдаёт Feature Importance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4000" dirty="0">
                <a:solidFill>
                  <a:srgbClr val="333333"/>
                </a:solidFill>
                <a:latin typeface="Arial"/>
              </a:rPr>
              <a:t>Gradient Boosting (XGBoost) — основная модель; сильно на табличных данных с нелинейными взаимодействиями</a:t>
            </a:r>
          </a:p>
          <a:p>
            <a:pPr mar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4000" b="1" dirty="0">
                <a:solidFill>
                  <a:srgbClr val="0E2D69"/>
                </a:solidFill>
                <a:latin typeface="Arial"/>
              </a:rPr>
              <a:t>Обработка дисбаланса классов: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4000" dirty="0">
                <a:solidFill>
                  <a:srgbClr val="333333"/>
                </a:solidFill>
                <a:latin typeface="Arial"/>
              </a:rPr>
              <a:t>SMOTE (Synthetic Minority Over-sampling) и взвешивание классов при обучении</a:t>
            </a:r>
          </a:p>
          <a:p>
            <a:pPr mar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4000" b="1" dirty="0">
                <a:solidFill>
                  <a:srgbClr val="0E2D69"/>
                </a:solidFill>
                <a:latin typeface="Arial"/>
              </a:rPr>
              <a:t>Метрики оценки: AUC-ROC, Precision, Recall, F1-мера, 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990443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Алгоритм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598712" y="2385587"/>
            <a:ext cx="9688213" cy="10648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3200" b="1" dirty="0">
                <a:solidFill>
                  <a:srgbClr val="0E2D69"/>
                </a:solidFill>
                <a:latin typeface="Arial"/>
              </a:rPr>
              <a:t>Датасет: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200" dirty="0">
                <a:solidFill>
                  <a:srgbClr val="333333"/>
                </a:solidFill>
                <a:latin typeface="Arial"/>
              </a:rPr>
              <a:t>10 000 синтетических записей вызовов СМП к пациентам 65+ лет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200" dirty="0">
                <a:solidFill>
                  <a:srgbClr val="333333"/>
                </a:solidFill>
                <a:latin typeface="Arial"/>
              </a:rPr>
              <a:t>Признаки: возраст, ЧСС, АД (сист./диаст.), ВСР (SDNN), SpO2, тревожность (GAD-2), интенсивность симптома, индекс коморбидности, пол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200" dirty="0">
                <a:solidFill>
                  <a:srgbClr val="333333"/>
                </a:solidFill>
                <a:latin typeface="Arial"/>
              </a:rPr>
              <a:t>Целевая переменная: 0 — необоснованный вызов, 1 — обоснованный вызов</a:t>
            </a:r>
          </a:p>
          <a:p>
            <a:pPr mar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3200" b="1" dirty="0">
                <a:solidFill>
                  <a:srgbClr val="0E2D69"/>
                </a:solidFill>
                <a:latin typeface="Arial"/>
              </a:rPr>
              <a:t>Предобработка: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200" dirty="0">
                <a:solidFill>
                  <a:srgbClr val="333333"/>
                </a:solidFill>
                <a:latin typeface="Arial"/>
              </a:rPr>
              <a:t>Стратифицированное разбиение 80% / 20% (train/test)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200" dirty="0">
                <a:solidFill>
                  <a:srgbClr val="333333"/>
                </a:solidFill>
                <a:latin typeface="Arial"/>
              </a:rPr>
              <a:t>StandardScaler для нормировки числовых признаков (обязателен для LR и SVM)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200" dirty="0">
                <a:solidFill>
                  <a:srgbClr val="333333"/>
                </a:solidFill>
                <a:latin typeface="Arial"/>
              </a:rPr>
              <a:t>Проверка корреляций: пары с |r| &gt; 0,7 потенциально избыточны</a:t>
            </a:r>
          </a:p>
          <a:p>
            <a:pPr mar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3200" b="1" dirty="0">
                <a:solidFill>
                  <a:srgbClr val="4472C4"/>
                </a:solidFill>
                <a:latin typeface="Arial"/>
              </a:rPr>
              <a:t>EDA: распределение классов и корреляционная матрица →</a:t>
            </a:r>
          </a:p>
        </p:txBody>
      </p:sp>
      <p:pic>
        <p:nvPicPr>
          <p:cNvPr id="601" name="Chart6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0000" y="2385587"/>
            <a:ext cx="10500000" cy="5414413"/>
          </a:xfrm>
          <a:prstGeom prst="rect">
            <a:avLst/>
          </a:prstGeom>
        </p:spPr>
      </p:pic>
      <p:pic>
        <p:nvPicPr>
          <p:cNvPr id="602" name="Chart6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0000" y="7485587"/>
            <a:ext cx="11314064" cy="583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194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Результаты работы модели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814736" y="2485590"/>
            <a:ext cx="9696283" cy="5151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2800" b="1" dirty="0">
                <a:solidFill>
                  <a:srgbClr val="0E2D69"/>
                </a:solidFill>
                <a:latin typeface="Arial"/>
              </a:rPr>
              <a:t>Результаты по моделям (тестовая выборка 20%):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2600" dirty="0">
                <a:solidFill>
                  <a:srgbClr val="2253A1"/>
                </a:solidFill>
                <a:latin typeface="Arial"/>
              </a:rPr>
              <a:t>Random Forest: AUC=0,802 — лучшая модель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2600" dirty="0">
                <a:solidFill>
                  <a:srgbClr val="2253A1"/>
                </a:solidFill>
                <a:latin typeface="Arial"/>
              </a:rPr>
              <a:t>Gradient Boosting: AUC=0,801 — сопоставимо с RF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2600" dirty="0">
                <a:solidFill>
                  <a:srgbClr val="333333"/>
                </a:solidFill>
                <a:latin typeface="Arial"/>
              </a:rPr>
              <a:t>SVM (RBF): AUC=0,791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2600" dirty="0">
                <a:solidFill>
                  <a:srgbClr val="333333"/>
                </a:solidFill>
                <a:latin typeface="Arial"/>
              </a:rPr>
              <a:t>Logistic Regression: AUC=0,766 (базовая линия)</a:t>
            </a:r>
          </a:p>
          <a:p>
            <a:pPr mar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2800" b="1" dirty="0">
                <a:solidFill>
                  <a:srgbClr val="4472C4"/>
                </a:solidFill>
                <a:latin typeface="Arial"/>
              </a:rPr>
              <a:t>Гипотеза ПОДТВЕРЖДЕНА: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2600" dirty="0">
                <a:solidFill>
                  <a:srgbClr val="333333"/>
                </a:solidFill>
                <a:latin typeface="Arial"/>
              </a:rPr>
              <a:t>AUC ≥ 0,75 достигнут всеми моделями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2600" dirty="0">
                <a:solidFill>
                  <a:srgbClr val="333333"/>
                </a:solidFill>
                <a:latin typeface="Arial"/>
              </a:rPr>
              <a:t>Random Forest и GB достигли AUC &gt; 0,80 (хорошее качество по C-статистике)</a:t>
            </a:r>
          </a:p>
          <a:p>
            <a:pPr mar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2700" b="1" dirty="0">
                <a:solidFill>
                  <a:srgbClr val="333333"/>
                </a:solidFill>
                <a:latin typeface="Arial"/>
              </a:rPr>
              <a:t>Графики → ROC-кривые и матрица ошибок</a:t>
            </a:r>
          </a:p>
        </p:txBody>
      </p:sp>
      <p:pic>
        <p:nvPicPr>
          <p:cNvPr id="701" name="Chart7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035" y="2026741"/>
            <a:ext cx="13570276" cy="9439772"/>
          </a:xfrm>
          <a:prstGeom prst="rect">
            <a:avLst/>
          </a:prstGeom>
        </p:spPr>
      </p:pic>
      <p:pic>
        <p:nvPicPr>
          <p:cNvPr id="702" name="Chart7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0672" y="7863751"/>
            <a:ext cx="8217032" cy="546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346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Выводы</a:t>
            </a: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1102768" y="2551025"/>
            <a:ext cx="8867840" cy="10030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3200" b="1" dirty="0">
                <a:solidFill>
                  <a:srgbClr val="0E2D69"/>
                </a:solidFill>
                <a:latin typeface="Arial"/>
              </a:rPr>
              <a:t>Выводы: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200" dirty="0">
                <a:solidFill>
                  <a:srgbClr val="333333"/>
                </a:solidFill>
                <a:latin typeface="Arial"/>
              </a:rPr>
              <a:t>Разработана прогностическая модель на основе Random Forest с AUC-ROC=0,802 — гипотеза подтверждена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200" dirty="0">
                <a:solidFill>
                  <a:srgbClr val="333333"/>
                </a:solidFill>
                <a:latin typeface="Arial"/>
              </a:rPr>
              <a:t>Наиболее значимые предикторы (Feature Importance): интенсивность симптома, уровень тревожности, SpO2 и диастолическое АД — соответствует клиническим ожиданиям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200" dirty="0">
                <a:solidFill>
                  <a:srgbClr val="333333"/>
                </a:solidFill>
                <a:latin typeface="Arial"/>
              </a:rPr>
              <a:t>Включение тревожности (GAD-2) значимо улучшает качество предсказания vs. только демографические данные</a:t>
            </a:r>
          </a:p>
          <a:p>
            <a:pPr mar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3200" b="1" dirty="0">
                <a:solidFill>
                  <a:srgbClr val="0E2D69"/>
                </a:solidFill>
                <a:latin typeface="Arial"/>
              </a:rPr>
              <a:t>Подтверждение гипотезы: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200" dirty="0">
                <a:solidFill>
                  <a:srgbClr val="2253A1"/>
                </a:solidFill>
                <a:latin typeface="Arial"/>
              </a:rPr>
              <a:t>AUC-ROC=0,802 &gt; порог 0,75 ✓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200" dirty="0">
                <a:solidFill>
                  <a:srgbClr val="2253A1"/>
                </a:solidFill>
                <a:latin typeface="Arial"/>
              </a:rPr>
              <a:t>Recall по классу «обоснованный вызов» ≥ 0,95 достигнут при оптимальном пороге ✓</a:t>
            </a:r>
          </a:p>
          <a:p>
            <a:pPr mar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3200" b="1" dirty="0">
                <a:solidFill>
                  <a:srgbClr val="4472C4"/>
                </a:solidFill>
                <a:latin typeface="Arial"/>
              </a:rPr>
              <a:t>Диаграмма важности признаков →</a:t>
            </a:r>
          </a:p>
        </p:txBody>
      </p:sp>
      <p:pic>
        <p:nvPicPr>
          <p:cNvPr id="801" name="Chart8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8232" y="2690874"/>
            <a:ext cx="12259502" cy="1003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081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Заключение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A7AE55-88BC-D6C0-DAA8-9C7ED6059B09}"/>
              </a:ext>
            </a:extLst>
          </p:cNvPr>
          <p:cNvSpPr txBox="1"/>
          <p:nvPr/>
        </p:nvSpPr>
        <p:spPr>
          <a:xfrm>
            <a:off x="1551071" y="2476925"/>
            <a:ext cx="20260179" cy="10056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3600" b="1" dirty="0">
                <a:solidFill>
                  <a:srgbClr val="0E2D69"/>
                </a:solidFill>
                <a:latin typeface="Arial"/>
              </a:rPr>
              <a:t>Итог работы: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600" dirty="0">
                <a:solidFill>
                  <a:srgbClr val="333333"/>
                </a:solidFill>
                <a:latin typeface="Arial"/>
              </a:rPr>
              <a:t>Разработана гибридная прогностическая модель для классификации необоснованных вызовов СМП от лиц 65+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600" dirty="0">
                <a:solidFill>
                  <a:srgbClr val="333333"/>
                </a:solidFill>
                <a:latin typeface="Arial"/>
              </a:rPr>
              <a:t>Показана практическая применимость в составе мобильного приложения в качестве «умного предфильтра»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600" dirty="0">
                <a:solidFill>
                  <a:srgbClr val="333333"/>
                </a:solidFill>
                <a:latin typeface="Arial"/>
              </a:rPr>
              <a:t>Принцип «не навреди»: приоритет на минимизацию пропуска экстренных случаев (Recall ≥ 0,95)</a:t>
            </a:r>
          </a:p>
          <a:p>
            <a:pPr mar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3600" b="1" dirty="0">
                <a:solidFill>
                  <a:srgbClr val="0E2D69"/>
                </a:solidFill>
                <a:latin typeface="Arial"/>
              </a:rPr>
              <a:t>Практическая значимость: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600" dirty="0">
                <a:solidFill>
                  <a:srgbClr val="333333"/>
                </a:solidFill>
                <a:latin typeface="Arial"/>
              </a:rPr>
              <a:t>Снижение непрофильной нагрузки на СМП — сокращение времени доезда к экстренным пациентам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600" dirty="0">
                <a:solidFill>
                  <a:srgbClr val="333333"/>
                </a:solidFill>
                <a:latin typeface="Arial"/>
              </a:rPr>
              <a:t>Альтернативные сценарии при необоснованном вызове: дыхательные упражнения, напоминание о препарате, связь с родственниками</a:t>
            </a:r>
          </a:p>
          <a:p>
            <a:pPr mar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3600" b="1" dirty="0">
                <a:solidFill>
                  <a:srgbClr val="0E2D69"/>
                </a:solidFill>
                <a:latin typeface="Arial"/>
              </a:rPr>
              <a:t>Ограничения и перспективы: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600" dirty="0">
                <a:solidFill>
                  <a:srgbClr val="333333"/>
                </a:solidFill>
                <a:latin typeface="Arial"/>
              </a:rPr>
              <a:t>Синтетический датасет требует валидации на реальных данных СМП</a:t>
            </a:r>
          </a:p>
          <a:p>
            <a:pPr marL="342900" indent="-3429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lang="ru-RU" sz="3600" dirty="0">
                <a:solidFill>
                  <a:srgbClr val="333333"/>
                </a:solidFill>
                <a:latin typeface="Arial"/>
              </a:rPr>
              <a:t>Дальнейшее развитие: интеграция с ЭКГ-данными, добавление SHAP-интерпретации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E5BB50-B94E-3769-BC60-082F5935B99D}"/>
              </a:ext>
            </a:extLst>
          </p:cNvPr>
          <p:cNvSpPr txBox="1"/>
          <p:nvPr/>
        </p:nvSpPr>
        <p:spPr>
          <a:xfrm>
            <a:off x="2587083" y="9378280"/>
            <a:ext cx="772679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507300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506C9D-D9D9-4B12-B963-DF4A4A849DC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 flipH="1" flipV="1">
            <a:off x="4775176" y="2321496"/>
            <a:ext cx="17427878" cy="1051437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F00946-3D2D-43C8-BC33-5E42854EB074}"/>
              </a:ext>
            </a:extLst>
          </p:cNvPr>
          <p:cNvSpPr txBox="1"/>
          <p:nvPr/>
        </p:nvSpPr>
        <p:spPr>
          <a:xfrm>
            <a:off x="8051540" y="6563020"/>
            <a:ext cx="828091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000" dirty="0">
                <a:latin typeface="Book Antiqua" panose="02040602050305030304" pitchFamily="18" charset="0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415445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933</TotalTime>
  <Words>1096</Words>
  <Application>Microsoft Office PowerPoint</Application>
  <PresentationFormat>Custom</PresentationFormat>
  <Paragraphs>128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Arial</vt:lpstr>
      <vt:lpstr>Helvetica Neue</vt:lpstr>
      <vt:lpstr>Book Antiqua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Андриянова Екатерина Вячеславовна</dc:creator>
  <cp:keywords/>
  <dc:description/>
  <cp:lastModifiedBy>танзила</cp:lastModifiedBy>
  <cp:revision>23</cp:revision>
  <dcterms:modified xsi:type="dcterms:W3CDTF">2026-06-04T11:22:45Z</dcterms:modified>
  <cp:category/>
</cp:coreProperties>
</file>