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Shape 24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6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6;p2" descr="Google Shape;16;p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0"/>
            <a:ext cx="24383520" cy="13715641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Google Shape;17;p2"/>
          <p:cNvSpPr/>
          <p:nvPr/>
        </p:nvSpPr>
        <p:spPr>
          <a:xfrm>
            <a:off x="994319" y="1105560"/>
            <a:ext cx="22395242" cy="115048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9" name="Google Shape;18;p2" descr="Google Shape;18;p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48120" y="1924199"/>
            <a:ext cx="1531801" cy="1772642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Google Shape;19;p2"/>
          <p:cNvSpPr/>
          <p:nvPr/>
        </p:nvSpPr>
        <p:spPr>
          <a:xfrm>
            <a:off x="12180240" y="1924199"/>
            <a:ext cx="361" cy="1680841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" name="Google Shape;20;p2"/>
          <p:cNvSpPr/>
          <p:nvPr/>
        </p:nvSpPr>
        <p:spPr>
          <a:xfrm>
            <a:off x="17285039" y="1924199"/>
            <a:ext cx="361" cy="1680841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" name="Google Shape;21;p2"/>
          <p:cNvSpPr/>
          <p:nvPr/>
        </p:nvSpPr>
        <p:spPr>
          <a:xfrm>
            <a:off x="22357799" y="1924199"/>
            <a:ext cx="361" cy="1680841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" name="Уровень текста 1…"/>
          <p:cNvSpPr txBox="1"/>
          <p:nvPr>
            <p:ph type="body" sz="quarter" idx="1"/>
          </p:nvPr>
        </p:nvSpPr>
        <p:spPr>
          <a:xfrm>
            <a:off x="4261320" y="2224079"/>
            <a:ext cx="7162560" cy="140832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4" name="PlaceHolder 2"/>
          <p:cNvSpPr/>
          <p:nvPr/>
        </p:nvSpPr>
        <p:spPr>
          <a:xfrm>
            <a:off x="12480119" y="2224079"/>
            <a:ext cx="4505401" cy="108036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Char char="●"/>
              <a:defRPr sz="1400"/>
            </a:pPr>
          </a:p>
        </p:txBody>
      </p:sp>
      <p:sp>
        <p:nvSpPr>
          <p:cNvPr id="35" name="PlaceHolder 3"/>
          <p:cNvSpPr/>
          <p:nvPr/>
        </p:nvSpPr>
        <p:spPr>
          <a:xfrm>
            <a:off x="17592119" y="2224079"/>
            <a:ext cx="4505402" cy="108036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Char char="●"/>
              <a:defRPr sz="1400"/>
            </a:pPr>
          </a:p>
        </p:txBody>
      </p:sp>
      <p:sp>
        <p:nvSpPr>
          <p:cNvPr id="36" name="PlaceHolder 4"/>
          <p:cNvSpPr/>
          <p:nvPr/>
        </p:nvSpPr>
        <p:spPr>
          <a:xfrm>
            <a:off x="2028960" y="4568040"/>
            <a:ext cx="20325600" cy="396252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Char char="●"/>
              <a:defRPr sz="3900"/>
            </a:pPr>
          </a:p>
        </p:txBody>
      </p:sp>
      <p:sp>
        <p:nvSpPr>
          <p:cNvPr id="37" name="PlaceHolder 5"/>
          <p:cNvSpPr/>
          <p:nvPr>
            <p:ph type="body" sz="quarter" idx="21"/>
          </p:nvPr>
        </p:nvSpPr>
        <p:spPr>
          <a:xfrm>
            <a:off x="2028960" y="9494280"/>
            <a:ext cx="9995401" cy="177264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FFFFFF"/>
              </a:buClr>
              <a:buSzPct val="450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38" name="Google Shape;27;p2" descr="Google Shape;27;p2"/>
          <p:cNvPicPr>
            <a:picLocks noChangeAspect="1"/>
          </p:cNvPicPr>
          <p:nvPr/>
        </p:nvPicPr>
        <p:blipFill>
          <a:blip r:embed="rId5">
            <a:alphaModFix amt="27000"/>
            <a:extLst/>
          </a:blip>
          <a:stretch>
            <a:fillRect/>
          </a:stretch>
        </p:blipFill>
        <p:spPr>
          <a:xfrm>
            <a:off x="13288320" y="1662839"/>
            <a:ext cx="16545962" cy="1779120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Текст заголовка"/>
          <p:cNvSpPr txBox="1"/>
          <p:nvPr>
            <p:ph type="title"/>
          </p:nvPr>
        </p:nvSpPr>
        <p:spPr>
          <a:xfrm>
            <a:off x="1218959" y="547199"/>
            <a:ext cx="21944882" cy="228996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51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15;p11" descr="Google Shape;115;p1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Google Shape;116;p11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" name="Уровень текста 1…"/>
          <p:cNvSpPr txBox="1"/>
          <p:nvPr>
            <p:ph type="body" sz="quarter" idx="1"/>
          </p:nvPr>
        </p:nvSpPr>
        <p:spPr>
          <a:xfrm>
            <a:off x="1071359" y="2793960"/>
            <a:ext cx="5542922" cy="1582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5" name="PlaceHolder 2"/>
          <p:cNvSpPr/>
          <p:nvPr/>
        </p:nvSpPr>
        <p:spPr>
          <a:xfrm>
            <a:off x="1125720" y="4734359"/>
            <a:ext cx="5434201" cy="231624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</a:pPr>
          </a:p>
        </p:txBody>
      </p:sp>
      <p:sp>
        <p:nvSpPr>
          <p:cNvPr id="56" name="PlaceHolder 3"/>
          <p:cNvSpPr/>
          <p:nvPr>
            <p:ph type="body" sz="quarter" idx="21"/>
          </p:nvPr>
        </p:nvSpPr>
        <p:spPr>
          <a:xfrm>
            <a:off x="1071360" y="11527920"/>
            <a:ext cx="6538320" cy="109692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7" name="Google Shape;120;p1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" name="Google Shape;121;p1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" name="Google Shape;122;p1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60" name="Google Shape;123;p11" descr="Google Shape;123;p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Google Shape;7;p1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b="1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8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0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Уровень текста 1…"/>
          <p:cNvSpPr txBox="1"/>
          <p:nvPr>
            <p:ph type="body" sz="quarter" idx="1"/>
          </p:nvPr>
        </p:nvSpPr>
        <p:spPr>
          <a:xfrm>
            <a:off x="1071359" y="2793960"/>
            <a:ext cx="20082602" cy="1582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2" name="PlaceHolder 2"/>
          <p:cNvSpPr/>
          <p:nvPr>
            <p:ph type="body" sz="quarter" idx="21"/>
          </p:nvPr>
        </p:nvSpPr>
        <p:spPr>
          <a:xfrm>
            <a:off x="1125719" y="4725720"/>
            <a:ext cx="9073082" cy="3535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35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3" name="Текст заголовка"/>
          <p:cNvSpPr txBox="1"/>
          <p:nvPr>
            <p:ph type="title"/>
          </p:nvPr>
        </p:nvSpPr>
        <p:spPr>
          <a:xfrm>
            <a:off x="1218959" y="547199"/>
            <a:ext cx="21944882" cy="228996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3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4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5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Google Shape;34;p4" descr="Google Shape;34;p4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Google Shape;35;p4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" name="Уровень текста 1…"/>
          <p:cNvSpPr txBox="1"/>
          <p:nvPr>
            <p:ph type="body" sz="quarter" idx="1"/>
          </p:nvPr>
        </p:nvSpPr>
        <p:spPr>
          <a:xfrm>
            <a:off x="1071359" y="2793960"/>
            <a:ext cx="20082602" cy="1582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9" name="PlaceHolder 2"/>
          <p:cNvSpPr/>
          <p:nvPr>
            <p:ph type="body" idx="21"/>
          </p:nvPr>
        </p:nvSpPr>
        <p:spPr>
          <a:xfrm>
            <a:off x="1125720" y="4725720"/>
            <a:ext cx="22132081" cy="6564960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9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0" name="Google Shape;38;p4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1" name="Google Shape;39;p4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2" name="Google Shape;40;p4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03" name="Google Shape;41;p4" descr="Google Shape;41;p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3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4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15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Google Shape;44;p5" descr="Google Shape;44;p5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Google Shape;45;p5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8" name="Уровень текста 1…"/>
          <p:cNvSpPr txBox="1"/>
          <p:nvPr>
            <p:ph type="body" sz="quarter" idx="1"/>
          </p:nvPr>
        </p:nvSpPr>
        <p:spPr>
          <a:xfrm>
            <a:off x="1071359" y="4938119"/>
            <a:ext cx="9560522" cy="295128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9" name="PlaceHolder 2"/>
          <p:cNvSpPr/>
          <p:nvPr/>
        </p:nvSpPr>
        <p:spPr>
          <a:xfrm>
            <a:off x="1071359" y="10646999"/>
            <a:ext cx="9560522" cy="79200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/>
            </a:pPr>
          </a:p>
        </p:txBody>
      </p:sp>
      <p:sp>
        <p:nvSpPr>
          <p:cNvPr id="120" name="PlaceHolder 3"/>
          <p:cNvSpPr/>
          <p:nvPr/>
        </p:nvSpPr>
        <p:spPr>
          <a:xfrm>
            <a:off x="1071359" y="2793960"/>
            <a:ext cx="20082602" cy="158220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/>
            </a:pPr>
          </a:p>
        </p:txBody>
      </p:sp>
      <p:sp>
        <p:nvSpPr>
          <p:cNvPr id="121" name="PlaceHolder 4"/>
          <p:cNvSpPr/>
          <p:nvPr>
            <p:ph type="body" sz="quarter" idx="21"/>
          </p:nvPr>
        </p:nvSpPr>
        <p:spPr>
          <a:xfrm>
            <a:off x="12190679" y="4925879"/>
            <a:ext cx="10974242" cy="3885841"/>
          </a:xfrm>
          <a:prstGeom prst="rect">
            <a:avLst/>
          </a:prstGeom>
        </p:spPr>
        <p:txBody>
          <a:bodyPr lIns="101520" tIns="101520" rIns="101520" bIns="101520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39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2" name="Google Shape;50;p5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3" name="Google Shape;51;p5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4" name="Google Shape;52;p5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25" name="Google Shape;53;p5" descr="Google Shape;53;p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6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7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Google Shape;56;p6" descr="Google Shape;56;p6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Google Shape;57;p6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Уровень текста 1…"/>
          <p:cNvSpPr txBox="1"/>
          <p:nvPr>
            <p:ph type="body" sz="quarter" idx="1"/>
          </p:nvPr>
        </p:nvSpPr>
        <p:spPr>
          <a:xfrm>
            <a:off x="1026360" y="2969999"/>
            <a:ext cx="7120081" cy="211284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1" name="PlaceHolder 2"/>
          <p:cNvSpPr/>
          <p:nvPr/>
        </p:nvSpPr>
        <p:spPr>
          <a:xfrm>
            <a:off x="1026359" y="6080759"/>
            <a:ext cx="7120082" cy="262080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2200"/>
            </a:pPr>
          </a:p>
        </p:txBody>
      </p:sp>
      <p:sp>
        <p:nvSpPr>
          <p:cNvPr id="142" name="PlaceHolder 3"/>
          <p:cNvSpPr/>
          <p:nvPr>
            <p:ph type="body" sz="quarter" idx="21"/>
          </p:nvPr>
        </p:nvSpPr>
        <p:spPr>
          <a:xfrm>
            <a:off x="1071360" y="11527920"/>
            <a:ext cx="6538320" cy="109692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3" name="Google Shape;61;p6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4" name="Google Shape;62;p6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5" name="Google Shape;63;p6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46" name="Google Shape;64;p6" descr="Google Shape;64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6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7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58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Google Shape;67;p7" descr="Google Shape;67;p7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Google Shape;68;p7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Уровень текста 1…"/>
          <p:cNvSpPr txBox="1"/>
          <p:nvPr>
            <p:ph type="body" sz="quarter" idx="1"/>
          </p:nvPr>
        </p:nvSpPr>
        <p:spPr>
          <a:xfrm>
            <a:off x="1071359" y="2793960"/>
            <a:ext cx="20082602" cy="1582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2" name="PlaceHolder 2"/>
          <p:cNvSpPr/>
          <p:nvPr/>
        </p:nvSpPr>
        <p:spPr>
          <a:xfrm>
            <a:off x="1071360" y="4887000"/>
            <a:ext cx="6960600" cy="462744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3500"/>
            </a:pPr>
          </a:p>
        </p:txBody>
      </p:sp>
      <p:sp>
        <p:nvSpPr>
          <p:cNvPr id="163" name="PlaceHolder 3"/>
          <p:cNvSpPr/>
          <p:nvPr>
            <p:ph type="body" sz="quarter" idx="21"/>
          </p:nvPr>
        </p:nvSpPr>
        <p:spPr>
          <a:xfrm>
            <a:off x="1071360" y="11527920"/>
            <a:ext cx="6538320" cy="109692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4" name="Google Shape;72;p7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5" name="Google Shape;73;p7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Google Shape;74;p7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67" name="Google Shape;75;p7" descr="Google Shape;75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7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8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79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Google Shape;78;p8"/>
          <p:cNvSpPr txBox="1"/>
          <p:nvPr/>
        </p:nvSpPr>
        <p:spPr>
          <a:xfrm>
            <a:off x="2028960" y="4568040"/>
            <a:ext cx="20325600" cy="3430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80000"/>
              </a:lnSpc>
              <a:defRPr sz="8600">
                <a:solidFill>
                  <a:srgbClr val="172C65"/>
                </a:solidFill>
              </a:defRPr>
            </a:pPr>
            <a:r>
              <a:t>Название презентации</a:t>
            </a:r>
            <a:br/>
            <a:r>
              <a:t>может быть набрано в две </a:t>
            </a:r>
            <a:br/>
            <a:r>
              <a:t>или три строки</a:t>
            </a:r>
          </a:p>
        </p:txBody>
      </p:sp>
      <p:sp>
        <p:nvSpPr>
          <p:cNvPr id="181" name="Google Shape;79;p8"/>
          <p:cNvSpPr txBox="1"/>
          <p:nvPr/>
        </p:nvSpPr>
        <p:spPr>
          <a:xfrm>
            <a:off x="2028960" y="9794160"/>
            <a:ext cx="20325600" cy="577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80000"/>
              </a:lnSpc>
              <a:defRPr sz="2800"/>
            </a:lvl1pPr>
          </a:lstStyle>
          <a:p>
            <a:pPr/>
            <a:r>
              <a:t>Если нужно больше места, то используйте подзаголовок</a:t>
            </a:r>
          </a:p>
        </p:txBody>
      </p:sp>
      <p:pic>
        <p:nvPicPr>
          <p:cNvPr id="182" name="Google Shape;80;p8" descr="Google Shape;80;p8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Google Shape;81;p8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" name="Уровень текста 1…"/>
          <p:cNvSpPr txBox="1"/>
          <p:nvPr>
            <p:ph type="body" sz="quarter" idx="1"/>
          </p:nvPr>
        </p:nvSpPr>
        <p:spPr>
          <a:xfrm>
            <a:off x="1071359" y="4937040"/>
            <a:ext cx="5645882" cy="310356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85" name="PlaceHolder 2"/>
          <p:cNvSpPr/>
          <p:nvPr/>
        </p:nvSpPr>
        <p:spPr>
          <a:xfrm>
            <a:off x="8135639" y="4937040"/>
            <a:ext cx="6313321" cy="310356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2200"/>
            </a:pPr>
          </a:p>
        </p:txBody>
      </p:sp>
      <p:sp>
        <p:nvSpPr>
          <p:cNvPr id="186" name="PlaceHolder 3"/>
          <p:cNvSpPr/>
          <p:nvPr/>
        </p:nvSpPr>
        <p:spPr>
          <a:xfrm>
            <a:off x="15110279" y="4937040"/>
            <a:ext cx="5645881" cy="310356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2200"/>
            </a:pPr>
          </a:p>
        </p:txBody>
      </p:sp>
      <p:sp>
        <p:nvSpPr>
          <p:cNvPr id="187" name="PlaceHolder 4"/>
          <p:cNvSpPr/>
          <p:nvPr/>
        </p:nvSpPr>
        <p:spPr>
          <a:xfrm>
            <a:off x="1071359" y="2793960"/>
            <a:ext cx="20082602" cy="1582201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/>
            </a:pPr>
          </a:p>
        </p:txBody>
      </p:sp>
      <p:sp>
        <p:nvSpPr>
          <p:cNvPr id="188" name="PlaceHolder 5"/>
          <p:cNvSpPr/>
          <p:nvPr/>
        </p:nvSpPr>
        <p:spPr>
          <a:xfrm>
            <a:off x="1071359" y="8351639"/>
            <a:ext cx="5434202" cy="1706400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/>
            </a:pPr>
          </a:p>
        </p:txBody>
      </p:sp>
      <p:sp>
        <p:nvSpPr>
          <p:cNvPr id="189" name="PlaceHolder 6"/>
          <p:cNvSpPr/>
          <p:nvPr/>
        </p:nvSpPr>
        <p:spPr>
          <a:xfrm>
            <a:off x="8135639" y="8351639"/>
            <a:ext cx="5434201" cy="1706400"/>
          </a:xfrm>
          <a:prstGeom prst="rect">
            <a:avLst/>
          </a:prstGeom>
          <a:ln w="12700">
            <a:miter lim="400000"/>
          </a:ln>
        </p:spPr>
        <p:txBody>
          <a:bodyPr t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/>
            </a:pPr>
          </a:p>
        </p:txBody>
      </p:sp>
      <p:sp>
        <p:nvSpPr>
          <p:cNvPr id="190" name="PlaceHolder 7"/>
          <p:cNvSpPr/>
          <p:nvPr>
            <p:ph type="body" sz="quarter" idx="21"/>
          </p:nvPr>
        </p:nvSpPr>
        <p:spPr>
          <a:xfrm>
            <a:off x="15110279" y="8351639"/>
            <a:ext cx="5434201" cy="1706400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1" name="Google Shape;89;p8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2" name="Google Shape;90;p8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3" name="Google Shape;91;p8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94" name="Google Shape;92;p8" descr="Google Shape;92;p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4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5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06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Google Shape;95;p9" descr="Google Shape;95;p9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Google Shape;96;p9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" name="Уровень текста 1…"/>
          <p:cNvSpPr txBox="1"/>
          <p:nvPr>
            <p:ph type="body" sz="quarter" idx="1"/>
          </p:nvPr>
        </p:nvSpPr>
        <p:spPr>
          <a:xfrm>
            <a:off x="1071359" y="2793960"/>
            <a:ext cx="15527162" cy="114768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10" name="PlaceHolder 2"/>
          <p:cNvSpPr/>
          <p:nvPr>
            <p:ph type="body" sz="quarter" idx="21"/>
          </p:nvPr>
        </p:nvSpPr>
        <p:spPr>
          <a:xfrm>
            <a:off x="1071360" y="11162520"/>
            <a:ext cx="15527161" cy="109692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1" name="Google Shape;99;p9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2" name="Google Shape;100;p9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3" name="Google Shape;101;p9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14" name="Google Shape;102;p9" descr="Google Shape;102;p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4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5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26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Google Shape;105;p10" descr="Google Shape;105;p10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Google Shape;106;p10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9" name="Уровень текста 1…"/>
          <p:cNvSpPr txBox="1"/>
          <p:nvPr>
            <p:ph type="body" sz="quarter" idx="1"/>
          </p:nvPr>
        </p:nvSpPr>
        <p:spPr>
          <a:xfrm>
            <a:off x="1071359" y="2793960"/>
            <a:ext cx="15527162" cy="114768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marL="863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marL="1295999" indent="-288000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marL="1727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7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marL="2159999" indent="-215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/>
              <a:buChar char=""/>
              <a:defRPr sz="5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0" name="PlaceHolder 2"/>
          <p:cNvSpPr/>
          <p:nvPr>
            <p:ph type="body" sz="quarter" idx="21"/>
          </p:nvPr>
        </p:nvSpPr>
        <p:spPr>
          <a:xfrm>
            <a:off x="17388719" y="4377599"/>
            <a:ext cx="5434202" cy="323064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22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31" name="Google Shape;109;p10" descr="Google Shape;109;p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oogle Shape;110;p10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3" name="Google Shape;111;p10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4" name="Google Shape;112;p10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8;p1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" name="Google Shape;9;p1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" name="Google Shape;10;p1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6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126;p12" descr="Google Shape;126;p12"/>
          <p:cNvPicPr>
            <a:picLocks noChangeAspect="1"/>
          </p:cNvPicPr>
          <p:nvPr/>
        </p:nvPicPr>
        <p:blipFill>
          <a:blip r:embed="rId2">
            <a:extLst/>
          </a:blip>
          <a:srcRect l="0" t="3" r="0" b="3"/>
          <a:stretch>
            <a:fillRect/>
          </a:stretch>
        </p:blipFill>
        <p:spPr>
          <a:xfrm>
            <a:off x="0" y="-1"/>
            <a:ext cx="24383520" cy="1371564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Google Shape;127;p12"/>
          <p:cNvSpPr/>
          <p:nvPr/>
        </p:nvSpPr>
        <p:spPr>
          <a:xfrm>
            <a:off x="265319" y="269640"/>
            <a:ext cx="23852882" cy="13204441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" name="Google Shape;128;p12"/>
          <p:cNvSpPr/>
          <p:nvPr/>
        </p:nvSpPr>
        <p:spPr>
          <a:xfrm>
            <a:off x="659736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" name="Google Shape;129;p12"/>
          <p:cNvSpPr/>
          <p:nvPr/>
        </p:nvSpPr>
        <p:spPr>
          <a:xfrm>
            <a:off x="12198600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" name="Google Shape;130;p12"/>
          <p:cNvSpPr/>
          <p:nvPr/>
        </p:nvSpPr>
        <p:spPr>
          <a:xfrm>
            <a:off x="23287679" y="928440"/>
            <a:ext cx="361" cy="1172881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2" name="Google Shape;131;p12" descr="Google Shape;131;p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119" y="1095119"/>
            <a:ext cx="774361" cy="89604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заголовка"/>
          <p:cNvSpPr txBox="1"/>
          <p:nvPr>
            <p:ph type="title"/>
          </p:nvPr>
        </p:nvSpPr>
        <p:spPr>
          <a:xfrm>
            <a:off x="1219200" y="184149"/>
            <a:ext cx="21945600" cy="3016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14" name="Уровень текста 1…"/>
          <p:cNvSpPr txBox="1"/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" name="Номер слайда"/>
          <p:cNvSpPr txBox="1"/>
          <p:nvPr>
            <p:ph type="sldNum" sz="quarter" idx="2"/>
          </p:nvPr>
        </p:nvSpPr>
        <p:spPr>
          <a:xfrm>
            <a:off x="22202812" y="12835585"/>
            <a:ext cx="504548" cy="483911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 anchor="ctr">
            <a:spAutoFit/>
          </a:bodyPr>
          <a:lstStyle>
            <a:lvl1pPr algn="r"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 txBox="1"/>
          <p:nvPr>
            <p:ph type="body" sz="quarter" idx="1"/>
          </p:nvPr>
        </p:nvSpPr>
        <p:spPr>
          <a:xfrm>
            <a:off x="4261320" y="2224079"/>
            <a:ext cx="7162560" cy="1408321"/>
          </a:xfrm>
          <a:prstGeom prst="rect">
            <a:avLst/>
          </a:prstGeom>
        </p:spPr>
        <p:txBody>
          <a:bodyPr/>
          <a:lstStyle/>
          <a:p>
            <a:pPr marL="0" indent="431999">
              <a:lnSpc>
                <a:spcPct val="161000"/>
              </a:lnSpc>
              <a:buSzTx/>
              <a:buFont typeface="Wingdings"/>
              <a:buNone/>
              <a:defRPr sz="2400">
                <a:solidFill>
                  <a:srgbClr val="2253A1"/>
                </a:solidFill>
              </a:defRPr>
            </a:pPr>
            <a:r>
              <a:t>Центр цифровой медицины </a:t>
            </a:r>
          </a:p>
          <a:p>
            <a:pPr marL="0" indent="431999">
              <a:lnSpc>
                <a:spcPct val="161000"/>
              </a:lnSpc>
              <a:buSzTx/>
              <a:buFont typeface="Wingdings"/>
              <a:buNone/>
              <a:defRPr sz="2400">
                <a:solidFill>
                  <a:srgbClr val="2253A1"/>
                </a:solidFill>
              </a:defRPr>
            </a:pPr>
            <a:r>
              <a:t>и искусственного интеллекта в медицине</a:t>
            </a:r>
          </a:p>
        </p:txBody>
      </p:sp>
      <p:sp>
        <p:nvSpPr>
          <p:cNvPr id="245" name="PlaceHolder 2"/>
          <p:cNvSpPr txBox="1"/>
          <p:nvPr/>
        </p:nvSpPr>
        <p:spPr>
          <a:xfrm>
            <a:off x="12480119" y="2224079"/>
            <a:ext cx="4726441" cy="108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>
            <a:lvl1pPr indent="431999">
              <a:lnSpc>
                <a:spcPct val="152000"/>
              </a:lnSpc>
              <a:spcBef>
                <a:spcPts val="1400"/>
              </a:spcBef>
              <a:defRPr sz="24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46" name="PlaceHolder 3"/>
          <p:cNvSpPr txBox="1"/>
          <p:nvPr/>
        </p:nvSpPr>
        <p:spPr>
          <a:xfrm>
            <a:off x="17592119" y="2224079"/>
            <a:ext cx="4505402" cy="108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 indent="431999">
              <a:lnSpc>
                <a:spcPct val="172000"/>
              </a:lnSpc>
              <a:spcBef>
                <a:spcPts val="1400"/>
              </a:spcBef>
              <a:defRPr sz="2400">
                <a:solidFill>
                  <a:srgbClr val="2253A1"/>
                </a:solidFill>
              </a:defRPr>
            </a:pPr>
            <a:r>
              <a:t>Москва</a:t>
            </a:r>
            <a:r>
              <a:t>, </a:t>
            </a:r>
            <a:r>
              <a:t>202</a:t>
            </a:r>
            <a:r>
              <a:t>6</a:t>
            </a:r>
          </a:p>
        </p:txBody>
      </p:sp>
      <p:sp>
        <p:nvSpPr>
          <p:cNvPr id="247" name="PlaceHolder 4"/>
          <p:cNvSpPr txBox="1"/>
          <p:nvPr/>
        </p:nvSpPr>
        <p:spPr>
          <a:xfrm>
            <a:off x="2028960" y="5091479"/>
            <a:ext cx="14112721" cy="4435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>
            <a:lvl1pPr indent="431999">
              <a:lnSpc>
                <a:spcPct val="119000"/>
              </a:lnSpc>
              <a:spcBef>
                <a:spcPts val="1400"/>
              </a:spcBef>
              <a:defRPr sz="5100">
                <a:solidFill>
                  <a:srgbClr val="2253A1"/>
                </a:solidFill>
              </a:defRPr>
            </a:lvl1pPr>
          </a:lstStyle>
          <a:p>
            <a:pPr/>
            <a:r>
              <a:t>Сравнение AutoML-фреймворков: EDA, Fuzzy k-NN, SVM</a:t>
            </a:r>
          </a:p>
        </p:txBody>
      </p:sp>
      <p:sp>
        <p:nvSpPr>
          <p:cNvPr id="248" name="Google Shape;141;p13"/>
          <p:cNvSpPr txBox="1"/>
          <p:nvPr/>
        </p:nvSpPr>
        <p:spPr>
          <a:xfrm>
            <a:off x="2032924" y="8709975"/>
            <a:ext cx="12876602" cy="31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Выполнила:</a:t>
            </a:r>
            <a:endParaRPr sz="7447"/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студент гр.</a:t>
            </a:r>
            <a:r>
              <a:t> 737-01</a:t>
            </a:r>
            <a:r>
              <a:t>                                                                     </a:t>
            </a:r>
            <a:r>
              <a:t>ФИО Емельяненко Артем Юрьевич</a:t>
            </a:r>
            <a:endParaRPr sz="7447"/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7447">
                <a:solidFill>
                  <a:srgbClr val="2253A1"/>
                </a:solidFill>
              </a:defRPr>
            </a:pPr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Руководитель:</a:t>
            </a:r>
            <a:endParaRPr sz="7447"/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Андриков Д.А.</a:t>
            </a:r>
            <a:r>
              <a:t>, Андриянова Е.В.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Введение</a:t>
            </a:r>
          </a:p>
        </p:txBody>
      </p:sp>
      <p:sp>
        <p:nvSpPr>
          <p:cNvPr id="251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52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53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4" name="TextBox 2"/>
          <p:cNvSpPr txBox="1"/>
          <p:nvPr/>
        </p:nvSpPr>
        <p:spPr>
          <a:xfrm>
            <a:off x="1742690" y="4120919"/>
            <a:ext cx="15498140" cy="4645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4000"/>
            </a:pPr>
            <a:r>
              <a:t>Датасет dispensarization_data_2026.csv: 1000 пациентов 40–65 лет. Цель - Прогноз высокого ССЗ-риска (ССЗ_риск_высокий), пациенты 40–65 лет.</a:t>
            </a:r>
          </a:p>
          <a:p>
            <a:pPr>
              <a:defRPr sz="4000"/>
            </a:pPr>
          </a:p>
          <a:p>
            <a:pPr>
              <a:defRPr sz="4000"/>
            </a:pPr>
            <a:r>
              <a:t>Методы: </a:t>
            </a:r>
            <a:r>
              <a:t>EDA (pandas/seaborn), SVM (sklearn SVC), Fuzzy k-NN (класс из ноутбука Карташовой), AutoML: FLAML, H2O, MLJAR.</a:t>
            </a:r>
          </a:p>
          <a:p>
            <a:pPr>
              <a:defRPr sz="4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Постановка задачи</a:t>
            </a:r>
          </a:p>
        </p:txBody>
      </p:sp>
      <p:sp>
        <p:nvSpPr>
          <p:cNvPr id="257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58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59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0" name="TextBox 2"/>
          <p:cNvSpPr txBox="1"/>
          <p:nvPr/>
        </p:nvSpPr>
        <p:spPr>
          <a:xfrm>
            <a:off x="2490743" y="4507558"/>
            <a:ext cx="19416075" cy="178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4000"/>
            </a:pPr>
            <a:r>
              <a:rPr b="1"/>
              <a:t>Задача</a:t>
            </a:r>
            <a:r>
              <a:t>: Сравнить SVM, Fuzzy k-NN и лучший AutoML-кандидат на test. Метрики: ROC-AUC, F1, balanced accuracy, время fit/predict.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Обзор литературы</a:t>
            </a:r>
          </a:p>
        </p:txBody>
      </p:sp>
      <p:sp>
        <p:nvSpPr>
          <p:cNvPr id="263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64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65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6" name="Обзор литературы…"/>
          <p:cNvSpPr txBox="1"/>
          <p:nvPr/>
        </p:nvSpPr>
        <p:spPr>
          <a:xfrm>
            <a:off x="1586419" y="4610862"/>
            <a:ext cx="21211162" cy="3599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700"/>
              </a:spcBef>
              <a:defRPr b="1" sz="4000"/>
            </a:pPr>
            <a:r>
              <a:t>Обзор литературы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4000"/>
            </a:pPr>
            <a:r>
              <a:rPr b="1"/>
              <a:t>Keller, Gray, Givens </a:t>
            </a:r>
            <a:r>
              <a:t>-</a:t>
            </a:r>
            <a:r>
              <a:rPr b="1"/>
              <a:t> </a:t>
            </a:r>
            <a:r>
              <a:t>Fuzzy k-NN.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4000"/>
            </a:pPr>
            <a:r>
              <a:rPr b="1"/>
              <a:t>Feurer et al. 2015</a:t>
            </a:r>
            <a:r>
              <a:t> - FLAML.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i="1" sz="4000"/>
            </a:pPr>
            <a:r>
              <a:rPr b="1" i="0"/>
              <a:t>H2O.ai </a:t>
            </a:r>
            <a:r>
              <a:rPr i="0"/>
              <a:t>-</a:t>
            </a:r>
            <a:r>
              <a:rPr b="1" i="0"/>
              <a:t> </a:t>
            </a:r>
            <a:r>
              <a:rPr i="0"/>
              <a:t>H2O AutoML; AutoGluon, MLJAR</a:t>
            </a:r>
            <a:r>
              <a:rPr b="1" i="0"/>
              <a:t>.</a:t>
            </a:r>
            <a:endParaRPr b="1" i="0"/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i="1" sz="4000"/>
            </a:pPr>
            <a:r>
              <a:rPr b="1"/>
              <a:t>Cortes, Vapnik</a:t>
            </a:r>
            <a:r>
              <a:t> </a:t>
            </a:r>
            <a:r>
              <a:rPr i="0"/>
              <a:t>-</a:t>
            </a:r>
            <a:r>
              <a:t> SVM.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Теория</a:t>
            </a:r>
          </a:p>
        </p:txBody>
      </p:sp>
      <p:sp>
        <p:nvSpPr>
          <p:cNvPr id="269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70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71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72" name="image5.png" descr="image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00131" y="4367384"/>
            <a:ext cx="8045124" cy="31691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" name="image6.png" descr="image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58491" y="7860124"/>
            <a:ext cx="6175041" cy="4916781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EDA: есть дисбаланс классов: высокий риск встречается у 18.1% пациентов. Также есть пропуски в лабораторных показателях: СКФ и триглицериды - по 6.1%, ЛПВП - 5.6%, ЛПНП - 4.5%.…"/>
          <p:cNvSpPr txBox="1"/>
          <p:nvPr/>
        </p:nvSpPr>
        <p:spPr>
          <a:xfrm>
            <a:off x="1530245" y="4483810"/>
            <a:ext cx="10513905" cy="5907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800"/>
              </a:spcBef>
              <a:defRPr sz="4000"/>
            </a:pPr>
            <a:r>
              <a:rPr b="1"/>
              <a:t>EDA:</a:t>
            </a:r>
            <a:r>
              <a:t> есть дисбаланс классов: высокий риск встречается у </a:t>
            </a:r>
            <a:r>
              <a:rPr b="1"/>
              <a:t>18.1%</a:t>
            </a:r>
            <a:r>
              <a:t> пациентов. Также есть пропуски в лабораторных показателях: СКФ и триглицериды - по </a:t>
            </a:r>
            <a:r>
              <a:rPr b="1"/>
              <a:t>6.1%</a:t>
            </a:r>
            <a:r>
              <a:t>, ЛПВП - </a:t>
            </a:r>
            <a:r>
              <a:rPr b="1"/>
              <a:t>5.6%</a:t>
            </a:r>
            <a:r>
              <a:t>, ЛПНП - </a:t>
            </a:r>
            <a:r>
              <a:rPr b="1"/>
              <a:t>4.5%</a:t>
            </a:r>
            <a:r>
              <a:t>.</a:t>
            </a:r>
          </a:p>
          <a:p>
            <a:pPr defTabSz="457200">
              <a:spcBef>
                <a:spcPts val="800"/>
              </a:spcBef>
              <a:defRPr sz="4000"/>
            </a:pPr>
            <a:r>
              <a:rPr b="1"/>
              <a:t>Fuzzy k-NN:</a:t>
            </a:r>
            <a:r>
              <a:t> лучшие параметры модели - </a:t>
            </a:r>
            <a:r>
              <a:rPr b="1"/>
              <a:t>k = 15</a:t>
            </a:r>
            <a:r>
              <a:t>, </a:t>
            </a:r>
            <a:r>
              <a:rPr b="1"/>
              <a:t>m = 2.0</a:t>
            </a:r>
            <a:r>
              <a:t>.</a:t>
            </a:r>
          </a:p>
          <a:p>
            <a:pPr defTabSz="457200">
              <a:defRPr sz="4000"/>
            </a:pPr>
            <a:r>
              <a:rPr b="1"/>
              <a:t>SVM с RBF-ядром:</a:t>
            </a:r>
            <a:r>
              <a:t> лучшие параметры - </a:t>
            </a:r>
            <a:r>
              <a:rPr b="1"/>
              <a:t>C = 10</a:t>
            </a:r>
            <a:r>
              <a:t>, </a:t>
            </a:r>
            <a:r>
              <a:rPr b="1"/>
              <a:t>γ = 0.01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Алгоритм</a:t>
            </a:r>
          </a:p>
        </p:txBody>
      </p:sp>
      <p:sp>
        <p:nvSpPr>
          <p:cNvPr id="277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78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79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0" name="TextBox 2"/>
          <p:cNvSpPr txBox="1"/>
          <p:nvPr/>
        </p:nvSpPr>
        <p:spPr>
          <a:xfrm>
            <a:off x="989787" y="4649325"/>
            <a:ext cx="16226536" cy="5216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Использовали датасет dispensarization_data_2026.csv.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В выборке — 1000 пациентов в возрасте 40–65 лет.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Целевая переменная — ССЗ_риск_высокий.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Класс высокого риска: 181 пациент, или 18.1%.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Для обучения взяли 15 признаков.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Данные разделили на train/test 80/20 со стратификацией и random_state=42.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Для SVM и Fuzzy k-NN использовали GridSearchCV.</a:t>
            </a:r>
          </a:p>
          <a:p>
            <a:pPr marL="227623" indent="-87923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4000"/>
            </a:pPr>
            <a:r>
              <a:t>Финальное качество оценивали на test-выборке.</a:t>
            </a:r>
          </a:p>
        </p:txBody>
      </p:sp>
      <p:pic>
        <p:nvPicPr>
          <p:cNvPr id="281" name="image7.png" descr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02348" y="5636406"/>
            <a:ext cx="8183152" cy="40395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Результаты работы модели</a:t>
            </a:r>
          </a:p>
        </p:txBody>
      </p:sp>
      <p:sp>
        <p:nvSpPr>
          <p:cNvPr id="284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85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86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87" name="image8.png" descr="image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38924" y="9008897"/>
            <a:ext cx="7222630" cy="357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image9.png" descr="image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55426" y="9008897"/>
            <a:ext cx="3518085" cy="357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image10.png" descr="image1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526966" y="9239882"/>
            <a:ext cx="7222681" cy="35744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image11.png" descr="image1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526966" y="4768863"/>
            <a:ext cx="7222681" cy="447948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Результаты:…"/>
          <p:cNvSpPr txBox="1"/>
          <p:nvPr/>
        </p:nvSpPr>
        <p:spPr>
          <a:xfrm>
            <a:off x="1283170" y="3563323"/>
            <a:ext cx="12888325" cy="5107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600"/>
            </a:pPr>
            <a:r>
              <a:t>Результаты:</a:t>
            </a:r>
          </a:p>
          <a:p>
            <a:pPr>
              <a:defRPr sz="2600"/>
            </a:pPr>
            <a:r>
              <a:t>SVM показал: AUC 0.9634, F1 0.7342 за 1.95 с.  </a:t>
            </a:r>
          </a:p>
          <a:p>
            <a:pPr>
              <a:defRPr sz="2600"/>
            </a:pPr>
            <a:r>
              <a:t>Fuzzy k-NN дал AUC 0.9324, F1 0.5385.  </a:t>
            </a:r>
          </a:p>
          <a:p>
            <a:pPr>
              <a:defRPr sz="2600"/>
            </a:pPr>
            <a:r>
              <a:t>Лучший результат у FLAML (LightGBM): AUC 0.9992, F1 0.9722, время — 119.88 с.</a:t>
            </a:r>
          </a:p>
          <a:p>
            <a:pPr>
              <a:defRPr sz="2600"/>
            </a:pPr>
          </a:p>
          <a:p>
            <a:pPr>
              <a:defRPr sz="2600"/>
            </a:pPr>
            <a:r>
              <a:t>Оценка:  </a:t>
            </a:r>
          </a:p>
          <a:p>
            <a:pPr>
              <a:defRPr sz="2600"/>
            </a:pPr>
            <a:r>
              <a:t>Использовали ROC-AUC, F1 и balanced accuracy, так как в данных дисбаланс: высокий риск — только 18.1% пациентов.</a:t>
            </a:r>
          </a:p>
          <a:p>
            <a:pPr>
              <a:defRPr sz="2600"/>
            </a:pPr>
          </a:p>
          <a:p>
            <a:pPr>
              <a:defRPr sz="2600"/>
            </a:pPr>
            <a:r>
              <a:t>Валидация:  </a:t>
            </a:r>
          </a:p>
          <a:p>
            <a:pPr>
              <a:defRPr sz="2600"/>
            </a:pPr>
            <a:r>
              <a:t>Для SVM и Fuzzy k-NN применяли StratifiedKFold 5 на train, финальную оценку проводили на test-выборке 20%. Средние показатели данных: ИМТ 23.56, глюкоза — 5.07 ммоль/л.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Выводы</a:t>
            </a:r>
          </a:p>
        </p:txBody>
      </p:sp>
      <p:sp>
        <p:nvSpPr>
          <p:cNvPr id="294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95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96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97" name="TextBox 2"/>
          <p:cNvSpPr txBox="1"/>
          <p:nvPr/>
        </p:nvSpPr>
        <p:spPr>
          <a:xfrm>
            <a:off x="1788840" y="8644589"/>
            <a:ext cx="20819881" cy="2930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4000"/>
            </a:pPr>
            <a:r>
              <a:rPr b="1"/>
              <a:t>SVM</a:t>
            </a:r>
            <a:r>
              <a:t>: AUC 0.9634; Fuzzy k-NN: 0.9324 (нечёткие membership); лучший AutoML - FLAML (lgbm) AUC 0.9992. Цикл AutoML: 121.32 с. </a:t>
            </a:r>
          </a:p>
          <a:p>
            <a:pPr>
              <a:defRPr sz="4000"/>
            </a:pPr>
          </a:p>
          <a:p>
            <a:pPr>
              <a:defRPr sz="4000"/>
            </a:pPr>
            <a:r>
              <a:rPr b="1"/>
              <a:t>Прирост AUC AutoML к SVM</a:t>
            </a:r>
            <a:r>
              <a:t>: 3.72% - гипотеза подтверждена (порог ≤5%). Fuzzy k-NN уступает SVM на 3.2% AUC. </a:t>
            </a:r>
          </a:p>
        </p:txBody>
      </p:sp>
      <p:pic>
        <p:nvPicPr>
          <p:cNvPr id="298" name="image12.png" descr="image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59412" y="3794628"/>
            <a:ext cx="10325057" cy="38472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image13.png" descr="image1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566208" y="4181628"/>
            <a:ext cx="7773435" cy="38472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 txBox="1"/>
          <p:nvPr>
            <p:ph type="body" sz="quarter" idx="1"/>
          </p:nvPr>
        </p:nvSpPr>
        <p:spPr>
          <a:xfrm>
            <a:off x="12315240" y="1068839"/>
            <a:ext cx="10897560" cy="1407961"/>
          </a:xfrm>
          <a:prstGeom prst="rect">
            <a:avLst/>
          </a:prstGeom>
        </p:spPr>
        <p:txBody>
          <a:bodyPr/>
          <a:lstStyle>
            <a:lvl1pPr marL="0" indent="431999" algn="ctr">
              <a:lnSpc>
                <a:spcPct val="90000"/>
              </a:lnSpc>
              <a:buSzTx/>
              <a:buFont typeface="Wingdings"/>
              <a:buNone/>
              <a:defRPr sz="5100">
                <a:solidFill>
                  <a:srgbClr val="0E2D69"/>
                </a:solidFill>
              </a:defRPr>
            </a:lvl1pPr>
          </a:lstStyle>
          <a:p>
            <a:pPr/>
            <a:r>
              <a:t>заключение</a:t>
            </a:r>
          </a:p>
        </p:txBody>
      </p:sp>
      <p:sp>
        <p:nvSpPr>
          <p:cNvPr id="302" name="Google Shape;209;p21"/>
          <p:cNvSpPr txBox="1"/>
          <p:nvPr/>
        </p:nvSpPr>
        <p:spPr>
          <a:xfrm>
            <a:off x="1966679" y="994680"/>
            <a:ext cx="5287681" cy="8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lnSpc>
                <a:spcPct val="161000"/>
              </a:lnSpc>
              <a:defRPr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303" name="Google Shape;210;p21"/>
          <p:cNvSpPr txBox="1"/>
          <p:nvPr/>
        </p:nvSpPr>
        <p:spPr>
          <a:xfrm>
            <a:off x="6847920" y="994679"/>
            <a:ext cx="5287680" cy="129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lnSpc>
                <a:spcPct val="161000"/>
              </a:lnSpc>
              <a:defRPr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304" name="PlaceHolder 2"/>
          <p:cNvSpPr txBox="1"/>
          <p:nvPr>
            <p:ph type="sldNum" sz="quarter" idx="4294967295"/>
          </p:nvPr>
        </p:nvSpPr>
        <p:spPr>
          <a:xfrm>
            <a:off x="22357296" y="12835585"/>
            <a:ext cx="350064" cy="4839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5" name="TextBox 3"/>
          <p:cNvSpPr txBox="1"/>
          <p:nvPr/>
        </p:nvSpPr>
        <p:spPr>
          <a:xfrm>
            <a:off x="8175124" y="6387314"/>
            <a:ext cx="8033752" cy="94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4999" tIns="44999" rIns="44999" bIns="44999">
            <a:spAutoFit/>
          </a:bodyPr>
          <a:lstStyle>
            <a:lvl1pPr>
              <a:defRPr sz="6000"/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