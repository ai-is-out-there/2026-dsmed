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7" r:id="rId9"/>
    <p:sldId id="278" r:id="rId10"/>
    <p:sldId id="276" r:id="rId11"/>
    <p:sldId id="270" r:id="rId12"/>
  </p:sldIdLst>
  <p:sldSz cx="24384000" cy="13716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8"/>
    <p:restoredTop sz="95080" autoAdjust="0"/>
  </p:normalViewPr>
  <p:slideViewPr>
    <p:cSldViewPr>
      <p:cViewPr varScale="1">
        <p:scale>
          <a:sx n="53" d="100"/>
          <a:sy n="53" d="100"/>
        </p:scale>
        <p:origin x="936" y="10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A950DAAA-F5CF-2B77-F35A-2E48FC50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3F8AC1C6-81BA-BC6C-A595-995064AAC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C088BF9B-A376-625B-92B0-8B911A69C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961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A950DAAA-F5CF-2B77-F35A-2E48FC50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3F8AC1C6-81BA-BC6C-A595-995064AAC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C088BF9B-A376-625B-92B0-8B911A69C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056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9" y="5091525"/>
            <a:ext cx="141132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19870"/>
              </a:lnSpc>
              <a:spcBef>
                <a:spcPts val="0"/>
              </a:spcBef>
              <a:buClr>
                <a:srgbClr val="2253A1"/>
              </a:buClr>
              <a:buSzPts val="5968"/>
              <a:buNone/>
            </a:pP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Сравнение SVM, </a:t>
            </a:r>
            <a:r>
              <a:rPr lang="ru-RU" sz="51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Fuzzy</a:t>
            </a: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k‑NN и </a:t>
            </a:r>
            <a:r>
              <a:rPr lang="ru-RU" sz="51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AutoML</a:t>
            </a: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для классификации нарушений сердечного ритма по ЭКГ</a:t>
            </a:r>
            <a:endParaRPr lang="ru-RU"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Выполнила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Беликов Андрей Юрьевич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091237" y="2799940"/>
            <a:ext cx="22121837" cy="754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dirty="0">
                <a:latin typeface="+mn-lt"/>
              </a:rPr>
              <a:t>Нарушения сердечного ритма (аритмии) — одна из ведущих причин внезапной сердечной смерти, инсультов и госпитализаций в кардиологические отделения Москвы. Электрокардиография (ЭКГ) остаётся основным неинвазивным методом диагностики, однако её расшифровка требует времени и высокой квалификации врача. Ранее для автоматического анализа ЭКГ использовались методы машинного обучения на ручных признаках (SVM, k‑NN), но нейросетевые и </a:t>
            </a: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-подходы показывают более высокую точность.</a:t>
            </a:r>
            <a:br>
              <a:rPr lang="ru-RU" sz="3200" dirty="0">
                <a:latin typeface="+mn-lt"/>
              </a:rPr>
            </a:br>
            <a:endParaRPr lang="ru-RU" sz="32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ru-RU" sz="3200" b="1" dirty="0">
                <a:solidFill>
                  <a:schemeClr val="tx1"/>
                </a:solidFill>
                <a:latin typeface="+mn-lt"/>
              </a:rPr>
              <a:t>Преимущество нашего решения</a:t>
            </a:r>
            <a:r>
              <a:rPr lang="ru-RU" sz="32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ru-RU" sz="32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3200" dirty="0">
                <a:solidFill>
                  <a:schemeClr val="tx1"/>
                </a:solidFill>
                <a:latin typeface="+mn-lt"/>
              </a:rPr>
              <a:t>В данной работе мы сравниваем три подхода на задаче </a:t>
            </a:r>
            <a:r>
              <a:rPr lang="ru-RU" sz="3200" dirty="0" err="1">
                <a:solidFill>
                  <a:schemeClr val="tx1"/>
                </a:solidFill>
                <a:latin typeface="+mn-lt"/>
              </a:rPr>
              <a:t>многоклассовой</a:t>
            </a:r>
            <a:r>
              <a:rPr lang="ru-RU" sz="3200" dirty="0">
                <a:solidFill>
                  <a:schemeClr val="tx1"/>
                </a:solidFill>
                <a:latin typeface="+mn-lt"/>
              </a:rPr>
              <a:t> классификации нарушений ритма по датасету PTB‑XL. Это позволяет выбрать оптимальный метод для практического применения в системе здравоохранения Москвы.</a:t>
            </a:r>
            <a:endParaRPr lang="en-RU" sz="4400" dirty="0"/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615404" y="2644997"/>
            <a:ext cx="23399741" cy="10674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3200" b="1" dirty="0"/>
              <a:t>Что надо сделать:</a:t>
            </a:r>
            <a:endParaRPr lang="ru-RU" sz="3200" dirty="0"/>
          </a:p>
          <a:p>
            <a:pPr>
              <a:lnSpc>
                <a:spcPct val="120000"/>
              </a:lnSpc>
            </a:pPr>
            <a:r>
              <a:rPr lang="ru-RU" sz="3200" dirty="0"/>
              <a:t>Построить и сравнить несколько моделей, которые по 12-канальной записи ЭКГ (датасет PTB‑XL) классифицируют нарушение ритма по 5 классам: </a:t>
            </a:r>
            <a:br>
              <a:rPr lang="ru-RU" sz="3200" dirty="0"/>
            </a:br>
            <a:r>
              <a:rPr lang="ru-RU" sz="3200" dirty="0"/>
              <a:t>0 – Норма (NORM) </a:t>
            </a:r>
            <a:br>
              <a:rPr lang="ru-RU" sz="3200" dirty="0"/>
            </a:br>
            <a:r>
              <a:rPr lang="ru-RU" sz="3200" dirty="0"/>
              <a:t>1 – Инфаркт миокарда (MI) </a:t>
            </a:r>
            <a:br>
              <a:rPr lang="ru-RU" sz="3200" dirty="0"/>
            </a:br>
            <a:r>
              <a:rPr lang="ru-RU" sz="3200" dirty="0"/>
              <a:t>2 – Гипертрофия левого желудочка (LVH) </a:t>
            </a:r>
            <a:br>
              <a:rPr lang="ru-RU" sz="3200" dirty="0"/>
            </a:br>
            <a:r>
              <a:rPr lang="ru-RU" sz="3200" dirty="0"/>
              <a:t>3 – Фибрилляция предсердий (AFIB) </a:t>
            </a:r>
            <a:br>
              <a:rPr lang="ru-RU" sz="3200" dirty="0"/>
            </a:br>
            <a:r>
              <a:rPr lang="ru-RU" sz="3200" dirty="0"/>
              <a:t>4 – Блокады ножек пучка Гиса (LBBB/RBBB)</a:t>
            </a:r>
          </a:p>
          <a:p>
            <a:pPr>
              <a:lnSpc>
                <a:spcPct val="120000"/>
              </a:lnSpc>
            </a:pPr>
            <a:br>
              <a:rPr lang="ru-RU" sz="3200" dirty="0"/>
            </a:br>
            <a:r>
              <a:rPr lang="ru-RU" sz="3200" b="1" dirty="0"/>
              <a:t>Как оцениваем, что задача решена:</a:t>
            </a:r>
          </a:p>
          <a:p>
            <a:pPr>
              <a:lnSpc>
                <a:spcPct val="120000"/>
              </a:lnSpc>
            </a:pPr>
            <a:r>
              <a:rPr lang="ru-RU" sz="3200" dirty="0"/>
              <a:t>Задача считается решённой, если модель хорошо различает 5 классов нарушений ритма на тестовой выборке. Основные метрики: </a:t>
            </a:r>
            <a:r>
              <a:rPr lang="ru-RU" sz="3200" dirty="0" err="1"/>
              <a:t>Accuracy</a:t>
            </a:r>
            <a:r>
              <a:rPr lang="ru-RU" sz="3200" dirty="0"/>
              <a:t> (общая точность), </a:t>
            </a:r>
            <a:r>
              <a:rPr lang="ru-RU" sz="3200" dirty="0" err="1"/>
              <a:t>Macro</a:t>
            </a:r>
            <a:r>
              <a:rPr lang="ru-RU" sz="3200" dirty="0"/>
              <a:t> F1 (средняя по классам), ROC-AUC (для бинарного разделения «норма </a:t>
            </a:r>
            <a:r>
              <a:rPr lang="ru-RU" sz="3200" dirty="0" err="1"/>
              <a:t>vs</a:t>
            </a:r>
            <a:r>
              <a:rPr lang="ru-RU" sz="3200" dirty="0"/>
              <a:t> патология»). Дополнительно фиксируем время обучения для оценки применимости в реальной клинике.</a:t>
            </a:r>
          </a:p>
          <a:p>
            <a:pPr>
              <a:lnSpc>
                <a:spcPct val="120000"/>
              </a:lnSpc>
            </a:pPr>
            <a:endParaRPr lang="ru-RU" sz="3200" dirty="0"/>
          </a:p>
          <a:p>
            <a:pPr>
              <a:lnSpc>
                <a:spcPct val="120000"/>
              </a:lnSpc>
            </a:pPr>
            <a:r>
              <a:rPr lang="ru-RU" sz="3200" b="1" dirty="0"/>
              <a:t>Научная гипотеза:</a:t>
            </a:r>
          </a:p>
          <a:p>
            <a:pPr>
              <a:lnSpc>
                <a:spcPct val="120000"/>
              </a:lnSpc>
            </a:pPr>
            <a:r>
              <a:rPr lang="ru-RU" sz="3200" dirty="0" err="1"/>
              <a:t>AutoML</a:t>
            </a:r>
            <a:r>
              <a:rPr lang="ru-RU" sz="3200" dirty="0"/>
              <a:t> позволит найти модель с качеством не хуже SVM и </a:t>
            </a:r>
            <a:r>
              <a:rPr lang="ru-RU" sz="3200" dirty="0" err="1"/>
              <a:t>Fuzzy</a:t>
            </a:r>
            <a:r>
              <a:rPr lang="ru-RU" sz="3200" dirty="0"/>
              <a:t> k‑NN, а прирост по ROC-AUC относительно хорошо настроенного SVM не превысит 5 процентных пунктов. При этом </a:t>
            </a:r>
            <a:r>
              <a:rPr lang="ru-RU" sz="3200" dirty="0" err="1"/>
              <a:t>Fuzzy</a:t>
            </a:r>
            <a:r>
              <a:rPr lang="ru-RU" sz="3200" dirty="0"/>
              <a:t> k‑NN обеспечит лучшую интерпретируемость за счёт степеней принадлежности.</a:t>
            </a: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468410" y="2476925"/>
            <a:ext cx="23100853" cy="1535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Ключевые исследования по теме:</a:t>
            </a:r>
          </a:p>
          <a:p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Aguiar de Castro, Giovanna &amp; </a:t>
            </a:r>
            <a:r>
              <a:rPr lang="en-US" sz="3200" dirty="0" err="1"/>
              <a:t>Barioto</a:t>
            </a:r>
            <a:r>
              <a:rPr lang="en-US" sz="3200" dirty="0"/>
              <a:t>, Luiza &amp; Cao, Yu &amp; Moraes Silva, Renato &amp; </a:t>
            </a:r>
            <a:r>
              <a:rPr lang="en-US" sz="3200" dirty="0" err="1"/>
              <a:t>Caseli</a:t>
            </a:r>
            <a:r>
              <a:rPr lang="en-US" sz="3200" dirty="0"/>
              <a:t>, Helena &amp; Machado-Neto, João &amp; Cerri, Ricardo &amp; Villavicencio, Aline &amp; Almeida, Tiago. (2025). Automated Machine Learning in medical research: A systematic literature mapping study. Artificial Intelligence in Medicine. 171. 103302. 10.1016/j.artmed.2025.103302.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Perrone, Ava &amp; </a:t>
            </a:r>
            <a:r>
              <a:rPr lang="en-US" sz="3200" dirty="0" err="1"/>
              <a:t>Khoshgoftaar</a:t>
            </a:r>
            <a:r>
              <a:rPr lang="en-US" sz="3200" dirty="0"/>
              <a:t>, Taghi. (2025). A review of machine learning applications in heart health. </a:t>
            </a:r>
            <a:r>
              <a:rPr lang="en-US" sz="3200" dirty="0" err="1"/>
              <a:t>BioMedical</a:t>
            </a:r>
            <a:r>
              <a:rPr lang="en-US" sz="3200" dirty="0"/>
              <a:t> Engineering </a:t>
            </a:r>
            <a:r>
              <a:rPr lang="en-US" sz="3200" dirty="0" err="1"/>
              <a:t>OnLine</a:t>
            </a:r>
            <a:r>
              <a:rPr lang="en-US" sz="3200" dirty="0"/>
              <a:t>. 24. 10.1186/s12938-025-01430-4.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Keller</a:t>
            </a:r>
            <a:r>
              <a:rPr lang="ru-RU" sz="3200" dirty="0"/>
              <a:t>, J.M., </a:t>
            </a:r>
            <a:r>
              <a:rPr lang="ru-RU" sz="3200" dirty="0" err="1"/>
              <a:t>Gray</a:t>
            </a:r>
            <a:r>
              <a:rPr lang="ru-RU" sz="3200" dirty="0"/>
              <a:t>, M.R.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Givens</a:t>
            </a:r>
            <a:r>
              <a:rPr lang="ru-RU" sz="3200" dirty="0"/>
              <a:t>, J.A. (1985) A </a:t>
            </a:r>
            <a:r>
              <a:rPr lang="ru-RU" sz="3200" dirty="0" err="1"/>
              <a:t>fuzzy</a:t>
            </a:r>
            <a:r>
              <a:rPr lang="ru-RU" sz="3200" dirty="0"/>
              <a:t> k-</a:t>
            </a:r>
            <a:r>
              <a:rPr lang="ru-RU" sz="3200" dirty="0" err="1"/>
              <a:t>nearest</a:t>
            </a:r>
            <a:r>
              <a:rPr lang="ru-RU" sz="3200" dirty="0"/>
              <a:t> </a:t>
            </a:r>
            <a:r>
              <a:rPr lang="ru-RU" sz="3200" dirty="0" err="1"/>
              <a:t>neighbor</a:t>
            </a:r>
            <a:r>
              <a:rPr lang="ru-RU" sz="3200" dirty="0"/>
              <a:t> </a:t>
            </a:r>
            <a:r>
              <a:rPr lang="ru-RU" sz="3200" dirty="0" err="1"/>
              <a:t>algorithm</a:t>
            </a:r>
            <a:r>
              <a:rPr lang="ru-RU" sz="3200" dirty="0"/>
              <a:t>. IEEE </a:t>
            </a:r>
            <a:r>
              <a:rPr lang="ru-RU" sz="3200" dirty="0" err="1"/>
              <a:t>Transactions</a:t>
            </a:r>
            <a:r>
              <a:rPr lang="ru-RU" sz="3200" dirty="0"/>
              <a:t> </a:t>
            </a:r>
            <a:r>
              <a:rPr lang="ru-RU" sz="3200" dirty="0" err="1"/>
              <a:t>on</a:t>
            </a:r>
            <a:r>
              <a:rPr lang="ru-RU" sz="3200" dirty="0"/>
              <a:t> Systems, Man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Cybernetics</a:t>
            </a:r>
            <a:r>
              <a:rPr lang="ru-RU" sz="3200" dirty="0"/>
              <a:t>, SMC-15(4), 580.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Hussein, Dhoha &amp; </a:t>
            </a:r>
            <a:r>
              <a:rPr lang="en-US" sz="3200" dirty="0" err="1"/>
              <a:t>Alhumaima</a:t>
            </a:r>
            <a:r>
              <a:rPr lang="en-US" sz="3200" dirty="0"/>
              <a:t>, Ali &amp; </a:t>
            </a:r>
            <a:r>
              <a:rPr lang="en-US" sz="3200" dirty="0" err="1"/>
              <a:t>Alkattan</a:t>
            </a:r>
            <a:r>
              <a:rPr lang="en-US" sz="3200" dirty="0"/>
              <a:t>, Hussein &amp; </a:t>
            </a:r>
            <a:r>
              <a:rPr lang="en-US" sz="3200" dirty="0" err="1"/>
              <a:t>Abotaleb</a:t>
            </a:r>
            <a:r>
              <a:rPr lang="en-US" sz="3200" dirty="0"/>
              <a:t>, Mostafa. (2026). Performance Evaluation of Logistic Regression, Random Forest, and SVM Models in Heart Disease Prediction. 4. 10.15157/JTSE.2026.4.1.522-537.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Rimal</a:t>
            </a:r>
            <a:r>
              <a:rPr lang="ru-RU" sz="3200" dirty="0"/>
              <a:t> Y, </a:t>
            </a:r>
            <a:r>
              <a:rPr lang="ru-RU" sz="3200" dirty="0" err="1"/>
              <a:t>Sharma</a:t>
            </a:r>
            <a:r>
              <a:rPr lang="ru-RU" sz="3200" dirty="0"/>
              <a:t> N, </a:t>
            </a:r>
            <a:r>
              <a:rPr lang="ru-RU" sz="3200" dirty="0" err="1"/>
              <a:t>Paudel</a:t>
            </a:r>
            <a:r>
              <a:rPr lang="ru-RU" sz="3200" dirty="0"/>
              <a:t> S, </a:t>
            </a:r>
            <a:r>
              <a:rPr lang="ru-RU" sz="3200" dirty="0" err="1"/>
              <a:t>Alsadoon</a:t>
            </a:r>
            <a:r>
              <a:rPr lang="ru-RU" sz="3200" dirty="0"/>
              <a:t> A, </a:t>
            </a:r>
            <a:r>
              <a:rPr lang="ru-RU" sz="3200" dirty="0" err="1"/>
              <a:t>Koirala</a:t>
            </a:r>
            <a:r>
              <a:rPr lang="ru-RU" sz="3200" dirty="0"/>
              <a:t> MP, </a:t>
            </a:r>
            <a:r>
              <a:rPr lang="ru-RU" sz="3200" dirty="0" err="1"/>
              <a:t>Gill</a:t>
            </a:r>
            <a:r>
              <a:rPr lang="ru-RU" sz="3200" dirty="0"/>
              <a:t> S. </a:t>
            </a:r>
            <a:r>
              <a:rPr lang="ru-RU" sz="3200" dirty="0" err="1"/>
              <a:t>Comparative</a:t>
            </a:r>
            <a:r>
              <a:rPr lang="ru-RU" sz="3200" dirty="0"/>
              <a:t> </a:t>
            </a:r>
            <a:r>
              <a:rPr lang="ru-RU" sz="3200" dirty="0" err="1"/>
              <a:t>analysis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heart</a:t>
            </a:r>
            <a:r>
              <a:rPr lang="ru-RU" sz="3200" dirty="0"/>
              <a:t> </a:t>
            </a:r>
            <a:r>
              <a:rPr lang="ru-RU" sz="3200" dirty="0" err="1"/>
              <a:t>disease</a:t>
            </a:r>
            <a:r>
              <a:rPr lang="ru-RU" sz="3200" dirty="0"/>
              <a:t> </a:t>
            </a:r>
            <a:r>
              <a:rPr lang="ru-RU" sz="3200" dirty="0" err="1"/>
              <a:t>prediction</a:t>
            </a:r>
            <a:r>
              <a:rPr lang="ru-RU" sz="3200" dirty="0"/>
              <a:t> </a:t>
            </a:r>
            <a:r>
              <a:rPr lang="ru-RU" sz="3200" dirty="0" err="1"/>
              <a:t>using</a:t>
            </a:r>
            <a:r>
              <a:rPr lang="ru-RU" sz="3200" dirty="0"/>
              <a:t> </a:t>
            </a:r>
            <a:r>
              <a:rPr lang="ru-RU" sz="3200" dirty="0" err="1"/>
              <a:t>logistic</a:t>
            </a:r>
            <a:r>
              <a:rPr lang="ru-RU" sz="3200" dirty="0"/>
              <a:t> </a:t>
            </a:r>
            <a:r>
              <a:rPr lang="ru-RU" sz="3200" dirty="0" err="1"/>
              <a:t>regression</a:t>
            </a:r>
            <a:r>
              <a:rPr lang="ru-RU" sz="3200" dirty="0"/>
              <a:t>, SVM, KNN,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random</a:t>
            </a:r>
            <a:r>
              <a:rPr lang="ru-RU" sz="3200" dirty="0"/>
              <a:t> </a:t>
            </a:r>
            <a:r>
              <a:rPr lang="ru-RU" sz="3200" dirty="0" err="1"/>
              <a:t>forest</a:t>
            </a:r>
            <a:r>
              <a:rPr lang="ru-RU" sz="3200" dirty="0"/>
              <a:t> </a:t>
            </a:r>
            <a:r>
              <a:rPr lang="ru-RU" sz="3200" dirty="0" err="1"/>
              <a:t>with</a:t>
            </a:r>
            <a:r>
              <a:rPr lang="ru-RU" sz="3200" dirty="0"/>
              <a:t> </a:t>
            </a:r>
            <a:r>
              <a:rPr lang="ru-RU" sz="3200" dirty="0" err="1"/>
              <a:t>cross-validation</a:t>
            </a:r>
            <a:r>
              <a:rPr lang="ru-RU" sz="3200" dirty="0"/>
              <a:t> </a:t>
            </a:r>
            <a:r>
              <a:rPr lang="ru-RU" sz="3200" dirty="0" err="1"/>
              <a:t>for</a:t>
            </a:r>
            <a:r>
              <a:rPr lang="ru-RU" sz="3200" dirty="0"/>
              <a:t> </a:t>
            </a:r>
            <a:r>
              <a:rPr lang="ru-RU" sz="3200" dirty="0" err="1"/>
              <a:t>improved</a:t>
            </a:r>
            <a:r>
              <a:rPr lang="ru-RU" sz="3200" dirty="0"/>
              <a:t> </a:t>
            </a:r>
            <a:r>
              <a:rPr lang="ru-RU" sz="3200" dirty="0" err="1"/>
              <a:t>accuracy</a:t>
            </a:r>
            <a:r>
              <a:rPr lang="ru-RU" sz="3200" dirty="0"/>
              <a:t>. </a:t>
            </a:r>
            <a:r>
              <a:rPr lang="ru-RU" sz="3200" dirty="0" err="1"/>
              <a:t>Sci</a:t>
            </a:r>
            <a:r>
              <a:rPr lang="ru-RU" sz="3200" dirty="0"/>
              <a:t> </a:t>
            </a:r>
            <a:r>
              <a:rPr lang="ru-RU" sz="3200" dirty="0" err="1"/>
              <a:t>Rep</a:t>
            </a:r>
            <a:r>
              <a:rPr lang="ru-RU" sz="3200" dirty="0"/>
              <a:t>. 2025 </a:t>
            </a:r>
            <a:r>
              <a:rPr lang="ru-RU" sz="3200" dirty="0" err="1"/>
              <a:t>Apr</a:t>
            </a:r>
            <a:r>
              <a:rPr lang="ru-RU" sz="3200" dirty="0"/>
              <a:t> 18;15(1):13444. </a:t>
            </a:r>
            <a:r>
              <a:rPr lang="ru-RU" sz="3200" dirty="0" err="1"/>
              <a:t>doi</a:t>
            </a:r>
            <a:r>
              <a:rPr lang="ru-RU" sz="3200" dirty="0"/>
              <a:t>: 10.1038/s41598-025-93675-1. </a:t>
            </a:r>
            <a:r>
              <a:rPr lang="ru-RU" sz="3200" dirty="0" err="1"/>
              <a:t>Retraction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: </a:t>
            </a:r>
            <a:r>
              <a:rPr lang="ru-RU" sz="3200" dirty="0" err="1"/>
              <a:t>Sci</a:t>
            </a:r>
            <a:r>
              <a:rPr lang="ru-RU" sz="3200" dirty="0"/>
              <a:t> </a:t>
            </a:r>
            <a:r>
              <a:rPr lang="ru-RU" sz="3200" dirty="0" err="1"/>
              <a:t>Rep</a:t>
            </a:r>
            <a:r>
              <a:rPr lang="ru-RU" sz="3200" dirty="0"/>
              <a:t>. 2026 </a:t>
            </a:r>
            <a:r>
              <a:rPr lang="ru-RU" sz="3200" dirty="0" err="1"/>
              <a:t>Apr</a:t>
            </a:r>
            <a:r>
              <a:rPr lang="ru-RU" sz="3200" dirty="0"/>
              <a:t> 20;16(1):12866. </a:t>
            </a:r>
            <a:r>
              <a:rPr lang="ru-RU" sz="3200" dirty="0" err="1"/>
              <a:t>doi</a:t>
            </a:r>
            <a:r>
              <a:rPr lang="ru-RU" sz="3200" dirty="0"/>
              <a:t>: 10.1038/s41598-026-49307-3. PMID: 40251253; PMCID: PMC12008431.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Banerjee</a:t>
            </a:r>
            <a:r>
              <a:rPr lang="ru-RU" sz="3200" dirty="0"/>
              <a:t> T, </a:t>
            </a:r>
            <a:r>
              <a:rPr lang="ru-RU" sz="3200" dirty="0" err="1"/>
              <a:t>Paçal</a:t>
            </a:r>
            <a:r>
              <a:rPr lang="ru-RU" sz="3200" dirty="0"/>
              <a:t> İ. A </a:t>
            </a:r>
            <a:r>
              <a:rPr lang="ru-RU" sz="3200" dirty="0" err="1"/>
              <a:t>systematic</a:t>
            </a:r>
            <a:r>
              <a:rPr lang="ru-RU" sz="3200" dirty="0"/>
              <a:t> </a:t>
            </a:r>
            <a:r>
              <a:rPr lang="ru-RU" sz="3200" dirty="0" err="1"/>
              <a:t>review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machine</a:t>
            </a:r>
            <a:r>
              <a:rPr lang="ru-RU" sz="3200" dirty="0"/>
              <a:t> </a:t>
            </a:r>
            <a:r>
              <a:rPr lang="ru-RU" sz="3200" dirty="0" err="1"/>
              <a:t>learning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heart</a:t>
            </a:r>
            <a:r>
              <a:rPr lang="ru-RU" sz="3200" dirty="0"/>
              <a:t> </a:t>
            </a:r>
            <a:r>
              <a:rPr lang="ru-RU" sz="3200" dirty="0" err="1"/>
              <a:t>disease</a:t>
            </a:r>
            <a:r>
              <a:rPr lang="ru-RU" sz="3200" dirty="0"/>
              <a:t> </a:t>
            </a:r>
            <a:r>
              <a:rPr lang="ru-RU" sz="3200" dirty="0" err="1"/>
              <a:t>prediction</a:t>
            </a:r>
            <a:r>
              <a:rPr lang="ru-RU" sz="3200" dirty="0"/>
              <a:t>. </a:t>
            </a:r>
            <a:r>
              <a:rPr lang="ru-RU" sz="3200" dirty="0" err="1"/>
              <a:t>Turk</a:t>
            </a:r>
            <a:r>
              <a:rPr lang="ru-RU" sz="3200" dirty="0"/>
              <a:t> J </a:t>
            </a:r>
            <a:r>
              <a:rPr lang="ru-RU" sz="3200" dirty="0" err="1"/>
              <a:t>Biol</a:t>
            </a:r>
            <a:r>
              <a:rPr lang="ru-RU" sz="3200" dirty="0"/>
              <a:t>. 2025 </a:t>
            </a:r>
            <a:r>
              <a:rPr lang="ru-RU" sz="3200" dirty="0" err="1"/>
              <a:t>Sep</a:t>
            </a:r>
            <a:r>
              <a:rPr lang="ru-RU" sz="3200" dirty="0"/>
              <a:t> 11;49(5):600-634. </a:t>
            </a:r>
            <a:r>
              <a:rPr lang="ru-RU" sz="3200" dirty="0" err="1"/>
              <a:t>doi</a:t>
            </a:r>
            <a:r>
              <a:rPr lang="ru-RU" sz="3200" dirty="0"/>
              <a:t>: 10.55730/1300-0152.2766. PMID: 41246228; PMCID: PMC12614364.</a:t>
            </a:r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886744" y="2551025"/>
            <a:ext cx="22610512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Ключевые теоретические положения: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Задача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многоклассовой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классификации ЭКГ</a:t>
            </a:r>
            <a:b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 12-канальному временному ряду (10 секунд) нужно отнести запись к одному из 5 классов. Классы имеют клиническую значимость и различную частоту встречаемости.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SVM (метод опорных векторов)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Строит гиперплоскость, максимально разделяющую классы. Используем RBF-ядро (для нелинейных зависимостей). Параметры (C,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gamma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) подбираем через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GridSearchCV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. SVM даёт жёсткую классификацию и не оценивает неопределённость.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k‑NN (нечёткий метод ближайших соседей)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Для нового объекта находим k ближайших соседей и назначаем степени принадлежности к каждому классу, обратно пропорциональные расстоянию. Сумма степеней = 1. Возвращает не только класс, но и «уверенность» (вероятности). Параметры: k = 7, m = 2.0.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AutoML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(FLAML)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Автоматический перебор моделей (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Forest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) и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гиперпараметров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с оптимизацией по ROC-AUC.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Метрики оценки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Из-за дисбаланса классов используем: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F1,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F1, ROC-AUC (бинарный),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, время 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3200" dirty="0" err="1"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endParaRPr 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390800" y="3257600"/>
            <a:ext cx="20910173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+mn-lt"/>
              </a:rPr>
              <a:t>Датасет:</a:t>
            </a:r>
            <a:endParaRPr lang="ru-RU" sz="3200" dirty="0">
              <a:latin typeface="+mn-lt"/>
            </a:endParaRPr>
          </a:p>
          <a:p>
            <a:r>
              <a:rPr lang="ru-RU" sz="3200" dirty="0">
                <a:latin typeface="+mn-lt"/>
              </a:rPr>
              <a:t>PTB‑XL – 21 837 записей ЭКГ, 12 отведений, 10 секунд. Для SVM и </a:t>
            </a:r>
            <a:r>
              <a:rPr lang="ru-RU" sz="3200" dirty="0" err="1">
                <a:latin typeface="+mn-lt"/>
              </a:rPr>
              <a:t>Fuzzy</a:t>
            </a:r>
            <a:r>
              <a:rPr lang="ru-RU" sz="3200" dirty="0">
                <a:latin typeface="+mn-lt"/>
              </a:rPr>
              <a:t> k‑NN извлекаются ручные признаки (ЧСС, амплитуды зубцов, интервалы). Используется </a:t>
            </a:r>
            <a:r>
              <a:rPr lang="ru-RU" sz="3200" dirty="0" err="1">
                <a:latin typeface="+mn-lt"/>
              </a:rPr>
              <a:t>предобработанная</a:t>
            </a:r>
            <a:r>
              <a:rPr lang="ru-RU" sz="3200" dirty="0">
                <a:latin typeface="+mn-lt"/>
              </a:rPr>
              <a:t> версия датасета.</a:t>
            </a:r>
          </a:p>
          <a:p>
            <a:endParaRPr lang="ru-RU" sz="3200" dirty="0">
              <a:latin typeface="+mn-lt"/>
            </a:endParaRPr>
          </a:p>
          <a:p>
            <a:r>
              <a:rPr lang="ru-RU" sz="3200" b="1" dirty="0">
                <a:latin typeface="+mn-lt"/>
              </a:rPr>
              <a:t>Шаги обработки данных и обучения моделей:</a:t>
            </a:r>
            <a:endParaRPr lang="ru-RU" sz="32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+mn-lt"/>
              </a:rPr>
              <a:t>Загрузка и предобработка:</a:t>
            </a:r>
            <a:br>
              <a:rPr lang="ru-RU" sz="3200" b="1" dirty="0">
                <a:latin typeface="+mn-lt"/>
              </a:rPr>
            </a:br>
            <a:r>
              <a:rPr lang="ru-RU" sz="3200" dirty="0">
                <a:latin typeface="+mn-lt"/>
              </a:rPr>
              <a:t>Нормализация признаков (</a:t>
            </a:r>
            <a:r>
              <a:rPr lang="ru-RU" sz="3200" dirty="0" err="1">
                <a:latin typeface="+mn-lt"/>
              </a:rPr>
              <a:t>StandardScaler</a:t>
            </a:r>
            <a:r>
              <a:rPr lang="ru-RU" sz="3200" dirty="0">
                <a:latin typeface="+mn-lt"/>
              </a:rPr>
              <a:t>)</a:t>
            </a:r>
            <a:br>
              <a:rPr lang="ru-RU" sz="3200" dirty="0">
                <a:latin typeface="+mn-lt"/>
              </a:rPr>
            </a:br>
            <a:r>
              <a:rPr lang="ru-RU" sz="3200" dirty="0">
                <a:latin typeface="+mn-lt"/>
              </a:rPr>
              <a:t>Заполнение пропусков (медиана)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+mn-lt"/>
              </a:rPr>
              <a:t>Разделение данных:</a:t>
            </a:r>
            <a:br>
              <a:rPr lang="ru-RU" sz="3200" b="1" dirty="0">
                <a:latin typeface="+mn-lt"/>
              </a:rPr>
            </a:br>
            <a:r>
              <a:rPr lang="ru-RU" sz="3200" dirty="0">
                <a:latin typeface="+mn-lt"/>
              </a:rPr>
              <a:t>Обучающая – 70%, </a:t>
            </a:r>
            <a:r>
              <a:rPr lang="ru-RU" sz="3200" dirty="0" err="1">
                <a:latin typeface="+mn-lt"/>
              </a:rPr>
              <a:t>валидационная</a:t>
            </a:r>
            <a:r>
              <a:rPr lang="ru-RU" sz="3200" dirty="0">
                <a:latin typeface="+mn-lt"/>
              </a:rPr>
              <a:t> – 15%, тестовая – 15%</a:t>
            </a:r>
            <a:br>
              <a:rPr lang="ru-RU" sz="3200" dirty="0">
                <a:latin typeface="+mn-lt"/>
              </a:rPr>
            </a:br>
            <a:r>
              <a:rPr lang="ru-RU" sz="3200" dirty="0">
                <a:latin typeface="+mn-lt"/>
              </a:rPr>
              <a:t>Стратифицированное разбиение по классам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+mn-lt"/>
              </a:rPr>
              <a:t>Обучение и подбор </a:t>
            </a:r>
            <a:r>
              <a:rPr lang="ru-RU" sz="3200" b="1" dirty="0" err="1">
                <a:latin typeface="+mn-lt"/>
              </a:rPr>
              <a:t>гиперпараметров</a:t>
            </a:r>
            <a:r>
              <a:rPr lang="ru-RU" sz="3200" b="1" dirty="0">
                <a:latin typeface="+mn-lt"/>
              </a:rPr>
              <a:t>:</a:t>
            </a:r>
            <a:br>
              <a:rPr lang="ru-RU" sz="3200" dirty="0">
                <a:latin typeface="+mn-lt"/>
              </a:rPr>
            </a:br>
            <a:r>
              <a:rPr lang="ru-RU" sz="3200" b="1" dirty="0">
                <a:latin typeface="+mn-lt"/>
              </a:rPr>
              <a:t>SVM:</a:t>
            </a:r>
            <a:r>
              <a:rPr lang="ru-RU" sz="3200" dirty="0">
                <a:latin typeface="+mn-lt"/>
              </a:rPr>
              <a:t> </a:t>
            </a:r>
            <a:r>
              <a:rPr lang="ru-RU" sz="3200" dirty="0" err="1">
                <a:latin typeface="+mn-lt"/>
              </a:rPr>
              <a:t>GridSearchCV</a:t>
            </a:r>
            <a:r>
              <a:rPr lang="ru-RU" sz="3200" dirty="0">
                <a:latin typeface="+mn-lt"/>
              </a:rPr>
              <a:t> (C, </a:t>
            </a:r>
            <a:r>
              <a:rPr lang="ru-RU" sz="3200" dirty="0" err="1">
                <a:latin typeface="+mn-lt"/>
              </a:rPr>
              <a:t>gamma</a:t>
            </a:r>
            <a:r>
              <a:rPr lang="ru-RU" sz="3200" dirty="0">
                <a:latin typeface="+mn-lt"/>
              </a:rPr>
              <a:t>), 5‑fold </a:t>
            </a:r>
            <a:r>
              <a:rPr lang="ru-RU" sz="3200" dirty="0" err="1">
                <a:latin typeface="+mn-lt"/>
              </a:rPr>
              <a:t>StratifiedKFold</a:t>
            </a:r>
            <a:br>
              <a:rPr lang="ru-RU" sz="3200" dirty="0">
                <a:latin typeface="+mn-lt"/>
              </a:rPr>
            </a:br>
            <a:r>
              <a:rPr lang="ru-RU" sz="3200" b="1" dirty="0" err="1">
                <a:latin typeface="+mn-lt"/>
              </a:rPr>
              <a:t>Fuzzy</a:t>
            </a:r>
            <a:r>
              <a:rPr lang="ru-RU" sz="3200" b="1" dirty="0">
                <a:latin typeface="+mn-lt"/>
              </a:rPr>
              <a:t> k‑NN:</a:t>
            </a:r>
            <a:r>
              <a:rPr lang="ru-RU" sz="3200" dirty="0">
                <a:latin typeface="+mn-lt"/>
              </a:rPr>
              <a:t> перебор k и m</a:t>
            </a:r>
            <a:br>
              <a:rPr lang="ru-RU" sz="3200" dirty="0">
                <a:latin typeface="+mn-lt"/>
              </a:rPr>
            </a:br>
            <a:r>
              <a:rPr lang="ru-RU" sz="3200" b="1" dirty="0" err="1">
                <a:latin typeface="+mn-lt"/>
              </a:rPr>
              <a:t>AutoML</a:t>
            </a:r>
            <a:r>
              <a:rPr lang="ru-RU" sz="3200" b="1" dirty="0">
                <a:latin typeface="+mn-lt"/>
              </a:rPr>
              <a:t> (FLAML):</a:t>
            </a:r>
            <a:r>
              <a:rPr lang="ru-RU" sz="3200" dirty="0">
                <a:latin typeface="+mn-lt"/>
              </a:rPr>
              <a:t> автоматический перебор, время бюджета = 120 сек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latin typeface="+mn-lt"/>
              </a:rPr>
              <a:t>Финальная оценка:</a:t>
            </a:r>
            <a:br>
              <a:rPr lang="ru-RU" sz="3200" dirty="0">
                <a:latin typeface="+mn-lt"/>
              </a:rPr>
            </a:br>
            <a:r>
              <a:rPr lang="ru-RU" sz="3200" dirty="0">
                <a:latin typeface="+mn-lt"/>
              </a:rPr>
              <a:t>Все три метода запускаются на тестовой выборке. Фиксируем </a:t>
            </a:r>
            <a:r>
              <a:rPr lang="ru-RU" sz="3200" dirty="0" err="1">
                <a:latin typeface="+mn-lt"/>
              </a:rPr>
              <a:t>Accuracy</a:t>
            </a:r>
            <a:r>
              <a:rPr lang="ru-RU" sz="3200" dirty="0">
                <a:latin typeface="+mn-lt"/>
              </a:rPr>
              <a:t>, </a:t>
            </a:r>
            <a:r>
              <a:rPr lang="ru-RU" sz="3200" dirty="0" err="1">
                <a:latin typeface="+mn-lt"/>
              </a:rPr>
              <a:t>Macro</a:t>
            </a:r>
            <a:r>
              <a:rPr lang="ru-RU" sz="3200" dirty="0">
                <a:latin typeface="+mn-lt"/>
              </a:rPr>
              <a:t> F1, </a:t>
            </a:r>
            <a:r>
              <a:rPr lang="ru-RU" sz="3200" dirty="0" err="1">
                <a:latin typeface="+mn-lt"/>
              </a:rPr>
              <a:t>Weighted</a:t>
            </a:r>
            <a:r>
              <a:rPr lang="ru-RU" sz="3200" dirty="0">
                <a:latin typeface="+mn-lt"/>
              </a:rPr>
              <a:t> F1, ROC-AUC, время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BA23365-293C-7AAE-5E02-190CBE0BA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486192"/>
              </p:ext>
            </p:extLst>
          </p:nvPr>
        </p:nvGraphicFramePr>
        <p:xfrm>
          <a:off x="2182888" y="3094430"/>
          <a:ext cx="19514407" cy="496855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877035">
                  <a:extLst>
                    <a:ext uri="{9D8B030D-6E8A-4147-A177-3AD203B41FA5}">
                      <a16:colId xmlns:a16="http://schemas.microsoft.com/office/drawing/2014/main" val="1772212617"/>
                    </a:ext>
                  </a:extLst>
                </a:gridCol>
                <a:gridCol w="2627767">
                  <a:extLst>
                    <a:ext uri="{9D8B030D-6E8A-4147-A177-3AD203B41FA5}">
                      <a16:colId xmlns:a16="http://schemas.microsoft.com/office/drawing/2014/main" val="1895848130"/>
                    </a:ext>
                  </a:extLst>
                </a:gridCol>
                <a:gridCol w="2800082">
                  <a:extLst>
                    <a:ext uri="{9D8B030D-6E8A-4147-A177-3AD203B41FA5}">
                      <a16:colId xmlns:a16="http://schemas.microsoft.com/office/drawing/2014/main" val="164211986"/>
                    </a:ext>
                  </a:extLst>
                </a:gridCol>
                <a:gridCol w="2972394">
                  <a:extLst>
                    <a:ext uri="{9D8B030D-6E8A-4147-A177-3AD203B41FA5}">
                      <a16:colId xmlns:a16="http://schemas.microsoft.com/office/drawing/2014/main" val="1398779354"/>
                    </a:ext>
                  </a:extLst>
                </a:gridCol>
                <a:gridCol w="3101628">
                  <a:extLst>
                    <a:ext uri="{9D8B030D-6E8A-4147-A177-3AD203B41FA5}">
                      <a16:colId xmlns:a16="http://schemas.microsoft.com/office/drawing/2014/main" val="475719975"/>
                    </a:ext>
                  </a:extLst>
                </a:gridCol>
                <a:gridCol w="4135501">
                  <a:extLst>
                    <a:ext uri="{9D8B030D-6E8A-4147-A177-3AD203B41FA5}">
                      <a16:colId xmlns:a16="http://schemas.microsoft.com/office/drawing/2014/main" val="2690372413"/>
                    </a:ext>
                  </a:extLst>
                </a:gridCol>
              </a:tblGrid>
              <a:tr h="1242138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Метод</a:t>
                      </a:r>
                      <a:endParaRPr lang="ru-RU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Accuracy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Macro F1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Weighted F1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ROC-AUC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Время обучения</a:t>
                      </a:r>
                      <a:endParaRPr lang="ru-RU" sz="3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522695"/>
                  </a:ext>
                </a:extLst>
              </a:tr>
              <a:tr h="1242138">
                <a:tc>
                  <a:txBody>
                    <a:bodyPr/>
                    <a:lstStyle/>
                    <a:p>
                      <a:r>
                        <a:rPr lang="en-US" sz="3600" b="0" dirty="0"/>
                        <a:t>SVM (RBF)</a:t>
                      </a:r>
                      <a:endParaRPr lang="ru-RU" sz="3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0.9800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0.9745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0.9798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0.9986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8.23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387745"/>
                  </a:ext>
                </a:extLst>
              </a:tr>
              <a:tr h="1242138">
                <a:tc>
                  <a:txBody>
                    <a:bodyPr/>
                    <a:lstStyle/>
                    <a:p>
                      <a:r>
                        <a:rPr lang="en-US" sz="3600" b="0" dirty="0"/>
                        <a:t>Fuzzy k‑NN</a:t>
                      </a:r>
                      <a:endParaRPr lang="ru-RU" sz="3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0.9667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0.9538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0.9665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0.9964 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0.26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772773"/>
                  </a:ext>
                </a:extLst>
              </a:tr>
              <a:tr h="1242138">
                <a:tc>
                  <a:txBody>
                    <a:bodyPr/>
                    <a:lstStyle/>
                    <a:p>
                      <a:r>
                        <a:rPr lang="en-US" sz="3600" b="0" dirty="0" err="1"/>
                        <a:t>AutoML</a:t>
                      </a:r>
                      <a:r>
                        <a:rPr lang="en-US" sz="3600" b="0" dirty="0"/>
                        <a:t> (FLAML)</a:t>
                      </a:r>
                      <a:endParaRPr lang="ru-RU" sz="3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0.9800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0.9745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>
                          <a:effectLst/>
                        </a:rPr>
                        <a:t>0.9798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0.9979 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0" dirty="0"/>
                        <a:t>119.95</a:t>
                      </a:r>
                      <a:endParaRPr lang="ru-RU" sz="4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969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F72B8C-5C09-0FF4-7CC3-16089B15BEEC}"/>
              </a:ext>
            </a:extLst>
          </p:cNvPr>
          <p:cNvSpPr txBox="1"/>
          <p:nvPr/>
        </p:nvSpPr>
        <p:spPr>
          <a:xfrm>
            <a:off x="2192920" y="8946232"/>
            <a:ext cx="176439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Ключевые выводы по метрикам: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SVM и </a:t>
            </a:r>
            <a:r>
              <a:rPr lang="ru-RU" sz="3200" dirty="0" err="1"/>
              <a:t>AutoML</a:t>
            </a:r>
            <a:r>
              <a:rPr lang="ru-RU" sz="3200" dirty="0"/>
              <a:t> показали одинаковую точность (0.9800) и </a:t>
            </a:r>
            <a:r>
              <a:rPr lang="ru-RU" sz="3200" dirty="0" err="1"/>
              <a:t>Macro</a:t>
            </a:r>
            <a:r>
              <a:rPr lang="ru-RU" sz="3200" dirty="0"/>
              <a:t> F1 (0.9745)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SVM имеет небольшое преимущество по ROC-AUC (0.9986 против 0.9979 у </a:t>
            </a:r>
            <a:r>
              <a:rPr lang="ru-RU" sz="3200" dirty="0" err="1"/>
              <a:t>AutoML</a:t>
            </a:r>
            <a:r>
              <a:rPr lang="ru-RU" sz="3200" dirty="0"/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/>
              <a:t>AutoML</a:t>
            </a:r>
            <a:r>
              <a:rPr lang="ru-RU" sz="3200" dirty="0"/>
              <a:t> обучается значительно дольше (120 сек против 8 сек у SVM)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/>
              <a:t>Fuzzy</a:t>
            </a:r>
            <a:r>
              <a:rPr lang="ru-RU" sz="3200" dirty="0"/>
              <a:t> k‑NN обучается мгновенно (0.26 сек) и даёт интерпретируемые вероятности</a:t>
            </a:r>
          </a:p>
        </p:txBody>
      </p:sp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3B4D562E-3270-B8B7-B684-3FB969F8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D1D16919-E84A-C401-B9B7-91B850471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C3B502B8-B9FD-C015-42B6-516FBF832E9E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62161324-6CC9-2C58-0194-59CE870BF6E5}"/>
              </a:ext>
            </a:extLst>
          </p:cNvPr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C953E-21AC-4DA7-8FAA-8C1BE70000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3CD06-3BA6-FC1D-6797-C5DC684E309F}"/>
              </a:ext>
            </a:extLst>
          </p:cNvPr>
          <p:cNvSpPr txBox="1"/>
          <p:nvPr/>
        </p:nvSpPr>
        <p:spPr>
          <a:xfrm>
            <a:off x="1030760" y="9519410"/>
            <a:ext cx="99584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ROC-</a:t>
            </a:r>
            <a:r>
              <a:rPr lang="ru-RU" sz="2400" dirty="0">
                <a:latin typeface="+mn-lt"/>
              </a:rPr>
              <a:t>кривые для бинарной классификации (норма </a:t>
            </a:r>
            <a:r>
              <a:rPr lang="en-US" sz="2400" dirty="0">
                <a:latin typeface="+mn-lt"/>
              </a:rPr>
              <a:t>vs </a:t>
            </a:r>
            <a:r>
              <a:rPr lang="ru-RU" sz="2400" dirty="0">
                <a:latin typeface="+mn-lt"/>
              </a:rPr>
              <a:t>патология) - </a:t>
            </a:r>
            <a:r>
              <a:rPr lang="en-US" sz="2400" dirty="0">
                <a:latin typeface="+mn-lt"/>
              </a:rPr>
              <a:t>SVM: AUC = 0.9986 - Fuzzy k‑NN: AUC = 0.9964 - </a:t>
            </a:r>
            <a:r>
              <a:rPr lang="en-US" sz="2400" dirty="0" err="1">
                <a:latin typeface="+mn-lt"/>
              </a:rPr>
              <a:t>AutoML</a:t>
            </a:r>
            <a:r>
              <a:rPr lang="en-US" sz="2400" dirty="0">
                <a:latin typeface="+mn-lt"/>
              </a:rPr>
              <a:t>: AUC = 0.9979 → </a:t>
            </a:r>
            <a:r>
              <a:rPr lang="ru-RU" sz="2400" dirty="0">
                <a:latin typeface="+mn-lt"/>
              </a:rPr>
              <a:t>Все модели отлично разделяют классы (</a:t>
            </a:r>
            <a:r>
              <a:rPr lang="en-US" sz="2400" dirty="0">
                <a:latin typeface="+mn-lt"/>
              </a:rPr>
              <a:t>AUC &gt; 0.996) </a:t>
            </a:r>
            <a:endParaRPr lang="ru-RU" sz="2400" dirty="0">
              <a:latin typeface="+mn-lt"/>
            </a:endParaRPr>
          </a:p>
          <a:p>
            <a:endParaRPr lang="ru-RU" sz="24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latin typeface="+mn-lt"/>
              </a:rPr>
              <a:t>Матрицы ошибок (</a:t>
            </a:r>
            <a:r>
              <a:rPr lang="en-US" sz="2400" dirty="0">
                <a:latin typeface="+mn-lt"/>
              </a:rPr>
              <a:t>Confusion Matrices) - SVM: </a:t>
            </a:r>
            <a:r>
              <a:rPr lang="ru-RU" sz="2400" dirty="0">
                <a:latin typeface="+mn-lt"/>
              </a:rPr>
              <a:t>всего 3 ошибки на 150 тестовых образцах - </a:t>
            </a:r>
            <a:r>
              <a:rPr lang="en-US" sz="2400" dirty="0">
                <a:latin typeface="+mn-lt"/>
              </a:rPr>
              <a:t>Fuzzy k‑NN: 5 </a:t>
            </a:r>
            <a:r>
              <a:rPr lang="ru-RU" sz="2400" dirty="0">
                <a:latin typeface="+mn-lt"/>
              </a:rPr>
              <a:t>ошибок - </a:t>
            </a:r>
            <a:r>
              <a:rPr lang="en-US" sz="2400" dirty="0" err="1">
                <a:latin typeface="+mn-lt"/>
              </a:rPr>
              <a:t>AutoML</a:t>
            </a:r>
            <a:r>
              <a:rPr lang="en-US" sz="2400" dirty="0">
                <a:latin typeface="+mn-lt"/>
              </a:rPr>
              <a:t>: 3 </a:t>
            </a:r>
            <a:r>
              <a:rPr lang="ru-RU" sz="2400" dirty="0">
                <a:latin typeface="+mn-lt"/>
              </a:rPr>
              <a:t>ошибки → Наиболее частые путаницы: </a:t>
            </a:r>
            <a:r>
              <a:rPr lang="en-US" sz="2400" dirty="0">
                <a:latin typeface="+mn-lt"/>
              </a:rPr>
              <a:t>MI ↔ LVH (</a:t>
            </a:r>
            <a:r>
              <a:rPr lang="ru-RU" sz="2400" dirty="0">
                <a:latin typeface="+mn-lt"/>
              </a:rPr>
              <a:t>инфаркт и гипертрофия)</a:t>
            </a:r>
            <a:endParaRPr lang="ru-RU" sz="1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3A948-28A4-2275-2A3C-06186B5130CA}"/>
              </a:ext>
            </a:extLst>
          </p:cNvPr>
          <p:cNvSpPr txBox="1"/>
          <p:nvPr/>
        </p:nvSpPr>
        <p:spPr>
          <a:xfrm>
            <a:off x="12136025" y="9401835"/>
            <a:ext cx="108977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latin typeface="+mn-lt"/>
              </a:rPr>
              <a:t>Сравнение вероятностей (SVM </a:t>
            </a:r>
            <a:r>
              <a:rPr lang="ru-RU" sz="2400" dirty="0" err="1">
                <a:latin typeface="+mn-lt"/>
              </a:rPr>
              <a:t>vs</a:t>
            </a:r>
            <a:r>
              <a:rPr lang="ru-RU" sz="2400" dirty="0">
                <a:latin typeface="+mn-lt"/>
              </a:rPr>
              <a:t> </a:t>
            </a:r>
            <a:r>
              <a:rPr lang="ru-RU" sz="2400" dirty="0" err="1">
                <a:latin typeface="+mn-lt"/>
              </a:rPr>
              <a:t>Fuzzy</a:t>
            </a:r>
            <a:r>
              <a:rPr lang="ru-RU" sz="2400" dirty="0">
                <a:latin typeface="+mn-lt"/>
              </a:rPr>
              <a:t> k‑NN)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Модели НЕ согласны только в 4 случаях из 150 (2.7%)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Расхождения сконцентрированы в «серой зоне» </a:t>
            </a:r>
            <a:r>
              <a:rPr lang="ru-RU" sz="2400" dirty="0" err="1">
                <a:latin typeface="+mn-lt"/>
              </a:rPr>
              <a:t>многоклассовой</a:t>
            </a:r>
            <a:r>
              <a:rPr lang="ru-RU" sz="2400" dirty="0">
                <a:latin typeface="+mn-lt"/>
              </a:rPr>
              <a:t> классификации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Пример: пациент 23 (истинный класс 3, </a:t>
            </a:r>
            <a:r>
              <a:rPr lang="ru-RU" sz="2400" dirty="0" err="1">
                <a:latin typeface="+mn-lt"/>
              </a:rPr>
              <a:t>Fuzzy</a:t>
            </a:r>
            <a:r>
              <a:rPr lang="ru-RU" sz="2400" dirty="0">
                <a:latin typeface="+mn-lt"/>
              </a:rPr>
              <a:t> предсказал 2, SVM — 3)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latin typeface="+mn-lt"/>
              </a:rPr>
              <a:t>Время обучения моделей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SVM: 8.23 секунды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</a:t>
            </a:r>
            <a:r>
              <a:rPr lang="ru-RU" sz="2400" dirty="0" err="1">
                <a:latin typeface="+mn-lt"/>
              </a:rPr>
              <a:t>Fuzzy</a:t>
            </a:r>
            <a:r>
              <a:rPr lang="ru-RU" sz="2400" dirty="0">
                <a:latin typeface="+mn-lt"/>
              </a:rPr>
              <a:t> k‑NN: 0.26 секунды </a:t>
            </a:r>
            <a:br>
              <a:rPr lang="ru-RU" sz="2400" dirty="0">
                <a:latin typeface="+mn-lt"/>
              </a:rPr>
            </a:br>
            <a:r>
              <a:rPr lang="ru-RU" sz="2400" dirty="0">
                <a:latin typeface="+mn-lt"/>
              </a:rPr>
              <a:t>- </a:t>
            </a:r>
            <a:r>
              <a:rPr lang="ru-RU" sz="2400" dirty="0" err="1">
                <a:latin typeface="+mn-lt"/>
              </a:rPr>
              <a:t>AutoML</a:t>
            </a:r>
            <a:r>
              <a:rPr lang="ru-RU" sz="2400" dirty="0">
                <a:latin typeface="+mn-lt"/>
              </a:rPr>
              <a:t>: 119.95 секунды (≈2 минуты)</a:t>
            </a:r>
            <a:endParaRPr lang="ru-RU" sz="1200" dirty="0">
              <a:latin typeface="+mn-lt"/>
            </a:endParaRPr>
          </a:p>
        </p:txBody>
      </p:sp>
      <p:pic>
        <p:nvPicPr>
          <p:cNvPr id="11" name="Рисунок 10" descr="Изображение выглядит как текст, линия, снимок экрана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34BE86A-7A5B-3678-365D-48E267C9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60" y="2783650"/>
            <a:ext cx="7168303" cy="625397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диаграмма, линия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412E0E-0AA5-6039-7049-E89BFEA95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125" y="3210725"/>
            <a:ext cx="14586240" cy="545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2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3B4D562E-3270-B8B7-B684-3FB969F8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D1D16919-E84A-C401-B9B7-91B850471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C3B502B8-B9FD-C015-42B6-516FBF832E9E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62161324-6CC9-2C58-0194-59CE870BF6E5}"/>
              </a:ext>
            </a:extLst>
          </p:cNvPr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C953E-21AC-4DA7-8FAA-8C1BE70000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3A948-28A4-2275-2A3C-06186B5130CA}"/>
              </a:ext>
            </a:extLst>
          </p:cNvPr>
          <p:cNvSpPr txBox="1"/>
          <p:nvPr/>
        </p:nvSpPr>
        <p:spPr>
          <a:xfrm>
            <a:off x="12889431" y="3317128"/>
            <a:ext cx="93136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Сравнение вероятностей SVM и </a:t>
            </a:r>
            <a:r>
              <a:rPr lang="ru-RU" sz="3200" b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ru-RU" sz="3200" b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k‑NN. Красные точки — модели не согласны (4 случая из 150, 2.7%). Расхождения находятся в «серой зоне» </a:t>
            </a:r>
            <a:r>
              <a:rPr lang="ru-RU" sz="3200" b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многоклассовой</a:t>
            </a:r>
            <a:r>
              <a:rPr lang="ru-RU" sz="3200" b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классификации.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23AE950-3749-3C1D-703B-896C192C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33" y="2825552"/>
            <a:ext cx="11029592" cy="9632135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942A05D6-662A-6826-1187-6A50B7C3F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942331"/>
              </p:ext>
            </p:extLst>
          </p:nvPr>
        </p:nvGraphicFramePr>
        <p:xfrm>
          <a:off x="12487547" y="6569968"/>
          <a:ext cx="10725528" cy="48021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81382">
                  <a:extLst>
                    <a:ext uri="{9D8B030D-6E8A-4147-A177-3AD203B41FA5}">
                      <a16:colId xmlns:a16="http://schemas.microsoft.com/office/drawing/2014/main" val="4024975207"/>
                    </a:ext>
                  </a:extLst>
                </a:gridCol>
                <a:gridCol w="2681382">
                  <a:extLst>
                    <a:ext uri="{9D8B030D-6E8A-4147-A177-3AD203B41FA5}">
                      <a16:colId xmlns:a16="http://schemas.microsoft.com/office/drawing/2014/main" val="2432176143"/>
                    </a:ext>
                  </a:extLst>
                </a:gridCol>
                <a:gridCol w="2681382">
                  <a:extLst>
                    <a:ext uri="{9D8B030D-6E8A-4147-A177-3AD203B41FA5}">
                      <a16:colId xmlns:a16="http://schemas.microsoft.com/office/drawing/2014/main" val="4120509568"/>
                    </a:ext>
                  </a:extLst>
                </a:gridCol>
                <a:gridCol w="2681382">
                  <a:extLst>
                    <a:ext uri="{9D8B030D-6E8A-4147-A177-3AD203B41FA5}">
                      <a16:colId xmlns:a16="http://schemas.microsoft.com/office/drawing/2014/main" val="2874775566"/>
                    </a:ext>
                  </a:extLst>
                </a:gridCol>
              </a:tblGrid>
              <a:tr h="1457025"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Пациент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Истинный класс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effectLst/>
                          <a:latin typeface="+mj-lt"/>
                        </a:rPr>
                        <a:t>SVM </a:t>
                      </a:r>
                      <a:r>
                        <a:rPr lang="ru-RU" sz="3600" b="0" dirty="0">
                          <a:effectLst/>
                          <a:latin typeface="+mj-lt"/>
                        </a:rPr>
                        <a:t>прогноз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effectLst/>
                          <a:latin typeface="+mj-lt"/>
                        </a:rPr>
                        <a:t>Fuzzy </a:t>
                      </a:r>
                      <a:r>
                        <a:rPr lang="ru-RU" sz="3600" b="0" dirty="0">
                          <a:effectLst/>
                          <a:latin typeface="+mj-lt"/>
                        </a:rPr>
                        <a:t>прогноз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00371133"/>
                  </a:ext>
                </a:extLst>
              </a:tr>
              <a:tr h="836281"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23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51823583"/>
                  </a:ext>
                </a:extLst>
              </a:tr>
              <a:tr h="836281"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101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90658664"/>
                  </a:ext>
                </a:extLst>
              </a:tr>
              <a:tr h="836281"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140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57345572"/>
                  </a:ext>
                </a:extLst>
              </a:tr>
              <a:tr h="836281">
                <a:tc>
                  <a:txBody>
                    <a:bodyPr/>
                    <a:lstStyle/>
                    <a:p>
                      <a:pPr algn="ctr"/>
                      <a:r>
                        <a:rPr lang="ru-RU" sz="3600" b="0">
                          <a:effectLst/>
                          <a:latin typeface="+mj-lt"/>
                        </a:rPr>
                        <a:t>144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b="0" dirty="0"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69816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52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292881" y="4048511"/>
            <a:ext cx="2091017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+mn-lt"/>
              </a:rPr>
              <a:t>Гипотеза: </a:t>
            </a: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даст качество не хуже ручных подходов, а прирост по ROC-AUC относительно настроенного SVM не превысит 5%. </a:t>
            </a:r>
          </a:p>
          <a:p>
            <a:endParaRPr lang="ru-RU" sz="3200" b="1" dirty="0">
              <a:latin typeface="+mn-lt"/>
            </a:endParaRPr>
          </a:p>
          <a:p>
            <a:r>
              <a:rPr lang="ru-RU" sz="3200" b="1" dirty="0">
                <a:latin typeface="+mn-lt"/>
              </a:rPr>
              <a:t>Результаты: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+mn-lt"/>
              </a:rPr>
              <a:t>SVM ROC-AUC: 0.9986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ROC-AUC: 0.9979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+mn-lt"/>
              </a:rPr>
              <a:t>Прирост </a:t>
            </a: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к SVM: -0.07 процентных пункта (</a:t>
            </a: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уступил) </a:t>
            </a:r>
          </a:p>
          <a:p>
            <a:endParaRPr lang="ru-RU" sz="3200" b="1" dirty="0">
              <a:latin typeface="+mn-lt"/>
            </a:endParaRPr>
          </a:p>
          <a:p>
            <a:r>
              <a:rPr lang="ru-RU" sz="3200" b="1" dirty="0">
                <a:latin typeface="+mn-lt"/>
              </a:rPr>
              <a:t>Вывод: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+mn-lt"/>
              </a:rPr>
              <a:t>Гипотеза подтверждена – прирост ≤ 5% (фактически </a:t>
            </a: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не превзошёл SVM)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latin typeface="+mn-lt"/>
              </a:rPr>
              <a:t>SVM оказался лучшим методом по точности и скорости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+mn-lt"/>
              </a:rPr>
              <a:t>AutoML</a:t>
            </a:r>
            <a:r>
              <a:rPr lang="ru-RU" sz="3200" dirty="0">
                <a:latin typeface="+mn-lt"/>
              </a:rPr>
              <a:t> не дал преимущества над хорошо настроенным SVM на этом датасете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+mn-lt"/>
              </a:rPr>
              <a:t>Fuzzy</a:t>
            </a:r>
            <a:r>
              <a:rPr lang="ru-RU" sz="3200" dirty="0">
                <a:latin typeface="+mn-lt"/>
              </a:rPr>
              <a:t> k‑NN – отличный выбор для быстрого прототипирования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6347936" y="6134725"/>
            <a:ext cx="119346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8800" dirty="0"/>
              <a:t>Спасибо за внимание!</a:t>
            </a:r>
            <a:endParaRPr lang="en-RU" sz="8800" dirty="0"/>
          </a:p>
        </p:txBody>
      </p:sp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F4155F8-ECBD-4D85-9A53-37CC9963C3E4}">
  <we:reference id="wa200010196" version="1.0.0.0" store="ru-RU" storeType="OMEX"/>
  <we:alternateReferences>
    <we:reference id="WA200010196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AA8A387-B631-4C89-82B4-282F080E7836}">
  <we:reference id="wa200007130" version="1.0.0.1" store="ru-RU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1589</Words>
  <Application>Microsoft Office PowerPoint</Application>
  <PresentationFormat>Произвольный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Андрей Беликов</cp:lastModifiedBy>
  <cp:revision>32</cp:revision>
  <dcterms:modified xsi:type="dcterms:W3CDTF">2026-06-08T04:37:18Z</dcterms:modified>
  <cp:category/>
</cp:coreProperties>
</file>