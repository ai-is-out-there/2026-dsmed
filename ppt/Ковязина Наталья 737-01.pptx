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68" r:id="rId3"/>
    <p:sldId id="272" r:id="rId4"/>
    <p:sldId id="271" r:id="rId5"/>
    <p:sldId id="273" r:id="rId6"/>
    <p:sldId id="274" r:id="rId7"/>
    <p:sldId id="275" r:id="rId8"/>
    <p:sldId id="276" r:id="rId9"/>
    <p:sldId id="270" r:id="rId10"/>
  </p:sldIdLst>
  <p:sldSz cx="24384000" cy="13716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Helvetica Neue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005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08"/>
    <p:restoredTop sz="95080" autoAdjust="0"/>
  </p:normalViewPr>
  <p:slideViewPr>
    <p:cSldViewPr>
      <p:cViewPr varScale="1">
        <p:scale>
          <a:sx n="40" d="100"/>
          <a:sy n="40" d="100"/>
        </p:scale>
        <p:origin x="864" y="67"/>
      </p:cViewPr>
      <p:guideLst>
        <p:guide orient="horz" pos="4320"/>
        <p:guide pos="76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0918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6962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9264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2675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6959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5809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22652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321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Обложка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Изображение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994219" y="1105429"/>
            <a:ext cx="22395562" cy="11505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2" descr="сбор гум.помощи-0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48086" y="1924345"/>
            <a:ext cx="1532263" cy="1772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Google Shape;19;p2"/>
          <p:cNvCxnSpPr/>
          <p:nvPr/>
        </p:nvCxnSpPr>
        <p:spPr>
          <a:xfrm>
            <a:off x="12180424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0" name="Google Shape;20;p2"/>
          <p:cNvCxnSpPr/>
          <p:nvPr/>
        </p:nvCxnSpPr>
        <p:spPr>
          <a:xfrm>
            <a:off x="17285159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1" name="Google Shape;21;p2"/>
          <p:cNvCxnSpPr/>
          <p:nvPr/>
        </p:nvCxnSpPr>
        <p:spPr>
          <a:xfrm>
            <a:off x="22358092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2" name="Google Shape;22;p2"/>
          <p:cNvSpPr txBox="1">
            <a:spLocks noGrp="1"/>
          </p:cNvSpPr>
          <p:nvPr>
            <p:ph type="body" idx="1"/>
          </p:nvPr>
        </p:nvSpPr>
        <p:spPr>
          <a:xfrm>
            <a:off x="4261479" y="2224144"/>
            <a:ext cx="7162818" cy="1408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body" idx="2"/>
          </p:nvPr>
        </p:nvSpPr>
        <p:spPr>
          <a:xfrm>
            <a:off x="12479957" y="2224145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body" idx="3"/>
          </p:nvPr>
        </p:nvSpPr>
        <p:spPr>
          <a:xfrm>
            <a:off x="17592002" y="2224145"/>
            <a:ext cx="4505670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body" idx="4"/>
          </p:nvPr>
        </p:nvSpPr>
        <p:spPr>
          <a:xfrm>
            <a:off x="2029011" y="4568039"/>
            <a:ext cx="20325978" cy="396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5"/>
          </p:nvPr>
        </p:nvSpPr>
        <p:spPr>
          <a:xfrm>
            <a:off x="2029011" y="9494374"/>
            <a:ext cx="9995707" cy="17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7" name="Google Shape;27;p2" descr="Изображение"/>
          <p:cNvPicPr preferRelativeResize="0"/>
          <p:nvPr/>
        </p:nvPicPr>
        <p:blipFill rotWithShape="1">
          <a:blip r:embed="rId5">
            <a:alphaModFix amt="27474"/>
          </a:blip>
          <a:srcRect/>
          <a:stretch/>
        </p:blipFill>
        <p:spPr>
          <a:xfrm>
            <a:off x="13288396" y="1662907"/>
            <a:ext cx="16546249" cy="1779153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1">
  <p:cSld name="Текст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2"/>
          </p:nvPr>
        </p:nvSpPr>
        <p:spPr>
          <a:xfrm>
            <a:off x="1125837" y="4725596"/>
            <a:ext cx="9073420" cy="353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екст_3">
  <p:cSld name="Текст_3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4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2"/>
          </p:nvPr>
        </p:nvSpPr>
        <p:spPr>
          <a:xfrm>
            <a:off x="1125839" y="4725596"/>
            <a:ext cx="22132322" cy="6565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8" name="Google Shape;38;p4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9" name="Google Shape;39;p4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0" name="Google Shape;40;p4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41" name="Google Shape;41;p4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екст_2">
  <p:cSld name="Текст_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5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1"/>
          </p:nvPr>
        </p:nvSpPr>
        <p:spPr>
          <a:xfrm>
            <a:off x="1071388" y="4938019"/>
            <a:ext cx="9560764" cy="2951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2"/>
          </p:nvPr>
        </p:nvSpPr>
        <p:spPr>
          <a:xfrm>
            <a:off x="1071389" y="10647084"/>
            <a:ext cx="9560764" cy="7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body" idx="3"/>
          </p:nvPr>
        </p:nvSpPr>
        <p:spPr>
          <a:xfrm>
            <a:off x="1071391" y="2793806"/>
            <a:ext cx="20083100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body" idx="4"/>
          </p:nvPr>
        </p:nvSpPr>
        <p:spPr>
          <a:xfrm>
            <a:off x="12190716" y="4925943"/>
            <a:ext cx="10974722" cy="3886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101600" rIns="101600" bIns="1016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50" name="Google Shape;50;p5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1" name="Google Shape;51;p5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2" name="Google Shape;52;p5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53" name="Google Shape;53;p5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График_1">
  <p:cSld name="График_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6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 txBox="1">
            <a:spLocks noGrp="1"/>
          </p:cNvSpPr>
          <p:nvPr>
            <p:ph type="body" idx="1"/>
          </p:nvPr>
        </p:nvSpPr>
        <p:spPr>
          <a:xfrm>
            <a:off x="1026347" y="2970008"/>
            <a:ext cx="7120557" cy="211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body" idx="2"/>
          </p:nvPr>
        </p:nvSpPr>
        <p:spPr>
          <a:xfrm>
            <a:off x="1026347" y="6080647"/>
            <a:ext cx="7120557" cy="2621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body" idx="3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1" name="Google Shape;61;p6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2" name="Google Shape;62;p6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3" name="Google Shape;63;p6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64" name="Google Shape;64;p6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6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График_2">
  <p:cSld name="График_2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7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body" idx="2"/>
          </p:nvPr>
        </p:nvSpPr>
        <p:spPr>
          <a:xfrm>
            <a:off x="1071389" y="4886926"/>
            <a:ext cx="6960890" cy="462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body" idx="3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2" name="Google Shape;72;p7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3" name="Google Shape;73;p7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4" name="Google Shape;74;p7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75" name="Google Shape;75;p7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Цифры">
  <p:cSld name="Цифры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 txBox="1"/>
          <p:nvPr/>
        </p:nvSpPr>
        <p:spPr>
          <a:xfrm>
            <a:off x="2029012" y="4568039"/>
            <a:ext cx="20325977" cy="401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C65"/>
              </a:buClr>
              <a:buSzPts val="8600"/>
              <a:buFont typeface="Arial"/>
              <a:buNone/>
            </a:pPr>
            <a: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  <a:t>Название презентации</a:t>
            </a:r>
            <a:b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  <a:t>может быть набрано в две </a:t>
            </a:r>
            <a:b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  <a:t>или три строки</a:t>
            </a:r>
            <a:endParaRPr/>
          </a:p>
        </p:txBody>
      </p:sp>
      <p:sp>
        <p:nvSpPr>
          <p:cNvPr id="79" name="Google Shape;79;p8"/>
          <p:cNvSpPr txBox="1"/>
          <p:nvPr/>
        </p:nvSpPr>
        <p:spPr>
          <a:xfrm>
            <a:off x="2029012" y="9794174"/>
            <a:ext cx="20325977" cy="66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Если нужно больше места, то используйте подзаголовок</a:t>
            </a:r>
            <a:endParaRPr/>
          </a:p>
        </p:txBody>
      </p:sp>
      <p:pic>
        <p:nvPicPr>
          <p:cNvPr id="80" name="Google Shape;80;p8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8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endParaRPr sz="3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 txBox="1">
            <a:spLocks noGrp="1"/>
          </p:cNvSpPr>
          <p:nvPr>
            <p:ph type="body" idx="1"/>
          </p:nvPr>
        </p:nvSpPr>
        <p:spPr>
          <a:xfrm>
            <a:off x="1071390" y="4937092"/>
            <a:ext cx="5646296" cy="310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"/>
          <p:cNvSpPr txBox="1">
            <a:spLocks noGrp="1"/>
          </p:cNvSpPr>
          <p:nvPr>
            <p:ph type="body" idx="2"/>
          </p:nvPr>
        </p:nvSpPr>
        <p:spPr>
          <a:xfrm>
            <a:off x="8135580" y="4937092"/>
            <a:ext cx="6313734" cy="310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8"/>
          <p:cNvSpPr txBox="1">
            <a:spLocks noGrp="1"/>
          </p:cNvSpPr>
          <p:nvPr>
            <p:ph type="body" idx="3"/>
          </p:nvPr>
        </p:nvSpPr>
        <p:spPr>
          <a:xfrm>
            <a:off x="15110121" y="4937092"/>
            <a:ext cx="5646294" cy="310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8"/>
          <p:cNvSpPr txBox="1">
            <a:spLocks noGrp="1"/>
          </p:cNvSpPr>
          <p:nvPr>
            <p:ph type="body" idx="4"/>
          </p:nvPr>
        </p:nvSpPr>
        <p:spPr>
          <a:xfrm>
            <a:off x="1071391" y="2793806"/>
            <a:ext cx="20083100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8"/>
          <p:cNvSpPr txBox="1">
            <a:spLocks noGrp="1"/>
          </p:cNvSpPr>
          <p:nvPr>
            <p:ph type="body" idx="5"/>
          </p:nvPr>
        </p:nvSpPr>
        <p:spPr>
          <a:xfrm>
            <a:off x="1071391" y="8351777"/>
            <a:ext cx="5434543" cy="17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8"/>
          <p:cNvSpPr txBox="1">
            <a:spLocks noGrp="1"/>
          </p:cNvSpPr>
          <p:nvPr>
            <p:ph type="body" idx="6"/>
          </p:nvPr>
        </p:nvSpPr>
        <p:spPr>
          <a:xfrm>
            <a:off x="8135580" y="8351777"/>
            <a:ext cx="5434542" cy="17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8"/>
          <p:cNvSpPr txBox="1">
            <a:spLocks noGrp="1"/>
          </p:cNvSpPr>
          <p:nvPr>
            <p:ph type="body" idx="7"/>
          </p:nvPr>
        </p:nvSpPr>
        <p:spPr>
          <a:xfrm>
            <a:off x="15110121" y="8351777"/>
            <a:ext cx="5434542" cy="17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89" name="Google Shape;89;p8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0" name="Google Shape;90;p8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1" name="Google Shape;91;p8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92" name="Google Shape;92;p8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аблица_1">
  <p:cSld name="Таблица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15527372" cy="114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body" idx="2"/>
          </p:nvPr>
        </p:nvSpPr>
        <p:spPr>
          <a:xfrm>
            <a:off x="1071388" y="11162430"/>
            <a:ext cx="15527375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99" name="Google Shape;99;p9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0" name="Google Shape;100;p9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1" name="Google Shape;101;p9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02" name="Google Shape;102;p9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9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аблица_2">
  <p:cSld name="Таблица_2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0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0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15527372" cy="114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body" idx="2"/>
          </p:nvPr>
        </p:nvSpPr>
        <p:spPr>
          <a:xfrm>
            <a:off x="17388763" y="4377478"/>
            <a:ext cx="5434542" cy="323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09" name="Google Shape;109;p10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10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1" name="Google Shape;111;p10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2" name="Google Shape;112;p10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3" name="Google Shape;113;p10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График_3">
  <p:cSld name="График_3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1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1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1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5543437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11"/>
          <p:cNvSpPr txBox="1">
            <a:spLocks noGrp="1"/>
          </p:cNvSpPr>
          <p:nvPr>
            <p:ph type="body" idx="2"/>
          </p:nvPr>
        </p:nvSpPr>
        <p:spPr>
          <a:xfrm>
            <a:off x="1125837" y="4734526"/>
            <a:ext cx="5434543" cy="2316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1"/>
          <p:cNvSpPr txBox="1">
            <a:spLocks noGrp="1"/>
          </p:cNvSpPr>
          <p:nvPr>
            <p:ph type="body" idx="3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20" name="Google Shape;120;p11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1" name="Google Shape;121;p11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2" name="Google Shape;122;p11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23" name="Google Shape;123;p11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1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устой">
  <p:cSld name="Пустой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2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2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2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9" name="Google Shape;129;p12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0" name="Google Shape;130;p12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31" name="Google Shape;131;p12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2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сбор гум.помощи-06.png"/>
          <p:cNvPicPr preferRelativeResize="0"/>
          <p:nvPr/>
        </p:nvPicPr>
        <p:blipFill rotWithShape="1">
          <a:blip r:embed="rId13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" name="Google Shape;8;p1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" name="Google Shape;9;p1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" name="Google Shape;10;p1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1" name="Google Shape;11;p1" descr="сбор гум.помощи-05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title"/>
          </p:nvPr>
        </p:nvSpPr>
        <p:spPr>
          <a:xfrm>
            <a:off x="3653366" y="2743200"/>
            <a:ext cx="19507201" cy="93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lar.google.com/scholar_lookup?Kashif,%20A.%20et%20al.%20Treatment%20response%20prediction%20in%20hepatitis%20C%20patients%20using%20machine%20learning%20techniques.%20Int.%20J.%20Technol.%20Innov.%20Manag.1,%2079%E2%80%9389.%2010.54489/ijtim.v1i2.24%20(2021).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"/>
          <p:cNvSpPr txBox="1">
            <a:spLocks noGrp="1"/>
          </p:cNvSpPr>
          <p:nvPr>
            <p:ph type="body" idx="1"/>
          </p:nvPr>
        </p:nvSpPr>
        <p:spPr>
          <a:xfrm>
            <a:off x="4261479" y="2224144"/>
            <a:ext cx="7162800" cy="14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</a:t>
            </a:r>
          </a:p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 искусственного интеллекта в медицине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3"/>
          <p:cNvSpPr txBox="1">
            <a:spLocks noGrp="1"/>
          </p:cNvSpPr>
          <p:nvPr>
            <p:ph type="body" idx="2"/>
          </p:nvPr>
        </p:nvSpPr>
        <p:spPr>
          <a:xfrm>
            <a:off x="12479950" y="2224150"/>
            <a:ext cx="4726800" cy="10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2413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1305"/>
              <a:buFont typeface="Helvetica Neue"/>
              <a:buNone/>
            </a:pP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Информационные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системы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технологии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(09.03.02)</a:t>
            </a:r>
            <a:endParaRPr sz="2400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3"/>
          <p:cNvSpPr txBox="1">
            <a:spLocks noGrp="1"/>
          </p:cNvSpPr>
          <p:nvPr>
            <p:ph type="body" idx="3"/>
          </p:nvPr>
        </p:nvSpPr>
        <p:spPr>
          <a:xfrm>
            <a:off x="17592002" y="2224145"/>
            <a:ext cx="4505670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72413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2088"/>
              <a:buFont typeface="Helvetica Neue"/>
              <a:buNone/>
            </a:pP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Москва</a:t>
            </a: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4"/>
          </p:nvPr>
        </p:nvSpPr>
        <p:spPr>
          <a:xfrm>
            <a:off x="2028998" y="5091525"/>
            <a:ext cx="14843521" cy="44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119870"/>
              </a:lnSpc>
              <a:spcBef>
                <a:spcPts val="0"/>
              </a:spcBef>
              <a:buClr>
                <a:srgbClr val="2253A1"/>
              </a:buClr>
              <a:buSzPts val="5968"/>
              <a:buNone/>
            </a:pPr>
            <a:r>
              <a:rPr lang="ru-RU" sz="5400" dirty="0">
                <a:solidFill>
                  <a:srgbClr val="4F81BD"/>
                </a:solidFill>
              </a:rPr>
              <a:t>Сравнительный анализ SVM и </a:t>
            </a:r>
            <a:r>
              <a:rPr lang="en-US" sz="5400" dirty="0">
                <a:solidFill>
                  <a:srgbClr val="4F81BD"/>
                </a:solidFill>
              </a:rPr>
              <a:t>Fuzzy </a:t>
            </a:r>
            <a:r>
              <a:rPr lang="ru-RU" sz="5400" dirty="0" err="1">
                <a:solidFill>
                  <a:srgbClr val="4F81BD"/>
                </a:solidFill>
              </a:rPr>
              <a:t>kNN</a:t>
            </a:r>
            <a:r>
              <a:rPr lang="ru-RU" sz="5400" dirty="0">
                <a:solidFill>
                  <a:srgbClr val="4F81BD"/>
                </a:solidFill>
              </a:rPr>
              <a:t> для стратификации риска при гепатите C</a:t>
            </a:r>
          </a:p>
          <a:p>
            <a:pPr marL="0" lvl="0" indent="0" algn="l" rtl="0">
              <a:lnSpc>
                <a:spcPct val="119870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5968"/>
              <a:buFont typeface="Helvetica Neue"/>
              <a:buNone/>
            </a:pPr>
            <a:endParaRPr sz="5100" dirty="0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5"/>
          </p:nvPr>
        </p:nvSpPr>
        <p:spPr>
          <a:xfrm>
            <a:off x="2032925" y="8709975"/>
            <a:ext cx="14839594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Выполнила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студент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гр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ru-RU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737-01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</a:t>
            </a:r>
            <a:r>
              <a:rPr lang="ru-RU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ФИО Ковязина Наталья Владимировна</a:t>
            </a:r>
            <a:endParaRPr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Руководитель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Андриков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Д.А.</a:t>
            </a:r>
            <a:r>
              <a:rPr lang="ru-RU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, Андриянова Е.В. </a:t>
            </a:r>
            <a:endParaRPr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ct val="100000"/>
              <a:buFont typeface="Helvetica Neue"/>
              <a:buNone/>
            </a:pPr>
            <a:endParaRPr sz="3200" dirty="0">
              <a:solidFill>
                <a:srgbClr val="2253A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Введение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2587083" y="3992137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RU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DCC2B5-EFB4-4E94-AB43-10112007F558}"/>
              </a:ext>
            </a:extLst>
          </p:cNvPr>
          <p:cNvSpPr txBox="1"/>
          <p:nvPr/>
        </p:nvSpPr>
        <p:spPr>
          <a:xfrm>
            <a:off x="1174776" y="2897560"/>
            <a:ext cx="21028278" cy="7972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3200" dirty="0"/>
          </a:p>
          <a:p>
            <a:pPr algn="just">
              <a:lnSpc>
                <a:spcPct val="150000"/>
              </a:lnSpc>
            </a:pPr>
            <a:r>
              <a:rPr lang="ru-RU" sz="3200" dirty="0"/>
              <a:t>Заболевания печени (гепатит, фиброз, цирроз) остаются одной из ведущих причин смертности. Ранняя стратификация риска позволяет своевременно начать лечение и предотвратить прогрессирование. Ранее для диагностики использовались регрессионные модели и жёсткие классификаторы (логистическая регрессия, решающие деревья).</a:t>
            </a:r>
          </a:p>
          <a:p>
            <a:pPr>
              <a:lnSpc>
                <a:spcPct val="150000"/>
              </a:lnSpc>
            </a:pPr>
            <a:endParaRPr lang="ru-RU" sz="3200" dirty="0"/>
          </a:p>
          <a:p>
            <a:pPr>
              <a:lnSpc>
                <a:spcPct val="150000"/>
              </a:lnSpc>
            </a:pPr>
            <a:r>
              <a:rPr lang="ru-RU" sz="3600" b="1" u="sng" dirty="0">
                <a:solidFill>
                  <a:srgbClr val="0054A6"/>
                </a:solidFill>
              </a:rPr>
              <a:t>Преимущества нового решения</a:t>
            </a:r>
          </a:p>
          <a:p>
            <a:pPr algn="just">
              <a:lnSpc>
                <a:spcPct val="150000"/>
              </a:lnSpc>
            </a:pPr>
            <a:r>
              <a:rPr lang="ru-RU" sz="3200" dirty="0"/>
              <a:t>    Медицинские данные часто имеют размытые границы между состояниями (здоров – предболезнь – болезнь).  Жёсткие методы не дают оценки неопределённости, что снижает доверие врача. Мы предлагаем использовать SVM (для бинарного скрининга) и нечёткий </a:t>
            </a:r>
            <a:r>
              <a:rPr lang="ru-RU" sz="3200" dirty="0" err="1"/>
              <a:t>kNN</a:t>
            </a:r>
            <a:r>
              <a:rPr lang="ru-RU" sz="3200" dirty="0"/>
              <a:t> (для детальной оценки риска с указанием степени уверенности).</a:t>
            </a:r>
          </a:p>
        </p:txBody>
      </p:sp>
    </p:spTree>
    <p:extLst>
      <p:ext uri="{BB962C8B-B14F-4D97-AF65-F5344CB8AC3E}">
        <p14:creationId xmlns:p14="http://schemas.microsoft.com/office/powerpoint/2010/main" val="971312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Постановка задачи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405582" y="2023542"/>
            <a:ext cx="23819385" cy="11265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3200" b="1" u="sng" dirty="0"/>
              <a:t>Задача:</a:t>
            </a:r>
            <a:endParaRPr lang="ru-RU" sz="3200" dirty="0"/>
          </a:p>
          <a:p>
            <a:pPr>
              <a:lnSpc>
                <a:spcPct val="150000"/>
              </a:lnSpc>
            </a:pPr>
            <a:r>
              <a:rPr lang="ru-RU" sz="3200" dirty="0"/>
              <a:t>    Разработать и сравнить две модели машинного обучения для классификации пациентов по трём категориям риска:</a:t>
            </a:r>
          </a:p>
          <a:p>
            <a:pPr>
              <a:lnSpc>
                <a:spcPct val="150000"/>
              </a:lnSpc>
            </a:pPr>
            <a:r>
              <a:rPr lang="ru-RU" sz="3200" dirty="0"/>
              <a:t>    0 – здоровые (</a:t>
            </a:r>
            <a:r>
              <a:rPr lang="ru-RU" sz="3200" dirty="0" err="1"/>
              <a:t>Blood</a:t>
            </a:r>
            <a:r>
              <a:rPr lang="ru-RU" sz="3200" dirty="0"/>
              <a:t> </a:t>
            </a:r>
            <a:r>
              <a:rPr lang="ru-RU" sz="3200" dirty="0" err="1"/>
              <a:t>Donor</a:t>
            </a:r>
            <a:r>
              <a:rPr lang="ru-RU" sz="3200" dirty="0"/>
              <a:t>),</a:t>
            </a:r>
          </a:p>
          <a:p>
            <a:pPr>
              <a:lnSpc>
                <a:spcPct val="150000"/>
              </a:lnSpc>
            </a:pPr>
            <a:r>
              <a:rPr lang="ru-RU" sz="3200" dirty="0"/>
              <a:t>    1 – умеренный риск (подозрительный донор, гепатит),</a:t>
            </a:r>
          </a:p>
          <a:p>
            <a:pPr>
              <a:lnSpc>
                <a:spcPct val="150000"/>
              </a:lnSpc>
            </a:pPr>
            <a:r>
              <a:rPr lang="ru-RU" sz="3200" dirty="0"/>
              <a:t>    2 – высокий риск (фиброз, цирроз).</a:t>
            </a:r>
          </a:p>
          <a:p>
            <a:pPr>
              <a:lnSpc>
                <a:spcPct val="150000"/>
              </a:lnSpc>
            </a:pPr>
            <a:r>
              <a:rPr lang="ru-RU" sz="3200" dirty="0"/>
              <a:t>    Оценить качество моделей по </a:t>
            </a:r>
            <a:r>
              <a:rPr lang="ru-RU" sz="3200" dirty="0" err="1"/>
              <a:t>Accuracy</a:t>
            </a:r>
            <a:r>
              <a:rPr lang="ru-RU" sz="3200" dirty="0"/>
              <a:t>, Precision, </a:t>
            </a:r>
            <a:r>
              <a:rPr lang="ru-RU" sz="3200" dirty="0" err="1"/>
              <a:t>Recall</a:t>
            </a:r>
            <a:r>
              <a:rPr lang="ru-RU" sz="3200" dirty="0"/>
              <a:t>, F1, AUC, а также по возможности интерпретации результатов.</a:t>
            </a:r>
          </a:p>
          <a:p>
            <a:pPr>
              <a:lnSpc>
                <a:spcPct val="150000"/>
              </a:lnSpc>
            </a:pPr>
            <a:endParaRPr lang="ru-RU" sz="3200" dirty="0"/>
          </a:p>
          <a:p>
            <a:pPr>
              <a:lnSpc>
                <a:spcPct val="150000"/>
              </a:lnSpc>
            </a:pPr>
            <a:r>
              <a:rPr lang="ru-RU" sz="3200" b="1" u="sng" dirty="0"/>
              <a:t>Научная гипотеза:</a:t>
            </a:r>
          </a:p>
          <a:p>
            <a:pPr>
              <a:lnSpc>
                <a:spcPct val="150000"/>
              </a:lnSpc>
            </a:pPr>
            <a:r>
              <a:rPr lang="ru-RU" sz="3200" dirty="0"/>
              <a:t>Нечёткий </a:t>
            </a:r>
            <a:r>
              <a:rPr lang="ru-RU" sz="3200" dirty="0" err="1"/>
              <a:t>kNN</a:t>
            </a:r>
            <a:r>
              <a:rPr lang="ru-RU" sz="3200" dirty="0"/>
              <a:t> при </a:t>
            </a:r>
            <a:r>
              <a:rPr lang="ru-RU" sz="3200" dirty="0" err="1"/>
              <a:t>многоклассовой</a:t>
            </a:r>
            <a:r>
              <a:rPr lang="ru-RU" sz="3200" dirty="0"/>
              <a:t> классификации заболеваний печени обеспечивает более высокую клиническую интерпретируемость (благодаря степеням принадлежности и </a:t>
            </a:r>
            <a:r>
              <a:rPr lang="ru-RU" sz="3200" dirty="0" err="1"/>
              <a:t>скору</a:t>
            </a:r>
            <a:r>
              <a:rPr lang="ru-RU" sz="3200" dirty="0"/>
              <a:t> риска) по сравнению с бинарным SVM, но уступает ему в точности. Комбинация методов позволяет достичь баланса между точностью и информативностью.</a:t>
            </a:r>
          </a:p>
          <a:p>
            <a:pPr>
              <a:lnSpc>
                <a:spcPct val="150000"/>
              </a:lnSpc>
            </a:pPr>
            <a:endParaRPr lang="ru-RU" sz="3200" dirty="0"/>
          </a:p>
          <a:p>
            <a:pPr>
              <a:lnSpc>
                <a:spcPct val="150000"/>
              </a:lnSpc>
            </a:pPr>
            <a:r>
              <a:rPr lang="ru-RU" sz="3200" b="1" u="sng" dirty="0"/>
              <a:t>Критерии успешного решения:</a:t>
            </a:r>
            <a:endParaRPr lang="ru-RU" sz="32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3200" dirty="0"/>
              <a:t>    </a:t>
            </a:r>
            <a:r>
              <a:rPr lang="ru-RU" sz="3200" dirty="0" err="1"/>
              <a:t>Accuracy</a:t>
            </a:r>
            <a:r>
              <a:rPr lang="ru-RU" sz="3200" dirty="0"/>
              <a:t> не ниже 0.90 на тестовой выборке.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3200" dirty="0"/>
              <a:t>    Возможность для каждого пациента получить непрерывный скор риска (0..1) и неопределённость прогноза.</a:t>
            </a:r>
          </a:p>
        </p:txBody>
      </p:sp>
    </p:spTree>
    <p:extLst>
      <p:ext uri="{BB962C8B-B14F-4D97-AF65-F5344CB8AC3E}">
        <p14:creationId xmlns:p14="http://schemas.microsoft.com/office/powerpoint/2010/main" val="1983919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Обзор литературы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1041098" y="3329608"/>
            <a:ext cx="22816198" cy="9017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en-US" sz="4000" dirty="0">
                <a:latin typeface="+mn-lt"/>
              </a:rPr>
              <a:t>El </a:t>
            </a:r>
            <a:r>
              <a:rPr lang="en-US" sz="4000" dirty="0" err="1">
                <a:latin typeface="+mn-lt"/>
              </a:rPr>
              <a:t>Atifi</a:t>
            </a:r>
            <a:r>
              <a:rPr lang="en-US" sz="4000" dirty="0">
                <a:latin typeface="+mn-lt"/>
              </a:rPr>
              <a:t> W, El </a:t>
            </a:r>
            <a:r>
              <a:rPr lang="en-US" sz="4000" dirty="0" err="1">
                <a:latin typeface="+mn-lt"/>
              </a:rPr>
              <a:t>Rhazouani</a:t>
            </a:r>
            <a:r>
              <a:rPr lang="en-US" sz="4000" dirty="0">
                <a:latin typeface="+mn-lt"/>
              </a:rPr>
              <a:t> O, Khan FM, </a:t>
            </a:r>
            <a:r>
              <a:rPr lang="en-US" sz="4000" dirty="0" err="1">
                <a:latin typeface="+mn-lt"/>
              </a:rPr>
              <a:t>Sekkat</a:t>
            </a:r>
            <a:r>
              <a:rPr lang="en-US" sz="4000" dirty="0">
                <a:latin typeface="+mn-lt"/>
              </a:rPr>
              <a:t> H. Optimizing ensemble machine learning models for accurate liver disease prediction in healthcare. </a:t>
            </a:r>
            <a:r>
              <a:rPr lang="en-US" sz="4000" dirty="0" err="1">
                <a:latin typeface="+mn-lt"/>
              </a:rPr>
              <a:t>PLoS</a:t>
            </a:r>
            <a:r>
              <a:rPr lang="en-US" sz="4000" dirty="0">
                <a:latin typeface="+mn-lt"/>
              </a:rPr>
              <a:t> One. 2025 Aug 28;20(8):e0330899. </a:t>
            </a:r>
            <a:r>
              <a:rPr lang="en-US" sz="4000" dirty="0" err="1">
                <a:latin typeface="+mn-lt"/>
              </a:rPr>
              <a:t>doi</a:t>
            </a:r>
            <a:r>
              <a:rPr lang="en-US" sz="4000" dirty="0">
                <a:latin typeface="+mn-lt"/>
              </a:rPr>
              <a:t>: 10.1371/journal.pone.0330899. PMID: 40875648; PMCID: PMC12393716.</a:t>
            </a:r>
            <a:endParaRPr lang="ru-RU" sz="4000" dirty="0">
              <a:latin typeface="+mn-lt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en-US" sz="4000" dirty="0">
                <a:latin typeface="+mn-lt"/>
              </a:rPr>
              <a:t>Khatun P, </a:t>
            </a:r>
            <a:r>
              <a:rPr lang="en-US" sz="4000" dirty="0" err="1">
                <a:latin typeface="+mn-lt"/>
              </a:rPr>
              <a:t>Umam</a:t>
            </a:r>
            <a:r>
              <a:rPr lang="en-US" sz="4000" dirty="0">
                <a:latin typeface="+mn-lt"/>
              </a:rPr>
              <a:t> S, Razzak RB, Shamsuddin IB, Salma N. A study on the effectiveness of machine learning models for hepatitis prediction. Sci Rep. 2025 Aug 20;15(1):30659. </a:t>
            </a:r>
            <a:r>
              <a:rPr lang="en-US" sz="4000" dirty="0" err="1">
                <a:latin typeface="+mn-lt"/>
              </a:rPr>
              <a:t>doi</a:t>
            </a:r>
            <a:r>
              <a:rPr lang="en-US" sz="4000" dirty="0">
                <a:latin typeface="+mn-lt"/>
              </a:rPr>
              <a:t>: 10.1038/s41598-025-07104-4. PMID: 40835860; PMCID: PMC12368126.</a:t>
            </a:r>
            <a:endParaRPr lang="ru-RU" sz="4000" dirty="0">
              <a:latin typeface="+mn-lt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en-US" sz="4000" dirty="0">
                <a:latin typeface="+mn-lt"/>
              </a:rPr>
              <a:t>Kashif, A. et al. Treatment response prediction in hepatitis C patients using machine learning techniques. Int. J. Technol. </a:t>
            </a:r>
            <a:r>
              <a:rPr lang="en-US" sz="4000" dirty="0" err="1">
                <a:latin typeface="+mn-lt"/>
              </a:rPr>
              <a:t>Innov</a:t>
            </a:r>
            <a:r>
              <a:rPr lang="en-US" sz="4000" dirty="0">
                <a:latin typeface="+mn-lt"/>
              </a:rPr>
              <a:t>. Manag.</a:t>
            </a:r>
            <a:r>
              <a:rPr lang="en-US" sz="4000" b="1" dirty="0">
                <a:latin typeface="+mn-lt"/>
              </a:rPr>
              <a:t>1</a:t>
            </a:r>
            <a:r>
              <a:rPr lang="en-US" sz="4000" dirty="0">
                <a:latin typeface="+mn-lt"/>
              </a:rPr>
              <a:t>, 79–89. 10.54489/ijtim.v1i2.24 (2021). [</a:t>
            </a:r>
            <a:r>
              <a:rPr lang="en-US" sz="4000" dirty="0">
                <a:latin typeface="+mn-lt"/>
                <a:hlinkClick r:id="rId3"/>
              </a:rPr>
              <a:t>Google Scholar</a:t>
            </a:r>
            <a:r>
              <a:rPr lang="en-US" sz="4000" dirty="0">
                <a:latin typeface="+mn-lt"/>
              </a:rPr>
              <a:t>]</a:t>
            </a:r>
          </a:p>
          <a:p>
            <a:pPr marL="742950" indent="-742950">
              <a:buAutoNum type="arabicPeriod"/>
            </a:pPr>
            <a:endParaRPr lang="en-RU" sz="4000" dirty="0"/>
          </a:p>
        </p:txBody>
      </p:sp>
    </p:spTree>
    <p:extLst>
      <p:ext uri="{BB962C8B-B14F-4D97-AF65-F5344CB8AC3E}">
        <p14:creationId xmlns:p14="http://schemas.microsoft.com/office/powerpoint/2010/main" val="3582614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Теория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549353" y="2551025"/>
            <a:ext cx="23019911" cy="10353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u="sng" dirty="0"/>
              <a:t>S</a:t>
            </a:r>
            <a:r>
              <a:rPr lang="ru-RU" sz="2800" b="1" u="sng" dirty="0"/>
              <a:t>VM (метод опорных векторов)</a:t>
            </a:r>
            <a:br>
              <a:rPr lang="ru-RU" sz="2800" dirty="0"/>
            </a:br>
            <a:r>
              <a:rPr lang="ru-RU" sz="2800" dirty="0"/>
              <a:t>Это способ найти самую чёткую границу между здоровыми и больными пациентами. Алгоритм проводит разделяющую линию так, чтобы она проходила ровно посередине между группами и была максимально далека от ближайших пациентов с каждой стороны. Если данные сложные, SVM использует специальный приём (ядро), чтобы увидеть неочевидные закономерности.</a:t>
            </a:r>
            <a:br>
              <a:rPr lang="ru-RU" sz="2800" dirty="0"/>
            </a:br>
            <a:r>
              <a:rPr lang="ru-RU" sz="2800" b="1" dirty="0"/>
              <a:t>Что даёт:</a:t>
            </a:r>
            <a:r>
              <a:rPr lang="ru-RU" sz="2800" dirty="0"/>
              <a:t> определяет, здоров человек или болен, и выдаёт вероятность заболевания.</a:t>
            </a:r>
            <a:br>
              <a:rPr lang="ru-RU" sz="2800" dirty="0"/>
            </a:br>
            <a:r>
              <a:rPr lang="ru-RU" sz="2800" b="1" dirty="0"/>
              <a:t>Минус:</a:t>
            </a:r>
            <a:r>
              <a:rPr lang="ru-RU" sz="2800" dirty="0"/>
              <a:t> не показывает, насколько он уверен в сомнительных случаях.</a:t>
            </a:r>
          </a:p>
          <a:p>
            <a:pPr>
              <a:lnSpc>
                <a:spcPct val="150000"/>
              </a:lnSpc>
            </a:pPr>
            <a:endParaRPr lang="ru-RU" sz="2800" dirty="0"/>
          </a:p>
          <a:p>
            <a:pPr>
              <a:lnSpc>
                <a:spcPct val="150000"/>
              </a:lnSpc>
            </a:pPr>
            <a:r>
              <a:rPr lang="ru-RU" sz="2800" b="1" u="sng" dirty="0"/>
              <a:t>Нечёткий </a:t>
            </a:r>
            <a:r>
              <a:rPr lang="ru-RU" sz="2800" b="1" u="sng" dirty="0" err="1"/>
              <a:t>kNN</a:t>
            </a:r>
            <a:r>
              <a:rPr lang="ru-RU" sz="2800" b="1" u="sng" dirty="0"/>
              <a:t> (нечёткий метод ближайших соседей)</a:t>
            </a:r>
            <a:br>
              <a:rPr lang="ru-RU" sz="2800" dirty="0"/>
            </a:br>
            <a:r>
              <a:rPr lang="ru-RU" sz="2800" dirty="0"/>
              <a:t>Для нового пациента мы находим нескольких самых похожих (ближайших соседей) и смотрим, к каким группам риска они относятся. Но вместо простого голосования мы учитываем расстояние: чем ближе сосед, тем больше его мнение.</a:t>
            </a:r>
            <a:br>
              <a:rPr lang="ru-RU" sz="2800" dirty="0"/>
            </a:br>
            <a:r>
              <a:rPr lang="ru-RU" sz="2800" dirty="0"/>
              <a:t>Результат – </a:t>
            </a:r>
            <a:r>
              <a:rPr lang="ru-RU" sz="2800" b="1" dirty="0"/>
              <a:t>степени принадлежности</a:t>
            </a:r>
            <a:r>
              <a:rPr lang="ru-RU" sz="2800" dirty="0"/>
              <a:t> к трём группам: низкий, умеренный и высокий риск (сумма степеней = 100%).</a:t>
            </a:r>
          </a:p>
          <a:p>
            <a:pPr>
              <a:lnSpc>
                <a:spcPct val="150000"/>
              </a:lnSpc>
            </a:pPr>
            <a:endParaRPr lang="ru-RU" sz="2800" dirty="0"/>
          </a:p>
          <a:p>
            <a:pPr>
              <a:lnSpc>
                <a:spcPct val="150000"/>
              </a:lnSpc>
            </a:pPr>
            <a:r>
              <a:rPr lang="ru-RU" sz="2800" dirty="0"/>
              <a:t>Из этих степеней мы вычисляем два полезных показателя: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1" dirty="0"/>
              <a:t> Скор риска</a:t>
            </a:r>
            <a:r>
              <a:rPr lang="ru-RU" sz="2800" dirty="0"/>
              <a:t> – число от 0 до 1, показывающее общий уровень опасности. Чем ближе к 1, тем серьёзнее риск.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1" dirty="0"/>
              <a:t> Неопределённость</a:t>
            </a:r>
            <a:r>
              <a:rPr lang="ru-RU" sz="2800" dirty="0"/>
              <a:t> – если ни одна группа не набрала явного перевеса (например, 40%, 35%, 25%) . Это сигнал врачу: нужны дополнительные обследования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990443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Алгоритм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1030760" y="2476925"/>
            <a:ext cx="20884261" cy="9017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4000" b="1" dirty="0" err="1"/>
              <a:t>Датасет</a:t>
            </a:r>
            <a:r>
              <a:rPr lang="ru-RU" sz="4000" b="1" dirty="0"/>
              <a:t>:</a:t>
            </a:r>
            <a:r>
              <a:rPr lang="ru-RU" sz="4000" dirty="0"/>
              <a:t> </a:t>
            </a:r>
            <a:r>
              <a:rPr lang="ru-RU" sz="4000" dirty="0" err="1"/>
              <a:t>Hepatitis</a:t>
            </a:r>
            <a:r>
              <a:rPr lang="ru-RU" sz="4000" dirty="0"/>
              <a:t> C (615 записей, 13 признаков).</a:t>
            </a:r>
            <a:br>
              <a:rPr lang="ru-RU" sz="4000" dirty="0"/>
            </a:br>
            <a:r>
              <a:rPr lang="ru-RU" sz="4000" b="1" dirty="0"/>
              <a:t>Предобработка:</a:t>
            </a:r>
            <a:endParaRPr lang="ru-RU" sz="40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4000" dirty="0"/>
              <a:t>Замена пропусков медианой.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4000" dirty="0"/>
              <a:t>Кодирование пола.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4000" dirty="0"/>
              <a:t>Стандартизация признаков.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4000" dirty="0"/>
              <a:t>Стратифицированное разбиение 70/30.</a:t>
            </a:r>
          </a:p>
          <a:p>
            <a:pPr>
              <a:lnSpc>
                <a:spcPct val="150000"/>
              </a:lnSpc>
            </a:pPr>
            <a:r>
              <a:rPr lang="ru-RU" sz="4000" b="1" dirty="0"/>
              <a:t>Обучение:</a:t>
            </a:r>
            <a:endParaRPr lang="ru-RU" sz="40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4000" dirty="0"/>
              <a:t>SVM: бинарный (здоров </a:t>
            </a:r>
            <a:r>
              <a:rPr lang="ru-RU" sz="4000" dirty="0" err="1"/>
              <a:t>vs</a:t>
            </a:r>
            <a:r>
              <a:rPr lang="ru-RU" sz="4000" dirty="0"/>
              <a:t> болен), RBF-ядро, </a:t>
            </a:r>
            <a:r>
              <a:rPr lang="ru-RU" sz="4000" dirty="0" err="1"/>
              <a:t>class_weight</a:t>
            </a:r>
            <a:r>
              <a:rPr lang="ru-RU" sz="4000" dirty="0"/>
              <a:t>='</a:t>
            </a:r>
            <a:r>
              <a:rPr lang="ru-RU" sz="4000" dirty="0" err="1"/>
              <a:t>balanced</a:t>
            </a:r>
            <a:r>
              <a:rPr lang="ru-RU" sz="4000" dirty="0"/>
              <a:t>'.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4000" dirty="0"/>
              <a:t>Нечёткий </a:t>
            </a:r>
            <a:r>
              <a:rPr lang="ru-RU" sz="4000" dirty="0" err="1"/>
              <a:t>kNN</a:t>
            </a:r>
            <a:r>
              <a:rPr lang="ru-RU" sz="4000" dirty="0"/>
              <a:t>: k=7, m=2.0, </a:t>
            </a:r>
            <a:r>
              <a:rPr lang="ru-RU" sz="4000" dirty="0" err="1"/>
              <a:t>трёхклассовый</a:t>
            </a:r>
            <a:r>
              <a:rPr lang="ru-RU" sz="4000" dirty="0"/>
              <a:t>.</a:t>
            </a:r>
          </a:p>
          <a:p>
            <a:endParaRPr lang="en-RU" sz="4000" dirty="0"/>
          </a:p>
        </p:txBody>
      </p:sp>
    </p:spTree>
    <p:extLst>
      <p:ext uri="{BB962C8B-B14F-4D97-AF65-F5344CB8AC3E}">
        <p14:creationId xmlns:p14="http://schemas.microsoft.com/office/powerpoint/2010/main" val="1552194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Результаты работы модели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670720" y="2551025"/>
            <a:ext cx="21746416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S</a:t>
            </a:r>
            <a:r>
              <a:rPr lang="ru-RU" sz="3200" b="1" dirty="0"/>
              <a:t>VM (порог 0.5):</a:t>
            </a:r>
            <a:br>
              <a:rPr lang="ru-RU" sz="3200" dirty="0"/>
            </a:br>
            <a:r>
              <a:rPr lang="ru-RU" sz="3200" dirty="0" err="1"/>
              <a:t>Acc</a:t>
            </a:r>
            <a:r>
              <a:rPr lang="ru-RU" sz="3200" dirty="0"/>
              <a:t>=0.951, </a:t>
            </a:r>
            <a:r>
              <a:rPr lang="ru-RU" sz="3200" dirty="0" err="1"/>
              <a:t>Prec</a:t>
            </a:r>
            <a:r>
              <a:rPr lang="ru-RU" sz="3200" dirty="0"/>
              <a:t>=0.792, </a:t>
            </a:r>
            <a:r>
              <a:rPr lang="ru-RU" sz="3200" dirty="0" err="1"/>
              <a:t>Rec</a:t>
            </a:r>
            <a:r>
              <a:rPr lang="ru-RU" sz="3200" dirty="0"/>
              <a:t>=0.625, F1=0.826, AUC=0.972 – отличное разделение.</a:t>
            </a:r>
          </a:p>
          <a:p>
            <a:pPr>
              <a:lnSpc>
                <a:spcPct val="150000"/>
              </a:lnSpc>
            </a:pPr>
            <a:r>
              <a:rPr lang="ru-RU" sz="3200" b="1" dirty="0"/>
              <a:t>Нечёткий </a:t>
            </a:r>
            <a:r>
              <a:rPr lang="ru-RU" sz="3200" b="1" dirty="0" err="1"/>
              <a:t>kNN</a:t>
            </a:r>
            <a:r>
              <a:rPr lang="ru-RU" sz="3200" b="1" dirty="0"/>
              <a:t> (по </a:t>
            </a:r>
            <a:r>
              <a:rPr lang="ru-RU" sz="3200" b="1" dirty="0" err="1"/>
              <a:t>max</a:t>
            </a:r>
            <a:r>
              <a:rPr lang="ru-RU" sz="3200" b="1" dirty="0"/>
              <a:t> принадлежности):</a:t>
            </a:r>
            <a:br>
              <a:rPr lang="ru-RU" sz="3200" dirty="0"/>
            </a:br>
            <a:r>
              <a:rPr lang="ru-RU" sz="3200" dirty="0" err="1"/>
              <a:t>Acc</a:t>
            </a:r>
            <a:r>
              <a:rPr lang="ru-RU" sz="3200" dirty="0"/>
              <a:t>=0.92.</a:t>
            </a:r>
            <a:br>
              <a:rPr lang="ru-RU" sz="3200" dirty="0"/>
            </a:br>
            <a:r>
              <a:rPr lang="ru-RU" sz="3200" dirty="0"/>
              <a:t>Скор риска для здоровых ~0, для больных – в диапазоне 0.2–1.0.</a:t>
            </a:r>
          </a:p>
          <a:p>
            <a:pPr>
              <a:lnSpc>
                <a:spcPct val="150000"/>
              </a:lnSpc>
            </a:pPr>
            <a:r>
              <a:rPr lang="ru-RU" sz="3200" b="1" dirty="0"/>
              <a:t>«Серая зона» (пограничный ALT, 136 пациентов):</a:t>
            </a:r>
            <a:endParaRPr lang="ru-RU" sz="32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3200" dirty="0"/>
              <a:t>Жёсткий </a:t>
            </a:r>
            <a:r>
              <a:rPr lang="ru-RU" sz="3200" dirty="0" err="1"/>
              <a:t>kNN</a:t>
            </a:r>
            <a:r>
              <a:rPr lang="ru-RU" sz="3200" dirty="0"/>
              <a:t>: 5 ложноположительных.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3200" dirty="0"/>
              <a:t>Нечёткий </a:t>
            </a:r>
            <a:r>
              <a:rPr lang="ru-RU" sz="3200" dirty="0" err="1"/>
              <a:t>kNN</a:t>
            </a:r>
            <a:r>
              <a:rPr lang="ru-RU" sz="3200" dirty="0"/>
              <a:t>: средний скор риска 0.066 – клинически низкий.</a:t>
            </a:r>
          </a:p>
          <a:p>
            <a:pPr>
              <a:lnSpc>
                <a:spcPct val="150000"/>
              </a:lnSpc>
            </a:pPr>
            <a:r>
              <a:rPr lang="ru-RU" sz="3200" b="1" dirty="0"/>
              <a:t>Неопределённость:</a:t>
            </a:r>
            <a:r>
              <a:rPr lang="ru-RU" sz="3200" dirty="0"/>
              <a:t> у 12 пациентов &gt;0.5 – рекомендовано дополнительное обследование.</a:t>
            </a:r>
          </a:p>
          <a:p>
            <a:endParaRPr lang="en-RU" sz="4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EC8E2C1-CABD-4ADA-9466-A6F874E220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031" r="19017"/>
          <a:stretch/>
        </p:blipFill>
        <p:spPr>
          <a:xfrm>
            <a:off x="821727" y="9612237"/>
            <a:ext cx="12865992" cy="311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346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Выводы</a:t>
            </a: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1539524" y="3239804"/>
            <a:ext cx="22173756" cy="10033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3600" b="1" dirty="0"/>
              <a:t>Гипотеза подтверждена частично:</a:t>
            </a:r>
            <a:r>
              <a:rPr lang="ru-RU" sz="3600" dirty="0"/>
              <a:t> нечёткий </a:t>
            </a:r>
            <a:r>
              <a:rPr lang="ru-RU" sz="3600" dirty="0" err="1"/>
              <a:t>kNN</a:t>
            </a:r>
            <a:r>
              <a:rPr lang="ru-RU" sz="3600" dirty="0"/>
              <a:t> даёт лучшую интерпретируемость (скор риска, неопределённость), SVM – выше точность бинарной классификации.</a:t>
            </a:r>
          </a:p>
          <a:p>
            <a:pPr>
              <a:lnSpc>
                <a:spcPct val="150000"/>
              </a:lnSpc>
            </a:pPr>
            <a:r>
              <a:rPr lang="ru-RU" sz="3600" b="1" dirty="0"/>
              <a:t>Практический протокол:</a:t>
            </a:r>
            <a:endParaRPr lang="ru-RU" sz="36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800" b="1" dirty="0"/>
              <a:t>Скрининг (SVM)</a:t>
            </a:r>
            <a:endParaRPr lang="ru-RU" sz="2800" dirty="0"/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ru-RU" sz="2800" dirty="0"/>
              <a:t>Вероятность &lt; 0,</a:t>
            </a:r>
            <a:r>
              <a:rPr lang="en-US" sz="2800" dirty="0"/>
              <a:t>5</a:t>
            </a:r>
            <a:r>
              <a:rPr lang="ru-RU" sz="2800" dirty="0"/>
              <a:t> → наблюдение, следующий скрининг через 6 мес.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ru-RU" sz="2800" dirty="0"/>
              <a:t>Вероятность ≥ 0,</a:t>
            </a:r>
            <a:r>
              <a:rPr lang="en-US" sz="2800" dirty="0"/>
              <a:t>5</a:t>
            </a:r>
            <a:r>
              <a:rPr lang="ru-RU" sz="2800" dirty="0"/>
              <a:t> → переход к детальной оценке.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800" b="1" dirty="0"/>
              <a:t>Детальная оценка (нечёткий </a:t>
            </a:r>
            <a:r>
              <a:rPr lang="ru-RU" sz="2800" b="1" dirty="0" err="1"/>
              <a:t>kNN</a:t>
            </a:r>
            <a:r>
              <a:rPr lang="ru-RU" sz="2800" b="1" dirty="0"/>
              <a:t>)</a:t>
            </a:r>
            <a:endParaRPr lang="ru-RU" sz="2800" dirty="0"/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ru-RU" sz="2800" b="1" dirty="0"/>
              <a:t> </a:t>
            </a:r>
            <a:r>
              <a:rPr lang="ru-RU" sz="2800" b="1" dirty="0" err="1"/>
              <a:t>risk</a:t>
            </a:r>
            <a:r>
              <a:rPr lang="ru-RU" sz="2800" b="1" dirty="0"/>
              <a:t> &lt; 0,3</a:t>
            </a:r>
            <a:r>
              <a:rPr lang="ru-RU" sz="2800" dirty="0"/>
              <a:t> → плановое наблюдение 1 раз в 6 мес.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ru-RU" sz="2800" b="1" dirty="0"/>
              <a:t> 0,3 ≤ </a:t>
            </a:r>
            <a:r>
              <a:rPr lang="ru-RU" sz="2800" b="1" dirty="0" err="1"/>
              <a:t>risk</a:t>
            </a:r>
            <a:r>
              <a:rPr lang="ru-RU" sz="2800" b="1" dirty="0"/>
              <a:t> &lt; 0,7</a:t>
            </a:r>
            <a:r>
              <a:rPr lang="ru-RU" sz="2800" dirty="0"/>
              <a:t> → углублённое обследование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ru-RU" sz="2800" b="1" dirty="0"/>
              <a:t> </a:t>
            </a:r>
            <a:r>
              <a:rPr lang="ru-RU" sz="2800" b="1" dirty="0" err="1"/>
              <a:t>risk</a:t>
            </a:r>
            <a:r>
              <a:rPr lang="ru-RU" sz="2800" b="1" dirty="0"/>
              <a:t> ≥ 0,7</a:t>
            </a:r>
            <a:r>
              <a:rPr lang="ru-RU" sz="2800" dirty="0"/>
              <a:t> → направление к гепатологу.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ru-RU" sz="2800" b="1" dirty="0"/>
              <a:t> </a:t>
            </a:r>
            <a:r>
              <a:rPr lang="ru-RU" sz="2800" b="1" dirty="0" err="1"/>
              <a:t>uncertainty</a:t>
            </a:r>
            <a:r>
              <a:rPr lang="ru-RU" sz="2800" b="1" dirty="0"/>
              <a:t> &gt; 0,5</a:t>
            </a:r>
            <a:r>
              <a:rPr lang="ru-RU" sz="2800" dirty="0"/>
              <a:t> → повторить анализы, исключить технические ошибки.</a:t>
            </a:r>
          </a:p>
          <a:p>
            <a:pPr marL="914400" lvl="2">
              <a:lnSpc>
                <a:spcPct val="150000"/>
              </a:lnSpc>
            </a:pPr>
            <a:endParaRPr lang="ru-RU" sz="36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3600" b="1" dirty="0"/>
              <a:t> Ограничения:</a:t>
            </a:r>
            <a:r>
              <a:rPr lang="ru-RU" sz="3600" dirty="0"/>
              <a:t> малая выборка для классов 1 и 2.</a:t>
            </a:r>
          </a:p>
          <a:p>
            <a:endParaRPr lang="en-RU" sz="4000" dirty="0"/>
          </a:p>
        </p:txBody>
      </p:sp>
    </p:spTree>
    <p:extLst>
      <p:ext uri="{BB962C8B-B14F-4D97-AF65-F5344CB8AC3E}">
        <p14:creationId xmlns:p14="http://schemas.microsoft.com/office/powerpoint/2010/main" val="3029081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заключение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A7AE55-88BC-D6C0-DAA8-9C7ED6059B09}"/>
              </a:ext>
            </a:extLst>
          </p:cNvPr>
          <p:cNvSpPr txBox="1"/>
          <p:nvPr/>
        </p:nvSpPr>
        <p:spPr>
          <a:xfrm>
            <a:off x="1752176" y="3425496"/>
            <a:ext cx="21817088" cy="3313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3600" dirty="0"/>
              <a:t>Разработаны и сравнены две модели.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3600" dirty="0"/>
              <a:t>SVM обеспечивает высокую точность бинарного скрининга (AUC=0.972).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3600" dirty="0"/>
              <a:t>Нечёткий </a:t>
            </a:r>
            <a:r>
              <a:rPr lang="ru-RU" sz="3600" dirty="0" err="1"/>
              <a:t>kNN</a:t>
            </a:r>
            <a:r>
              <a:rPr lang="ru-RU" sz="3600" dirty="0"/>
              <a:t> даёт клинически ценную информацию: степени принадлежности, скор риска, неопределённость.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E5BB50-B94E-3769-BC60-082F5935B99D}"/>
              </a:ext>
            </a:extLst>
          </p:cNvPr>
          <p:cNvSpPr txBox="1"/>
          <p:nvPr/>
        </p:nvSpPr>
        <p:spPr>
          <a:xfrm>
            <a:off x="1966624" y="8226152"/>
            <a:ext cx="562846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Ссылка на </a:t>
            </a:r>
            <a:r>
              <a:rPr lang="en-US" sz="3600" dirty="0"/>
              <a:t>Google </a:t>
            </a:r>
            <a:r>
              <a:rPr lang="en-US" sz="3600" dirty="0" err="1"/>
              <a:t>Colla</a:t>
            </a:r>
            <a:r>
              <a:rPr lang="ru-RU" altLang="zh-CN" sz="3600" dirty="0"/>
              <a:t>b</a:t>
            </a:r>
            <a:r>
              <a:rPr lang="en-US" altLang="zh-CN" sz="3600" dirty="0"/>
              <a:t>:</a:t>
            </a:r>
            <a:endParaRPr lang="en-US" sz="3600" dirty="0"/>
          </a:p>
          <a:p>
            <a:endParaRPr lang="en-US" sz="3600" dirty="0"/>
          </a:p>
          <a:p>
            <a:endParaRPr lang="en-US" sz="36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8E40B5A-49C3-4C09-A352-8CDF69EC7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3594" y="8925975"/>
            <a:ext cx="3877354" cy="39092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387BFA-6709-462C-BC5E-A945B4CF3545}"/>
              </a:ext>
            </a:extLst>
          </p:cNvPr>
          <p:cNvSpPr txBox="1"/>
          <p:nvPr/>
        </p:nvSpPr>
        <p:spPr>
          <a:xfrm>
            <a:off x="16080432" y="8044047"/>
            <a:ext cx="3600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Dataset</a:t>
            </a:r>
            <a:r>
              <a:rPr lang="zh-CN" altLang="en-US" sz="3600" dirty="0"/>
              <a:t>：</a:t>
            </a:r>
            <a:endParaRPr lang="en-US" sz="3600" dirty="0"/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3CE93B1-8E1C-4103-A2F9-CD82EE4BE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768" y="9234841"/>
            <a:ext cx="3877354" cy="36004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D7CFA5D-3802-419F-8CFF-AD9C315C90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936" y="9234841"/>
            <a:ext cx="3689857" cy="360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300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2723</TotalTime>
  <Words>1118</Words>
  <Application>Microsoft Office PowerPoint</Application>
  <PresentationFormat>Произвольный</PresentationFormat>
  <Paragraphs>101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Calibri</vt:lpstr>
      <vt:lpstr>Helvetica Neue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Андриянова Екатерина Вячеславовна</dc:creator>
  <cp:keywords/>
  <dc:description/>
  <cp:lastModifiedBy>Наталья Ковязина</cp:lastModifiedBy>
  <cp:revision>34</cp:revision>
  <dcterms:modified xsi:type="dcterms:W3CDTF">2026-06-04T11:38:15Z</dcterms:modified>
  <cp:category/>
</cp:coreProperties>
</file>