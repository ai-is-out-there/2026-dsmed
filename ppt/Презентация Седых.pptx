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6;p2" descr="Google Shape;16;p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3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9" name="Google Shape;18;p2" descr="Google Shape;18;p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48085" y="1924344"/>
            <a:ext cx="1532264" cy="1773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Google Shape;19;p2"/>
          <p:cNvSpPr/>
          <p:nvPr/>
        </p:nvSpPr>
        <p:spPr>
          <a:xfrm>
            <a:off x="12180424" y="1924343"/>
            <a:ext cx="3" cy="1680349"/>
          </a:xfrm>
          <a:prstGeom prst="line">
            <a:avLst/>
          </a:prstGeom>
          <a:ln w="25400"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Google Shape;20;p2"/>
          <p:cNvSpPr/>
          <p:nvPr/>
        </p:nvSpPr>
        <p:spPr>
          <a:xfrm>
            <a:off x="17285158" y="1924343"/>
            <a:ext cx="3" cy="1680349"/>
          </a:xfrm>
          <a:prstGeom prst="line">
            <a:avLst/>
          </a:prstGeom>
          <a:ln w="25400"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Google Shape;21;p2"/>
          <p:cNvSpPr/>
          <p:nvPr/>
        </p:nvSpPr>
        <p:spPr>
          <a:xfrm>
            <a:off x="22358092" y="1924343"/>
            <a:ext cx="3" cy="1680349"/>
          </a:xfrm>
          <a:prstGeom prst="line">
            <a:avLst/>
          </a:prstGeom>
          <a:ln w="25400"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Уровень текста 1…"/>
          <p:cNvSpPr txBox="1"/>
          <p:nvPr>
            <p:ph type="body" sz="quarter" idx="1"/>
          </p:nvPr>
        </p:nvSpPr>
        <p:spPr>
          <a:xfrm>
            <a:off x="4261479" y="2224144"/>
            <a:ext cx="7162818" cy="1408566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4" name="Google Shape;23;p2"/>
          <p:cNvSpPr txBox="1"/>
          <p:nvPr>
            <p:ph type="body" sz="quarter" idx="21"/>
          </p:nvPr>
        </p:nvSpPr>
        <p:spPr>
          <a:xfrm>
            <a:off x="12479956" y="2224145"/>
            <a:ext cx="4505672" cy="1080750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25" name="Google Shape;24;p2"/>
          <p:cNvSpPr txBox="1"/>
          <p:nvPr>
            <p:ph type="body" sz="quarter" idx="22"/>
          </p:nvPr>
        </p:nvSpPr>
        <p:spPr>
          <a:xfrm>
            <a:off x="17592002" y="2224145"/>
            <a:ext cx="4505671" cy="1080750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26" name="Google Shape;25;p2"/>
          <p:cNvSpPr txBox="1"/>
          <p:nvPr>
            <p:ph type="body" sz="half" idx="23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27" name="Google Shape;26;p2"/>
          <p:cNvSpPr txBox="1"/>
          <p:nvPr>
            <p:ph type="body" sz="quarter" idx="24"/>
          </p:nvPr>
        </p:nvSpPr>
        <p:spPr>
          <a:xfrm>
            <a:off x="2029011" y="9494373"/>
            <a:ext cx="9995707" cy="1773000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pic>
        <p:nvPicPr>
          <p:cNvPr id="28" name="Google Shape;27;p2" descr="Google Shape;27;p2"/>
          <p:cNvPicPr>
            <a:picLocks noChangeAspect="1"/>
          </p:cNvPicPr>
          <p:nvPr/>
        </p:nvPicPr>
        <p:blipFill>
          <a:blip r:embed="rId5">
            <a:alphaModFix amt="27474"/>
            <a:extLst/>
          </a:blip>
          <a:stretch>
            <a:fillRect/>
          </a:stretch>
        </p:blipFill>
        <p:spPr>
          <a:xfrm>
            <a:off x="13288396" y="1662907"/>
            <a:ext cx="16546250" cy="17791536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6;p1" descr="Google Shape;6;p1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b="1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" name="Google Shape;8;p1"/>
          <p:cNvSpPr/>
          <p:nvPr/>
        </p:nvSpPr>
        <p:spPr>
          <a:xfrm>
            <a:off x="6597370" y="928725"/>
            <a:ext cx="4" cy="1172522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Google Shape;9;p1"/>
          <p:cNvSpPr/>
          <p:nvPr/>
        </p:nvSpPr>
        <p:spPr>
          <a:xfrm>
            <a:off x="12198829" y="928725"/>
            <a:ext cx="4" cy="1172522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Google Shape;10;p1"/>
          <p:cNvSpPr/>
          <p:nvPr/>
        </p:nvSpPr>
        <p:spPr>
          <a:xfrm>
            <a:off x="23287736" y="928725"/>
            <a:ext cx="3" cy="1172522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1" name="Google Shape;11;p1" descr="Google Shape;11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20083102" cy="1582422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" name="Google Shape;31;p3"/>
          <p:cNvSpPr txBox="1"/>
          <p:nvPr>
            <p:ph type="body" sz="quarter" idx="21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44" name="Номер слайда"/>
          <p:cNvSpPr txBox="1"/>
          <p:nvPr>
            <p:ph type="sldNum" sz="quarter" idx="2"/>
          </p:nvPr>
        </p:nvSpPr>
        <p:spPr>
          <a:xfrm>
            <a:off x="22203082" y="12835884"/>
            <a:ext cx="504519" cy="48388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4;p4" descr="Google Shape;34;p4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20083102" cy="1582422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4" name="Google Shape;37;p4"/>
          <p:cNvSpPr txBox="1"/>
          <p:nvPr>
            <p:ph type="body" idx="21"/>
          </p:nvPr>
        </p:nvSpPr>
        <p:spPr>
          <a:xfrm>
            <a:off x="1125839" y="4725596"/>
            <a:ext cx="22132322" cy="6565318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55" name="Google Shape;38;p4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Google Shape;39;p4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Google Shape;40;p4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8" name="Google Shape;41;p4" descr="Google Shape;41;p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44;p5" descr="Google Shape;44;p5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" name="Уровень текста 1…"/>
          <p:cNvSpPr txBox="1"/>
          <p:nvPr>
            <p:ph type="body" sz="quarter" idx="1"/>
          </p:nvPr>
        </p:nvSpPr>
        <p:spPr>
          <a:xfrm>
            <a:off x="1071387" y="4938019"/>
            <a:ext cx="9560765" cy="295148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9" name="Google Shape;47;p5"/>
          <p:cNvSpPr txBox="1"/>
          <p:nvPr>
            <p:ph type="body" sz="quarter" idx="21"/>
          </p:nvPr>
        </p:nvSpPr>
        <p:spPr>
          <a:xfrm>
            <a:off x="1071388" y="10647084"/>
            <a:ext cx="9560766" cy="792483"/>
          </a:xfrm>
          <a:prstGeom prst="rect">
            <a:avLst/>
          </a:prstGeom>
        </p:spPr>
        <p:txBody>
          <a:bodyPr/>
          <a:lstStyle/>
          <a:p>
            <a:pPr marL="384047" indent="-288035" defTabSz="768095">
              <a:spcBef>
                <a:spcPts val="1600"/>
              </a:spcBef>
              <a:buSzPts val="4700"/>
              <a:defRPr sz="4703"/>
            </a:pPr>
          </a:p>
        </p:txBody>
      </p:sp>
      <p:sp>
        <p:nvSpPr>
          <p:cNvPr id="70" name="Google Shape;48;p5"/>
          <p:cNvSpPr txBox="1"/>
          <p:nvPr>
            <p:ph type="body" sz="quarter" idx="22"/>
          </p:nvPr>
        </p:nvSpPr>
        <p:spPr>
          <a:xfrm>
            <a:off x="1071391" y="2793806"/>
            <a:ext cx="20083100" cy="1582422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71" name="Google Shape;49;p5"/>
          <p:cNvSpPr txBox="1"/>
          <p:nvPr>
            <p:ph type="body" sz="quarter" idx="23"/>
          </p:nvPr>
        </p:nvSpPr>
        <p:spPr>
          <a:xfrm>
            <a:off x="12190716" y="4925943"/>
            <a:ext cx="10974723" cy="3886203"/>
          </a:xfrm>
          <a:prstGeom prst="rect">
            <a:avLst/>
          </a:prstGeom>
        </p:spPr>
        <p:txBody>
          <a:bodyPr lIns="101600" tIns="101600" rIns="101600" bIns="101600"/>
          <a:lstStyle/>
          <a:p>
            <a:pPr indent="-342900"/>
          </a:p>
        </p:txBody>
      </p:sp>
      <p:sp>
        <p:nvSpPr>
          <p:cNvPr id="72" name="Google Shape;50;p5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Google Shape;51;p5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Google Shape;52;p5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5" name="Google Shape;53;p5" descr="Google Shape;53;p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56;p6" descr="Google Shape;56;p6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" name="Уровень текста 1…"/>
          <p:cNvSpPr txBox="1"/>
          <p:nvPr>
            <p:ph type="body" sz="quarter" idx="1"/>
          </p:nvPr>
        </p:nvSpPr>
        <p:spPr>
          <a:xfrm>
            <a:off x="1026347" y="2970008"/>
            <a:ext cx="7120557" cy="211328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6" name="Google Shape;59;p6"/>
          <p:cNvSpPr txBox="1"/>
          <p:nvPr>
            <p:ph type="body" sz="quarter" idx="21"/>
          </p:nvPr>
        </p:nvSpPr>
        <p:spPr>
          <a:xfrm>
            <a:off x="1026347" y="6080647"/>
            <a:ext cx="7120557" cy="26212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87" name="Google Shape;60;p6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88" name="Google Shape;61;p6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Google Shape;62;p6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Google Shape;63;p6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1" name="Google Shape;64;p6" descr="Google Shape;64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67;p7" descr="Google Shape;67;p7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20083102" cy="1582422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2" name="Google Shape;70;p7"/>
          <p:cNvSpPr txBox="1"/>
          <p:nvPr>
            <p:ph type="body" sz="quarter" idx="21"/>
          </p:nvPr>
        </p:nvSpPr>
        <p:spPr>
          <a:xfrm>
            <a:off x="1071389" y="4886926"/>
            <a:ext cx="6960890" cy="4627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03" name="Google Shape;71;p7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04" name="Google Shape;72;p7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Google Shape;73;p7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Google Shape;74;p7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7" name="Google Shape;75;p7" descr="Google Shape;75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78;p8"/>
          <p:cNvSpPr txBox="1"/>
          <p:nvPr/>
        </p:nvSpPr>
        <p:spPr>
          <a:xfrm>
            <a:off x="2029011" y="4568039"/>
            <a:ext cx="20325978" cy="343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80000"/>
              </a:lnSpc>
              <a:defRPr sz="8600">
                <a:solidFill>
                  <a:srgbClr val="172C65"/>
                </a:solidFill>
              </a:defRPr>
            </a:pPr>
            <a:r>
              <a:t>Название презентации</a:t>
            </a:r>
            <a:br/>
            <a:r>
              <a:t>может быть набрано в две </a:t>
            </a:r>
            <a:br/>
            <a:r>
              <a:t>или три строки</a:t>
            </a:r>
          </a:p>
        </p:txBody>
      </p:sp>
      <p:sp>
        <p:nvSpPr>
          <p:cNvPr id="116" name="Google Shape;79;p8"/>
          <p:cNvSpPr txBox="1"/>
          <p:nvPr/>
        </p:nvSpPr>
        <p:spPr>
          <a:xfrm>
            <a:off x="2029011" y="9794174"/>
            <a:ext cx="20325978" cy="577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80000"/>
              </a:lnSpc>
              <a:defRPr sz="2800"/>
            </a:lvl1pPr>
          </a:lstStyle>
          <a:p>
            <a:pPr/>
            <a:r>
              <a:t>Если нужно больше места, то используйте подзаголовок</a:t>
            </a:r>
          </a:p>
        </p:txBody>
      </p:sp>
      <p:pic>
        <p:nvPicPr>
          <p:cNvPr id="117" name="Google Shape;80;p8" descr="Google Shape;80;p8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" name="Уровень текста 1…"/>
          <p:cNvSpPr txBox="1"/>
          <p:nvPr>
            <p:ph type="body" sz="quarter" idx="1"/>
          </p:nvPr>
        </p:nvSpPr>
        <p:spPr>
          <a:xfrm>
            <a:off x="1071390" y="4937092"/>
            <a:ext cx="5646297" cy="310388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0" name="Google Shape;83;p8"/>
          <p:cNvSpPr txBox="1"/>
          <p:nvPr>
            <p:ph type="body" sz="quarter" idx="21"/>
          </p:nvPr>
        </p:nvSpPr>
        <p:spPr>
          <a:xfrm>
            <a:off x="8135580" y="4937092"/>
            <a:ext cx="6313735" cy="3103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21" name="Google Shape;84;p8"/>
          <p:cNvSpPr txBox="1"/>
          <p:nvPr>
            <p:ph type="body" sz="quarter" idx="22"/>
          </p:nvPr>
        </p:nvSpPr>
        <p:spPr>
          <a:xfrm>
            <a:off x="15110121" y="4937092"/>
            <a:ext cx="5646295" cy="3103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22" name="Google Shape;85;p8"/>
          <p:cNvSpPr txBox="1"/>
          <p:nvPr>
            <p:ph type="body" sz="quarter" idx="23"/>
          </p:nvPr>
        </p:nvSpPr>
        <p:spPr>
          <a:xfrm>
            <a:off x="1071391" y="2793806"/>
            <a:ext cx="20083100" cy="1582422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23" name="Google Shape;86;p8"/>
          <p:cNvSpPr txBox="1"/>
          <p:nvPr>
            <p:ph type="body" sz="quarter" idx="24"/>
          </p:nvPr>
        </p:nvSpPr>
        <p:spPr>
          <a:xfrm>
            <a:off x="1071390" y="8351777"/>
            <a:ext cx="5434545" cy="1706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24" name="Google Shape;87;p8"/>
          <p:cNvSpPr txBox="1"/>
          <p:nvPr>
            <p:ph type="body" sz="quarter" idx="25"/>
          </p:nvPr>
        </p:nvSpPr>
        <p:spPr>
          <a:xfrm>
            <a:off x="8135580" y="8351777"/>
            <a:ext cx="5434543" cy="1706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25" name="Google Shape;88;p8"/>
          <p:cNvSpPr txBox="1"/>
          <p:nvPr>
            <p:ph type="body" sz="quarter" idx="26"/>
          </p:nvPr>
        </p:nvSpPr>
        <p:spPr>
          <a:xfrm>
            <a:off x="15110121" y="8351777"/>
            <a:ext cx="5434543" cy="1706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26" name="Google Shape;89;p8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Google Shape;90;p8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Google Shape;91;p8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9" name="Google Shape;92;p8" descr="Google Shape;92;p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95;p9" descr="Google Shape;95;p9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0" name="Google Shape;98;p9"/>
          <p:cNvSpPr txBox="1"/>
          <p:nvPr>
            <p:ph type="body" sz="quarter" idx="21"/>
          </p:nvPr>
        </p:nvSpPr>
        <p:spPr>
          <a:xfrm>
            <a:off x="1071388" y="11162430"/>
            <a:ext cx="15527375" cy="10972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41" name="Google Shape;99;p9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Google Shape;100;p9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Google Shape;101;p9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4" name="Google Shape;102;p9" descr="Google Shape;102;p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05;p10" descr="Google Shape;105;p10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5" name="Google Shape;108;p10"/>
          <p:cNvSpPr txBox="1"/>
          <p:nvPr>
            <p:ph type="body" sz="quarter" idx="21"/>
          </p:nvPr>
        </p:nvSpPr>
        <p:spPr>
          <a:xfrm>
            <a:off x="17388763" y="4377478"/>
            <a:ext cx="5434543" cy="32308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pic>
        <p:nvPicPr>
          <p:cNvPr id="156" name="Google Shape;109;p10" descr="Google Shape;109;p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Google Shape;110;p10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Google Shape;111;p10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Google Shape;112;p10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15;p11" descr="Google Shape;115;p11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Уровень текста 1…"/>
          <p:cNvSpPr txBox="1"/>
          <p:nvPr>
            <p:ph type="body" sz="quarter" idx="1"/>
          </p:nvPr>
        </p:nvSpPr>
        <p:spPr>
          <a:xfrm>
            <a:off x="1071390" y="2793806"/>
            <a:ext cx="5543437" cy="1582422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0" name="Google Shape;118;p11"/>
          <p:cNvSpPr txBox="1"/>
          <p:nvPr>
            <p:ph type="body" sz="quarter" idx="21"/>
          </p:nvPr>
        </p:nvSpPr>
        <p:spPr>
          <a:xfrm>
            <a:off x="1125836" y="4734526"/>
            <a:ext cx="5434545" cy="231648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71" name="Google Shape;119;p11"/>
          <p:cNvSpPr txBox="1"/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172" name="Google Shape;120;p11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Google Shape;121;p11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Google Shape;122;p11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5" name="Google Shape;123;p11" descr="Google Shape;123;p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6;p12" descr="Google Shape;126;p12"/>
          <p:cNvPicPr>
            <a:picLocks noChangeAspect="1"/>
          </p:cNvPicPr>
          <p:nvPr/>
        </p:nvPicPr>
        <p:blipFill>
          <a:blip r:embed="rId2">
            <a:extLst/>
          </a:blip>
          <a:srcRect l="0" t="4" r="0" b="2"/>
          <a:stretch>
            <a:fillRect/>
          </a:stretch>
        </p:blipFill>
        <p:spPr>
          <a:xfrm>
            <a:off x="0" y="-1"/>
            <a:ext cx="24384000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>
            <a:solidFill>
              <a:srgbClr val="32538F"/>
            </a:solidFill>
            <a:miter lim="8000"/>
          </a:ln>
        </p:spPr>
        <p:txBody>
          <a:bodyPr lIns="45719" rIns="45719" anchor="ctr"/>
          <a:lstStyle/>
          <a:p>
            <a:pPr algn="ctr"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" name="Google Shape;128;p12"/>
          <p:cNvSpPr/>
          <p:nvPr/>
        </p:nvSpPr>
        <p:spPr>
          <a:xfrm>
            <a:off x="659736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Google Shape;129;p12"/>
          <p:cNvSpPr/>
          <p:nvPr/>
        </p:nvSpPr>
        <p:spPr>
          <a:xfrm>
            <a:off x="12198829" y="928726"/>
            <a:ext cx="5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sp>
        <p:nvSpPr>
          <p:cNvPr id="6" name="Google Shape;130;p12"/>
          <p:cNvSpPr/>
          <p:nvPr/>
        </p:nvSpPr>
        <p:spPr>
          <a:xfrm>
            <a:off x="23287737" y="928726"/>
            <a:ext cx="3" cy="1172521"/>
          </a:xfrm>
          <a:prstGeom prst="line">
            <a:avLst/>
          </a:prstGeom>
          <a:ln>
            <a:solidFill>
              <a:srgbClr val="102D69"/>
            </a:solidFill>
            <a:miter lim="8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" name="Google Shape;131;p12" descr="Google Shape;131;p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3" y="1094997"/>
            <a:ext cx="774821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Номер слайда"/>
          <p:cNvSpPr txBox="1"/>
          <p:nvPr>
            <p:ph type="sldNum" sz="quarter" idx="2"/>
          </p:nvPr>
        </p:nvSpPr>
        <p:spPr>
          <a:xfrm>
            <a:off x="22203082" y="12835885"/>
            <a:ext cx="504518" cy="483880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9" name="Текст заголовка"/>
          <p:cNvSpPr txBox="1"/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0" name="Уровень текста 1…"/>
          <p:cNvSpPr txBox="1"/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584200" algn="l" defTabSz="914400" rtl="0" latinLnBrk="0">
        <a:lnSpc>
          <a:spcPct val="90000"/>
        </a:lnSpc>
        <a:spcBef>
          <a:spcPts val="2000"/>
        </a:spcBef>
        <a:spcAft>
          <a:spcPts val="0"/>
        </a:spcAft>
        <a:buClr>
          <a:srgbClr val="000000"/>
        </a:buClr>
        <a:buSzPts val="56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37;p13"/>
          <p:cNvSpPr txBox="1"/>
          <p:nvPr>
            <p:ph type="body" sz="quarter" idx="1"/>
          </p:nvPr>
        </p:nvSpPr>
        <p:spPr>
          <a:xfrm>
            <a:off x="4261479" y="2224144"/>
            <a:ext cx="7162801" cy="14085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61184"/>
              </a:lnSpc>
              <a:spcBef>
                <a:spcPts val="0"/>
              </a:spcBef>
              <a:buSzTx/>
              <a:buNone/>
              <a:defRPr sz="2400">
                <a:solidFill>
                  <a:srgbClr val="2253A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Центр цифровой медицины </a:t>
            </a:r>
          </a:p>
          <a:p>
            <a:pPr marL="0" indent="0">
              <a:lnSpc>
                <a:spcPct val="161184"/>
              </a:lnSpc>
              <a:spcBef>
                <a:spcPts val="0"/>
              </a:spcBef>
              <a:buSzTx/>
              <a:buNone/>
              <a:defRPr sz="2400">
                <a:solidFill>
                  <a:srgbClr val="2253A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и искусственного интеллекта в медицине</a:t>
            </a:r>
          </a:p>
        </p:txBody>
      </p:sp>
      <p:sp>
        <p:nvSpPr>
          <p:cNvPr id="193" name="Google Shape;138;p13"/>
          <p:cNvSpPr txBox="1"/>
          <p:nvPr>
            <p:ph type="body" idx="21"/>
          </p:nvPr>
        </p:nvSpPr>
        <p:spPr>
          <a:xfrm>
            <a:off x="12479949" y="2224150"/>
            <a:ext cx="4726802" cy="1080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lnSpc>
                <a:spcPct val="152413"/>
              </a:lnSpc>
              <a:spcBef>
                <a:spcPts val="0"/>
              </a:spcBef>
              <a:buSzTx/>
              <a:buNone/>
              <a:defRPr sz="2400">
                <a:solidFill>
                  <a:srgbClr val="2253A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194" name="Google Shape;139;p1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lnSpc>
                <a:spcPct val="172413"/>
              </a:lnSpc>
              <a:spcBef>
                <a:spcPts val="0"/>
              </a:spcBef>
              <a:buSzTx/>
              <a:buNone/>
              <a:defRPr sz="2400">
                <a:solidFill>
                  <a:srgbClr val="2253A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Москва</a:t>
            </a:r>
            <a:r>
              <a:t>, </a:t>
            </a:r>
            <a:r>
              <a:t>202</a:t>
            </a:r>
            <a:r>
              <a:t>6</a:t>
            </a:r>
          </a:p>
        </p:txBody>
      </p:sp>
      <p:sp>
        <p:nvSpPr>
          <p:cNvPr id="195" name="Google Shape;140;p13"/>
          <p:cNvSpPr txBox="1"/>
          <p:nvPr>
            <p:ph type="body" idx="23"/>
          </p:nvPr>
        </p:nvSpPr>
        <p:spPr>
          <a:xfrm>
            <a:off x="2028999" y="5091524"/>
            <a:ext cx="14113201" cy="44358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lnSpc>
                <a:spcPct val="119870"/>
              </a:lnSpc>
              <a:spcBef>
                <a:spcPts val="0"/>
              </a:spcBef>
              <a:buSzTx/>
              <a:buNone/>
              <a:defRPr sz="5100">
                <a:solidFill>
                  <a:srgbClr val="2253A1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Сравнение AutoML-подходов</a:t>
            </a:r>
          </a:p>
        </p:txBody>
      </p:sp>
      <p:sp>
        <p:nvSpPr>
          <p:cNvPr id="196" name="Google Shape;141;p13"/>
          <p:cNvSpPr txBox="1"/>
          <p:nvPr/>
        </p:nvSpPr>
        <p:spPr>
          <a:xfrm>
            <a:off x="2032924" y="8709975"/>
            <a:ext cx="12876602" cy="31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Выполнила:</a:t>
            </a:r>
            <a:endParaRPr sz="7447"/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студент гр.</a:t>
            </a:r>
            <a:r>
              <a:t> 737-01</a:t>
            </a:r>
            <a:r>
              <a:t>                                                                     </a:t>
            </a:r>
            <a:r>
              <a:t>ФИО Седых Арсений Сергеевич </a:t>
            </a:r>
            <a:endParaRPr sz="7447"/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7447">
                <a:solidFill>
                  <a:srgbClr val="2253A1"/>
                </a:solidFill>
              </a:defRPr>
            </a:pPr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Руководитель:</a:t>
            </a:r>
            <a:endParaRPr sz="7447"/>
          </a:p>
          <a:p>
            <a:pPr defTabSz="694944">
              <a:lnSpc>
                <a:spcPct val="142500"/>
              </a:lnSpc>
              <a:buClr>
                <a:srgbClr val="000000"/>
              </a:buClr>
              <a:buFont typeface="Arial"/>
              <a:defRPr sz="1824">
                <a:solidFill>
                  <a:srgbClr val="2253A1"/>
                </a:solidFill>
              </a:defRPr>
            </a:pPr>
            <a:r>
              <a:t>Андриков Д.А.</a:t>
            </a:r>
            <a:r>
              <a:t>, Андриянова Е.В.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Введение</a:t>
            </a:r>
          </a:p>
        </p:txBody>
      </p:sp>
      <p:sp>
        <p:nvSpPr>
          <p:cNvPr id="199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00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01" name="Slide Number Placeholder 1"/>
          <p:cNvSpPr txBox="1"/>
          <p:nvPr>
            <p:ph type="sldNum" sz="quarter" idx="2"/>
          </p:nvPr>
        </p:nvSpPr>
        <p:spPr>
          <a:xfrm>
            <a:off x="22357566" y="12835884"/>
            <a:ext cx="350035" cy="483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2" name="TextBox 2"/>
          <p:cNvSpPr txBox="1"/>
          <p:nvPr/>
        </p:nvSpPr>
        <p:spPr>
          <a:xfrm>
            <a:off x="2415174" y="3399290"/>
            <a:ext cx="19553652" cy="7762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Постановка задачи</a:t>
            </a:r>
          </a:p>
          <a:p>
            <a:pPr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Перед нами стояла задача построить модель, которая по данным диспансеризации пациента предсказывает, относится ли он к группе </a:t>
            </a:r>
            <a:r>
              <a:rPr b="1"/>
              <a:t>высокого сердечно-сосудистого риска</a:t>
            </a:r>
            <a:r>
              <a:t>.</a:t>
            </a:r>
          </a:p>
          <a:p>
            <a:pPr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Как обычно решают такую задачу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Задачу оценки сердечно-сосудистого риска обычно решают методами бинарной классификации: модель по данным пациента относит его к классу низкого или высокого риска.</a:t>
            </a:r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В работе были рассмотрены три подхода: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SVM</a:t>
            </a:r>
            <a:r>
              <a:t> как сильная классическая baseline-модель;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Fuzzy k-NN</a:t>
            </a:r>
            <a:r>
              <a:t> как интерпретируемый метод, который оценивает степень принадлежности пациента к классу риска;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AutoML-подбор</a:t>
            </a:r>
            <a:r>
              <a:t> как автоматический перебор нескольких моделей и гиперпараметров.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Почему мы сделали свой пайплайн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Готовые AutoML-решения часто работают как «чёрный ящик», поэтому мы реализовали воспроизводимый sklearn-пайплайн: одинаковая предобработка данных, одинаковое разбиение train/test и одинаковые метрики для всех моделей. Это позволило честно сравнить качество SVM, Fuzzy k-NN и AutoML на одной задаче.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Постановка задачи</a:t>
            </a:r>
          </a:p>
        </p:txBody>
      </p:sp>
      <p:sp>
        <p:nvSpPr>
          <p:cNvPr id="205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06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07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8" name="TextBox 2"/>
          <p:cNvSpPr txBox="1"/>
          <p:nvPr/>
        </p:nvSpPr>
        <p:spPr>
          <a:xfrm>
            <a:off x="1911830" y="4131170"/>
            <a:ext cx="8705361" cy="576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Что нужно сделать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Нужно построить и сравнить несколько моделей, которые по данным диспансеризации пациента предсказывают наличие </a:t>
            </a:r>
            <a:r>
              <a:rPr b="1"/>
              <a:t>высокого сердечно-сосудистого риска</a:t>
            </a:r>
            <a:r>
              <a:t>.</a:t>
            </a:r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Для этого мы: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 Roman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подготовили данные: обработали пропуски и масштабировали признаки;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 Roman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разделили выборку на train и test;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 Roman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обучили SVM, Fuzzy k-NN и AutoML-подбор моделей;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 Roman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сравнили результаты на одинаковых метриках.</a:t>
            </a:r>
          </a:p>
          <a:p>
            <a:pPr defTabSz="4572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defRPr sz="1300">
                <a:solidFill>
                  <a:srgbClr val="CCCCCC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209" name="Как оценивать решение…"/>
          <p:cNvSpPr txBox="1"/>
          <p:nvPr/>
        </p:nvSpPr>
        <p:spPr>
          <a:xfrm>
            <a:off x="13662860" y="4032385"/>
            <a:ext cx="8705361" cy="7771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Как оценивать решение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Задача считается решённой, если модель хорошо отличает пациентов высокого риска от остальных на тестовой выборке.</a:t>
            </a: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Основная метрика - </a:t>
            </a:r>
            <a:r>
              <a:rPr b="1"/>
              <a:t>ROC-AUC</a:t>
            </a:r>
            <a:r>
              <a:t>, потому что классы несбалансированы: пациентов высокого риска всего </a:t>
            </a:r>
            <a:r>
              <a:rPr b="1"/>
              <a:t>18.1%</a:t>
            </a:r>
            <a:r>
              <a:t>. Дополнительно оцениваем </a:t>
            </a:r>
            <a:r>
              <a:rPr b="1"/>
              <a:t>F1</a:t>
            </a:r>
            <a:r>
              <a:t>, </a:t>
            </a:r>
            <a:r>
              <a:rPr b="1"/>
              <a:t>balanced accuracy</a:t>
            </a:r>
            <a:r>
              <a:t>, precision и recall.</a:t>
            </a: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Научная гипотеза</a:t>
            </a:r>
            <a:endParaRPr b="0"/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rPr b="0"/>
              <a:t>Мы проверяем гипотезу, что </a:t>
            </a:r>
            <a:r>
              <a:t>AutoML сможет найти модель с качеством не хуже ручных подходов, но прирост по ROC-AUC относительно хорошо настроенного SVM будет не больше 5 процентных пунктов</a:t>
            </a:r>
            <a:r>
              <a:rPr b="0"/>
              <a:t>.</a:t>
            </a:r>
            <a:endParaRPr b="0"/>
          </a:p>
          <a:p>
            <a:pPr defTabSz="457200"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То есть мы хотим доказать, что AutoML полезен не только за счёт качества, но и за счёт автоматизации подбора моделей и гиперпараметров.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Обзор литературы</a:t>
            </a:r>
          </a:p>
        </p:txBody>
      </p:sp>
      <p:sp>
        <p:nvSpPr>
          <p:cNvPr id="212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13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14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5" name="Ключевые опубликованные исследования…"/>
          <p:cNvSpPr txBox="1"/>
          <p:nvPr/>
        </p:nvSpPr>
        <p:spPr>
          <a:xfrm>
            <a:off x="1586419" y="3829182"/>
            <a:ext cx="21211162" cy="4304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7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Ключевые опубликованные исследования</a:t>
            </a:r>
            <a:endParaRPr b="0"/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Cortes, Vapnik, 1995</a:t>
            </a:r>
            <a:r>
              <a:t> - работа </a:t>
            </a:r>
            <a:r>
              <a:rPr i="1"/>
              <a:t>Support-vector networks</a:t>
            </a:r>
            <a:r>
              <a:t>, где был представлен подход SVM для задач классификации. В нашей работе SVM используется как сильная baseline-модель.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Keller, Gray, Givens, 1985</a:t>
            </a:r>
            <a:r>
              <a:t> - работа </a:t>
            </a:r>
            <a:r>
              <a:rPr i="1"/>
              <a:t>A fuzzy k-nearest neighbor algorithm</a:t>
            </a:r>
            <a:r>
              <a:t>, где описан Fuzzy k-NN: классификация через степень принадлежности объекта к классам.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Pedregosa et al., 2011</a:t>
            </a:r>
            <a:r>
              <a:t> - статья </a:t>
            </a:r>
            <a:r>
              <a:rPr i="1"/>
              <a:t>Scikit-learn: Machine Learning in Python</a:t>
            </a:r>
            <a:r>
              <a:t>. На этой библиотеке построен наш пайплайн обучения и сравнения моделей.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Feurer et al., 2015</a:t>
            </a:r>
            <a:r>
              <a:t> - работа </a:t>
            </a:r>
            <a:r>
              <a:rPr i="1"/>
              <a:t>Efficient and Robust Automated Machine Learning</a:t>
            </a:r>
            <a:r>
              <a:t>, где представлен auto-sklearn и идея автоматического подбора моделей и гиперпараметров.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i="1" sz="2600">
                <a:latin typeface="Calibri"/>
                <a:ea typeface="Calibri"/>
                <a:cs typeface="Calibri"/>
                <a:sym typeface="Calibri"/>
              </a:defRPr>
            </a:pPr>
            <a:r>
              <a:rPr b="1" i="0"/>
              <a:t>Hutter, Kotthoff, Vanschoren, 2019</a:t>
            </a:r>
            <a:r>
              <a:rPr i="0"/>
              <a:t> - книга </a:t>
            </a:r>
            <a:r>
              <a:t>Automated Machine Learning: Methods, Systems, Challenges</a:t>
            </a:r>
            <a:r>
              <a:rPr i="0"/>
              <a:t>, обобщающая современные подходы AutoML.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Теория</a:t>
            </a:r>
          </a:p>
        </p:txBody>
      </p:sp>
      <p:sp>
        <p:nvSpPr>
          <p:cNvPr id="218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19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20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1" name="Ключевые теоретические положения и методы…"/>
          <p:cNvSpPr txBox="1"/>
          <p:nvPr/>
        </p:nvSpPr>
        <p:spPr>
          <a:xfrm>
            <a:off x="2042572" y="3933957"/>
            <a:ext cx="20298856" cy="587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Ключевые теоретические положения и методы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В основе работы лежит задача </a:t>
            </a:r>
            <a:r>
              <a:rPr b="1"/>
              <a:t>бинарной классификации</a:t>
            </a:r>
            <a:r>
              <a:t>: по медицинским признакам пациента нужно определить, относится ли он к группе высокого сердечно-сосудистого риска.</a:t>
            </a:r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Для решения использовались: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EDA</a:t>
            </a:r>
            <a:r>
              <a:t> - анализ данных, баланса классов, пропусков и распределений признаков;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Предобработка данных</a:t>
            </a:r>
            <a:r>
              <a:t> - заполнение пропусков медианой и масштабирование признаков;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SVM</a:t>
            </a:r>
            <a:r>
              <a:t> - модель, строящая границу между классами с максимальным зазором;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Fuzzy k-NN</a:t>
            </a:r>
            <a:r>
              <a:t> - метод ближайших соседей с нечёткой оценкой принадлежности к классу риска;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AutoML-подбор</a:t>
            </a:r>
            <a:r>
              <a:t> - автоматический перебор нескольких моделей и гиперпараметров;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Кросс-валидация</a:t>
            </a:r>
            <a:r>
              <a:t> - проверка качества моделей на нескольких разбиениях train-выборки.</a:t>
            </a: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Основная метрика сравнения - </a:t>
            </a:r>
            <a:r>
              <a:rPr b="1"/>
              <a:t>ROC-AUC</a:t>
            </a:r>
            <a:r>
              <a:t>, так как классы несбалансированы. Дополнительно использовались </a:t>
            </a:r>
            <a:r>
              <a:rPr b="1"/>
              <a:t>F1</a:t>
            </a:r>
            <a:r>
              <a:t>, </a:t>
            </a:r>
            <a:r>
              <a:rPr b="1"/>
              <a:t>balanced accuracy</a:t>
            </a:r>
            <a:r>
              <a:t>, precision и recall.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Алгоритм</a:t>
            </a:r>
          </a:p>
        </p:txBody>
      </p:sp>
      <p:sp>
        <p:nvSpPr>
          <p:cNvPr id="224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25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26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7" name="Датасет…"/>
          <p:cNvSpPr txBox="1"/>
          <p:nvPr/>
        </p:nvSpPr>
        <p:spPr>
          <a:xfrm>
            <a:off x="989920" y="2876793"/>
            <a:ext cx="12455568" cy="9219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Датасет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Мы использовали датасет dispensarization_data_2026.csv с данными диспансеризации пациентов.</a:t>
            </a:r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В данных: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1000 записей</a:t>
            </a:r>
            <a:r>
              <a:rPr b="0"/>
              <a:t>;</a:t>
            </a:r>
            <a:endParaRPr b="0"/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пациенты в возрасте </a:t>
            </a:r>
            <a:r>
              <a:rPr b="1"/>
              <a:t>40–65 лет</a:t>
            </a:r>
            <a:r>
              <a:t>;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15 медицинских признаков</a:t>
            </a:r>
            <a:r>
              <a:rPr b="0"/>
              <a:t>;</a:t>
            </a:r>
            <a:endParaRPr b="0"/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целевая переменная - ССЗ_риск_высокий;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положительный класс: </a:t>
            </a:r>
            <a:r>
              <a:rPr b="1"/>
              <a:t>181 пациент</a:t>
            </a:r>
            <a:r>
              <a:t>, то есть </a:t>
            </a:r>
            <a:r>
              <a:rPr b="1"/>
              <a:t>18.1%</a:t>
            </a:r>
            <a:r>
              <a:t> выборки.</a:t>
            </a:r>
          </a:p>
          <a:p>
            <a:pPr defTabSz="457200">
              <a:spcBef>
                <a:spcPts val="7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Шаги обработки данных</a:t>
            </a:r>
            <a:endParaRPr b="0"/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Загрузили данные из CSV-файла.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Исключили из обучения целевую переменную и вспомогательные метки, чтобы избежать утечки данных.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Проверили баланс классов и наличие пропусков.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Заполнили пропущенные значения медианой.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Масштабировали признаки с помощью StandardScaler.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Разделили данные на train и test в пропорции </a:t>
            </a:r>
            <a:r>
              <a:rPr b="1"/>
              <a:t>80/20</a:t>
            </a:r>
            <a:r>
              <a:t>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Использовали стратифицированное разбиение, чтобы сохранить долю пациентов высокого риска в обеих выборках.</a:t>
            </a:r>
          </a:p>
          <a:p>
            <a:pPr marL="457200" indent="-317500" defTabSz="457200">
              <a:buClr>
                <a:srgbClr val="000000"/>
              </a:buClr>
              <a:buSzPct val="100000"/>
              <a:buFont typeface="TimesNewRomanPSMT"/>
              <a:buAutoNum type="arabicPeriod" startAt="1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Обучили и сравнили модели на одинаковом пайплайне.</a:t>
            </a:r>
          </a:p>
        </p:txBody>
      </p:sp>
      <p:pic>
        <p:nvPicPr>
          <p:cNvPr id="228" name="eda_numeric_distributions.png" descr="eda_numeric_distribution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71607" y="7067848"/>
            <a:ext cx="8528226" cy="41893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eda_class_missing.png" descr="eda_class_missin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54070" y="3911578"/>
            <a:ext cx="8363300" cy="31570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Результаты работы модели</a:t>
            </a:r>
          </a:p>
        </p:txBody>
      </p:sp>
      <p:sp>
        <p:nvSpPr>
          <p:cNvPr id="232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33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34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235" name="Tаблица 1"/>
          <p:cNvGraphicFramePr/>
          <p:nvPr/>
        </p:nvGraphicFramePr>
        <p:xfrm>
          <a:off x="991570" y="4496328"/>
          <a:ext cx="6350001" cy="1016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887662"/>
                <a:gridCol w="1472604"/>
                <a:gridCol w="1245393"/>
                <a:gridCol w="1632545"/>
              </a:tblGrid>
              <a:tr h="2540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Модель</a:t>
                      </a:r>
                    </a:p>
                  </a:txBody>
                  <a:tcPr marL="0" marR="3048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ROC-AUC</a:t>
                      </a:r>
                    </a:p>
                  </a:txBody>
                  <a:tcPr marL="0" marR="3048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F1</a:t>
                      </a:r>
                    </a:p>
                  </a:txBody>
                  <a:tcPr marL="0" marR="3048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Balanced accuracy</a:t>
                      </a:r>
                    </a:p>
                  </a:txBody>
                  <a:tcPr marL="0" marR="0" marT="101600" marB="101600" anchor="t" anchorCtr="0" horzOverflow="overflow"/>
                </a:tc>
              </a:tr>
              <a:tr h="2540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AutoML: GradientBoosting</a:t>
                      </a:r>
                    </a:p>
                  </a:txBody>
                  <a:tcPr marL="0" marR="304800" marT="127000" marB="1270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1.0000</a:t>
                      </a:r>
                    </a:p>
                  </a:txBody>
                  <a:tcPr marL="0" marR="304800" marT="127000" marB="1270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0.9859</a:t>
                      </a:r>
                    </a:p>
                  </a:txBody>
                  <a:tcPr marL="0" marR="304800" marT="127000" marB="1270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0.9861</a:t>
                      </a:r>
                    </a:p>
                  </a:txBody>
                  <a:tcPr marL="0" marR="0" marT="127000" marB="127000" anchor="t" anchorCtr="0" horzOverflow="overflow"/>
                </a:tc>
              </a:tr>
              <a:tr h="2540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SVM</a:t>
                      </a:r>
                    </a:p>
                  </a:txBody>
                  <a:tcPr marL="0" marR="304800" marT="127000" marB="1270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0.9678</a:t>
                      </a:r>
                    </a:p>
                  </a:txBody>
                  <a:tcPr marL="0" marR="304800" marT="127000" marB="1270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0.7692</a:t>
                      </a:r>
                    </a:p>
                  </a:txBody>
                  <a:tcPr marL="0" marR="304800" marT="127000" marB="1270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0.8350</a:t>
                      </a:r>
                    </a:p>
                  </a:txBody>
                  <a:tcPr marL="0" marR="0" marT="127000" marB="127000" anchor="t" anchorCtr="0" horzOverflow="overflow"/>
                </a:tc>
              </a:tr>
              <a:tr h="2540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Fuzzy k-NN</a:t>
                      </a:r>
                    </a:p>
                  </a:txBody>
                  <a:tcPr marL="0" marR="304800" marT="127000" marB="3048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0.9255</a:t>
                      </a:r>
                    </a:p>
                  </a:txBody>
                  <a:tcPr marL="0" marR="304800" marT="127000" marB="3048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0.5769</a:t>
                      </a:r>
                    </a:p>
                  </a:txBody>
                  <a:tcPr marL="0" marR="304800" marT="127000" marB="3048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0.7053</a:t>
                      </a:r>
                    </a:p>
                  </a:txBody>
                  <a:tcPr marL="0" marR="0" marT="127000" marB="304800" anchor="t" anchorCtr="0" horzOverflow="overflow"/>
                </a:tc>
              </a:tr>
            </a:tbl>
          </a:graphicData>
        </a:graphic>
      </p:graphicFrame>
      <p:sp>
        <p:nvSpPr>
          <p:cNvPr id="236" name="Результаты и оценка качества…"/>
          <p:cNvSpPr txBox="1"/>
          <p:nvPr/>
        </p:nvSpPr>
        <p:spPr>
          <a:xfrm>
            <a:off x="918667" y="3175135"/>
            <a:ext cx="22211579" cy="975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Результаты и оценка качества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После обучения моделей лучший результат показал </a:t>
            </a:r>
            <a:r>
              <a:rPr b="1"/>
              <a:t>AutoML-кандидат GradientBoosting</a:t>
            </a:r>
            <a:r>
              <a:t>.</a:t>
            </a: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Метрики оценки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Основная метрика - </a:t>
            </a:r>
            <a:r>
              <a:rPr b="1"/>
              <a:t>ROC-AUC </a:t>
            </a:r>
            <a:r>
              <a:t>(качество различения классов), потому что классы несбалансированы: пациентов высокого риска только </a:t>
            </a:r>
            <a:r>
              <a:rPr b="1"/>
              <a:t>18.1%</a:t>
            </a:r>
            <a:r>
              <a:t>.</a:t>
            </a:r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Дополнительно использовались: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F1</a:t>
            </a:r>
            <a:r>
              <a:t> - баланс между precision и recall;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balanced accuracy</a:t>
            </a:r>
            <a:r>
              <a:t> - точность с учётом дисбаланса классов;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precision</a:t>
            </a:r>
            <a:r>
              <a:t> - насколько точны предсказания высокого риска;</a:t>
            </a:r>
          </a:p>
          <a:p>
            <a:pPr marL="457200" indent="-317500" defTabSz="457200">
              <a:buClr>
                <a:srgbClr val="A7A7A7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recall</a:t>
            </a:r>
            <a:r>
              <a:t> - сколько пациентов высокого риска модель смогла найти.</a:t>
            </a:r>
          </a:p>
          <a:p>
            <a:pPr defTabSz="4572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Валидация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Данные были разделены на </a:t>
            </a:r>
            <a:r>
              <a:rPr b="1"/>
              <a:t>train/test в пропорции 80/20</a:t>
            </a:r>
            <a:r>
              <a:t>. Разбиение было стратифицированным, чтобы сохранить долю высокого риска в обеих выборках. Гиперпараметры подбирались через</a:t>
            </a:r>
            <a:r>
              <a:rPr b="1"/>
              <a:t> StratifiedKFold</a:t>
            </a:r>
            <a:r>
              <a:t>, а финальное качество проверялось на отложенной test-выборке.</a:t>
            </a:r>
          </a:p>
        </p:txBody>
      </p:sp>
      <p:pic>
        <p:nvPicPr>
          <p:cNvPr id="237" name="metrics_top_models.png" descr="metrics_top_model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38271" y="3411399"/>
            <a:ext cx="8039925" cy="43415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Выводы</a:t>
            </a:r>
          </a:p>
        </p:txBody>
      </p:sp>
      <p:sp>
        <p:nvSpPr>
          <p:cNvPr id="240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41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42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3" name="Основные выводы…"/>
          <p:cNvSpPr txBox="1"/>
          <p:nvPr/>
        </p:nvSpPr>
        <p:spPr>
          <a:xfrm>
            <a:off x="963897" y="2921908"/>
            <a:ext cx="12151582" cy="974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Основные выводы</a:t>
            </a:r>
            <a:endParaRPr b="0"/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По результатам эксперимента лучший результат показал </a:t>
            </a:r>
            <a:r>
              <a:rPr b="1"/>
              <a:t>AutoML: GradientBoosting</a:t>
            </a:r>
            <a:r>
              <a:t>: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ROC-AUC - </a:t>
            </a:r>
            <a:r>
              <a:rPr b="1"/>
              <a:t>1.0000</a:t>
            </a:r>
            <a:r>
              <a:t>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F1 - </a:t>
            </a:r>
            <a:r>
              <a:rPr b="1"/>
              <a:t>0.9859</a:t>
            </a:r>
            <a:r>
              <a:t>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balanced accuracy - </a:t>
            </a:r>
            <a:r>
              <a:rPr b="1"/>
              <a:t>0.9861</a:t>
            </a:r>
            <a:r>
              <a:t>.</a:t>
            </a:r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Настроенный </a:t>
            </a:r>
            <a:r>
              <a:rPr b="1"/>
              <a:t>SVM</a:t>
            </a:r>
            <a:r>
              <a:t> тоже показал высокий результат: ROC-AUC - </a:t>
            </a:r>
            <a:r>
              <a:rPr b="1"/>
              <a:t>0.9678</a:t>
            </a:r>
            <a:r>
              <a:t>.</a:t>
            </a:r>
            <a:br/>
            <a:r>
              <a:rPr b="1"/>
              <a:t>Fuzzy k-NN</a:t>
            </a:r>
            <a:r>
              <a:t> уступил SVM и AutoML: ROC-AUC - </a:t>
            </a:r>
            <a:r>
              <a:rPr b="1"/>
              <a:t>0.9255</a:t>
            </a:r>
            <a:r>
              <a:t>, F1 - </a:t>
            </a:r>
            <a:r>
              <a:rPr b="1"/>
              <a:t>0.5769</a:t>
            </a:r>
            <a:r>
              <a:t>.</a:t>
            </a: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Проверка гипотезы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Наша гипотеза: AutoML даст качество не хуже ручных подходов, но прирост по ROC-AUC относительно настроенного SVM будет не больше </a:t>
            </a:r>
            <a:r>
              <a:rPr b="1"/>
              <a:t>5 процентных пунктов</a:t>
            </a:r>
            <a:r>
              <a:t>.</a:t>
            </a:r>
          </a:p>
          <a:p>
            <a:pPr defTabSz="457200">
              <a:spcBef>
                <a:spcPts val="7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Фактически: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AutoML GradientBoosting: </a:t>
            </a:r>
            <a:r>
              <a:rPr b="1"/>
              <a:t>ROC-AUC = 1.0000</a:t>
            </a:r>
            <a:r>
              <a:t>;</a:t>
            </a:r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rPr b="0"/>
              <a:t>SVM: </a:t>
            </a:r>
            <a:r>
              <a:t>ROC-AUC = 0.9678</a:t>
            </a:r>
            <a:r>
              <a:rPr b="0"/>
              <a:t>;</a:t>
            </a:r>
            <a:endParaRPr b="0"/>
          </a:p>
          <a:p>
            <a:pPr marL="457200" indent="-317500" defTabSz="457200">
              <a:buClr>
                <a:srgbClr val="CCCCCC"/>
              </a:buClr>
              <a:buSzPct val="100000"/>
              <a:buFont typeface="TimesNewRomanPSMT"/>
              <a:buChar char="•"/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прирост AutoML к SVM: </a:t>
            </a:r>
            <a:r>
              <a:rPr b="1"/>
              <a:t>+3.22 процентных пункта</a:t>
            </a:r>
            <a:r>
              <a:t>.</a:t>
            </a:r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rPr b="0"/>
              <a:t>Так как </a:t>
            </a:r>
            <a:r>
              <a:t>3.22 п.п. меньше 5 п.п.</a:t>
            </a:r>
            <a:r>
              <a:rPr b="0"/>
              <a:t>, гипотеза </a:t>
            </a:r>
            <a:r>
              <a:t>подтвердилась</a:t>
            </a:r>
            <a:r>
              <a:rPr b="0"/>
              <a:t>.</a:t>
            </a:r>
            <a:endParaRPr b="0"/>
          </a:p>
          <a:p>
            <a:pPr defTabSz="457200">
              <a:spcBef>
                <a:spcPts val="800"/>
              </a:spcBef>
              <a:defRPr b="1" sz="2600">
                <a:latin typeface="Calibri"/>
                <a:ea typeface="Calibri"/>
                <a:cs typeface="Calibri"/>
                <a:sym typeface="Calibri"/>
              </a:defRPr>
            </a:pPr>
            <a:r>
              <a:t>Итоговый вывод</a:t>
            </a:r>
            <a:endParaRPr b="0"/>
          </a:p>
          <a:p>
            <a:pPr defTabSz="457200">
              <a:spcBef>
                <a:spcPts val="80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  <a:r>
              <a:t>AutoML действительно нашёл лучшую модель, но преимущество над хорошо настроенным SVM оказалось небольшим. Поэтому ценность AutoML в этой работе - не только в приросте качества, но и в автоматизации выбора модели и гиперпараметров.</a:t>
            </a:r>
          </a:p>
        </p:txBody>
      </p:sp>
      <p:pic>
        <p:nvPicPr>
          <p:cNvPr id="244" name="metrics_quality_all.png" descr="metrics_quality_all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44158" y="2694061"/>
            <a:ext cx="9640033" cy="4763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roc_curves.png" descr="roc_curve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167597" y="7675145"/>
            <a:ext cx="5193155" cy="5239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08;p21"/>
          <p:cNvSpPr txBox="1"/>
          <p:nvPr>
            <p:ph type="body" sz="quarter" idx="1"/>
          </p:nvPr>
        </p:nvSpPr>
        <p:spPr>
          <a:xfrm>
            <a:off x="12315274" y="1068724"/>
            <a:ext cx="10897801" cy="140820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100">
                <a:solidFill>
                  <a:srgbClr val="0E2D6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Заключение</a:t>
            </a:r>
          </a:p>
        </p:txBody>
      </p:sp>
      <p:sp>
        <p:nvSpPr>
          <p:cNvPr id="248" name="Google Shape;209;p21"/>
          <p:cNvSpPr txBox="1"/>
          <p:nvPr/>
        </p:nvSpPr>
        <p:spPr>
          <a:xfrm>
            <a:off x="1966623" y="994625"/>
            <a:ext cx="5288100" cy="86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61184"/>
              </a:lnSpc>
              <a:defRPr sz="1800">
                <a:solidFill>
                  <a:srgbClr val="2253A1"/>
                </a:solidFill>
              </a:defRPr>
            </a:pPr>
            <a:r>
              <a:t>Центр цифровой медицины и </a:t>
            </a:r>
            <a:br/>
            <a:r>
              <a:t>искусственного интеллекта в медицине</a:t>
            </a:r>
          </a:p>
        </p:txBody>
      </p:sp>
      <p:sp>
        <p:nvSpPr>
          <p:cNvPr id="249" name="Google Shape;210;p21"/>
          <p:cNvSpPr txBox="1"/>
          <p:nvPr/>
        </p:nvSpPr>
        <p:spPr>
          <a:xfrm>
            <a:off x="6847924" y="994625"/>
            <a:ext cx="5288101" cy="129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61184"/>
              </a:lnSpc>
              <a:defRPr sz="1800">
                <a:solidFill>
                  <a:srgbClr val="2253A1"/>
                </a:solidFill>
              </a:defRPr>
            </a:lvl1pPr>
          </a:lstStyle>
          <a:p>
            <a:pPr/>
            <a:r>
              <a:t>Информационные системы и технологии (09.03.02)</a:t>
            </a:r>
          </a:p>
        </p:txBody>
      </p:sp>
      <p:sp>
        <p:nvSpPr>
          <p:cNvPr id="250" name="Slide Number Placeholder 1"/>
          <p:cNvSpPr txBox="1"/>
          <p:nvPr>
            <p:ph type="sldNum" sz="quarter" idx="2"/>
          </p:nvPr>
        </p:nvSpPr>
        <p:spPr>
          <a:xfrm>
            <a:off x="22357566" y="12835885"/>
            <a:ext cx="350035" cy="483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1" name="TextBox 3"/>
          <p:cNvSpPr txBox="1"/>
          <p:nvPr/>
        </p:nvSpPr>
        <p:spPr>
          <a:xfrm>
            <a:off x="2632803" y="3992136"/>
            <a:ext cx="7961304" cy="91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65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