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6" r:id="rId9"/>
    <p:sldId id="270" r:id="rId10"/>
  </p:sldIdLst>
  <p:sldSz cx="24384000" cy="13716000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8"/>
    <p:restoredTop sz="95080" autoAdjust="0"/>
  </p:normalViewPr>
  <p:slideViewPr>
    <p:cSldViewPr>
      <p:cViewPr varScale="1">
        <p:scale>
          <a:sx n="46" d="100"/>
          <a:sy n="46" d="100"/>
        </p:scale>
        <p:origin x="418" y="3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8" y="5091525"/>
            <a:ext cx="17435809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19870"/>
              </a:lnSpc>
              <a:spcBef>
                <a:spcPts val="0"/>
              </a:spcBef>
              <a:buClr>
                <a:srgbClr val="2253A1"/>
              </a:buClr>
              <a:buSzPts val="5968"/>
              <a:buNone/>
            </a:pPr>
            <a:r>
              <a:rPr lang="ru-RU" dirty="0"/>
              <a:t>Портативное устройство аудио-биоуправления по вариабельности сердечного ритма 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				Горячев Всеволод Дмитриевич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480032" y="6838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761320" y="6641976"/>
            <a:ext cx="11497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Схожие решения данного вопроса</a:t>
            </a:r>
            <a:r>
              <a:rPr lang="en-US" sz="4000" dirty="0"/>
              <a:t>: </a:t>
            </a:r>
            <a:r>
              <a:rPr lang="ru-RU" sz="4000" dirty="0"/>
              <a:t>Полисомнография, умные часы.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5DAD-9D54-8FBB-BE7F-55E1B0F468DA}"/>
              </a:ext>
            </a:extLst>
          </p:cNvPr>
          <p:cNvSpPr txBox="1"/>
          <p:nvPr/>
        </p:nvSpPr>
        <p:spPr>
          <a:xfrm>
            <a:off x="750540" y="2551025"/>
            <a:ext cx="20586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Существующие системы биологической обратной связи, которые требуют концентрации внимания и мешает глубокой релаксации, необходимой при лечении инсомнии. Переход к аудиоканалу обратной связи позволяет пациенту отключить зрительный анализатор, что более физиологично для процессов засыпания и снятия стресса. </a:t>
            </a:r>
          </a:p>
          <a:p>
            <a:endParaRPr lang="ru-RU" sz="3600" dirty="0"/>
          </a:p>
          <a:p>
            <a:r>
              <a:rPr lang="ru-RU" sz="3600" dirty="0"/>
              <a:t>В рамках данного проекта рассмотрим определение состояния человека</a:t>
            </a:r>
            <a:r>
              <a:rPr lang="en-US" sz="3600" dirty="0"/>
              <a:t>: </a:t>
            </a:r>
            <a:r>
              <a:rPr lang="ru-RU" sz="3600" dirty="0"/>
              <a:t>сон.</a:t>
            </a: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157338" y="7382474"/>
            <a:ext cx="1283486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Что нужно сделать?</a:t>
            </a:r>
          </a:p>
          <a:p>
            <a:r>
              <a:rPr lang="ru-RU" sz="4000" dirty="0"/>
              <a:t>Собрать данные ЧСС с временными метками</a:t>
            </a:r>
          </a:p>
          <a:p>
            <a:r>
              <a:rPr lang="ru-RU" sz="4000" dirty="0"/>
              <a:t>Обучить модель классификации </a:t>
            </a:r>
          </a:p>
          <a:p>
            <a:r>
              <a:rPr lang="ru-RU" sz="4000" dirty="0"/>
              <a:t>Сравнить с простым правилом (ЧСС ≤ 80 → бодрствование)</a:t>
            </a:r>
            <a:endParaRPr lang="en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AADEB-5A1B-7406-0054-761E90139257}"/>
              </a:ext>
            </a:extLst>
          </p:cNvPr>
          <p:cNvSpPr txBox="1"/>
          <p:nvPr/>
        </p:nvSpPr>
        <p:spPr>
          <a:xfrm>
            <a:off x="1157338" y="4121696"/>
            <a:ext cx="188835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i="0" dirty="0">
                <a:solidFill>
                  <a:srgbClr val="0F1115"/>
                </a:solidFill>
                <a:effectLst/>
                <a:latin typeface="+mj-lt"/>
              </a:rPr>
              <a:t>Вариабельность сердечного ритма (RR-интервалы), измеренная с помощью фотоплетизмографии, содержит достаточно информации для автоматической классификации состояния сна без использования </a:t>
            </a:r>
            <a:r>
              <a:rPr lang="ru-RU" sz="4000" i="0" dirty="0" err="1">
                <a:solidFill>
                  <a:srgbClr val="0F1115"/>
                </a:solidFill>
                <a:effectLst/>
                <a:latin typeface="+mj-lt"/>
              </a:rPr>
              <a:t>многочанальной</a:t>
            </a:r>
            <a:r>
              <a:rPr lang="ru-RU" sz="4000" i="0" dirty="0"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lang="ru-RU" sz="4000" dirty="0"/>
              <a:t>электроэнцефалографии.</a:t>
            </a:r>
          </a:p>
          <a:p>
            <a:endParaRPr lang="ru-RU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2587083" y="3992137"/>
            <a:ext cx="19398005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Исследования вариабельности сердечного </a:t>
            </a:r>
            <a:r>
              <a:rPr lang="ru-RU" sz="4000" b="1" dirty="0" err="1"/>
              <a:t>риитма</a:t>
            </a:r>
            <a:r>
              <a:rPr lang="ru-RU" sz="4000" b="1" dirty="0"/>
              <a:t> во время сна. 2024.</a:t>
            </a:r>
          </a:p>
          <a:p>
            <a:endParaRPr lang="ru-RU" sz="4000" dirty="0"/>
          </a:p>
          <a:p>
            <a:pPr marL="571500" indent="-571500">
              <a:buFontTx/>
              <a:buChar char="-"/>
            </a:pPr>
            <a:r>
              <a:rPr lang="ru-RU" sz="4000" dirty="0"/>
              <a:t>Рассматривалась зависимость стадий сна от сердечного ритма.</a:t>
            </a:r>
          </a:p>
          <a:p>
            <a:endParaRPr lang="ru-RU" sz="4000" b="1" dirty="0">
              <a:latin typeface="+mj-lt"/>
            </a:endParaRPr>
          </a:p>
          <a:p>
            <a:endParaRPr lang="ru-RU" sz="4000" b="1" dirty="0">
              <a:latin typeface="+mj-lt"/>
            </a:endParaRPr>
          </a:p>
          <a:p>
            <a:r>
              <a:rPr lang="ru-RU" sz="4000" b="1" dirty="0">
                <a:latin typeface="+mj-lt"/>
              </a:rPr>
              <a:t>Связь показателей вариабельности сердечного ритма с качеством сна. (Ю.Л. Веневцева, А.Х. Мельников, Н.Н. Царев)</a:t>
            </a:r>
          </a:p>
          <a:p>
            <a:pPr marL="571500" indent="-571500">
              <a:buFontTx/>
              <a:buChar char="-"/>
            </a:pPr>
            <a:r>
              <a:rPr lang="ru-RU" sz="4000" dirty="0"/>
              <a:t>Выявление уровня стресса при особенностях сердечного ритма во время сна.</a:t>
            </a:r>
          </a:p>
          <a:p>
            <a:pPr marL="571500" indent="-571500">
              <a:buFontTx/>
              <a:buChar char="-"/>
            </a:pPr>
            <a:endParaRPr lang="ru-RU" sz="4000" dirty="0"/>
          </a:p>
          <a:p>
            <a:pPr marL="571500" indent="-571500">
              <a:buFontTx/>
              <a:buChar char="-"/>
            </a:pPr>
            <a:endParaRPr lang="ru-RU" sz="4000" dirty="0"/>
          </a:p>
          <a:p>
            <a:pPr marL="571500" indent="-571500">
              <a:buFontTx/>
              <a:buChar char="-"/>
            </a:pPr>
            <a:endParaRPr lang="ru-RU" sz="4000" dirty="0"/>
          </a:p>
          <a:p>
            <a:pPr marL="571500" indent="-571500">
              <a:buFontTx/>
              <a:buChar char="-"/>
            </a:pPr>
            <a:r>
              <a:rPr lang="en-US" sz="4000" dirty="0"/>
              <a:t>https://clck.su/kYxZq</a:t>
            </a:r>
            <a:endParaRPr lang="ru-RU" sz="4000" dirty="0"/>
          </a:p>
          <a:p>
            <a:pPr marL="571500" indent="-571500">
              <a:buFontTx/>
              <a:buChar char="-"/>
            </a:pPr>
            <a:r>
              <a:rPr lang="en-US" sz="4000" dirty="0"/>
              <a:t>https://clck.su/aLuhh</a:t>
            </a:r>
            <a:r>
              <a:rPr lang="ru-RU" sz="4000" dirty="0"/>
              <a:t> </a:t>
            </a: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2470920" y="3905672"/>
            <a:ext cx="209101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В работе будем использовать 2 </a:t>
            </a:r>
            <a:r>
              <a:rPr lang="ru-RU" sz="4000" dirty="0" err="1"/>
              <a:t>AutoML</a:t>
            </a:r>
            <a:r>
              <a:rPr lang="ru-RU" sz="4000" dirty="0"/>
              <a:t> </a:t>
            </a:r>
          </a:p>
          <a:p>
            <a:r>
              <a:rPr lang="ru-RU" sz="4000" dirty="0"/>
              <a:t>FLAML и H2O </a:t>
            </a:r>
            <a:r>
              <a:rPr lang="ru-RU" sz="4000" dirty="0" err="1"/>
              <a:t>AutoML</a:t>
            </a:r>
            <a:r>
              <a:rPr lang="ru-RU" sz="4000" dirty="0"/>
              <a:t>. </a:t>
            </a:r>
          </a:p>
          <a:p>
            <a:r>
              <a:rPr lang="ru-RU" sz="4000" dirty="0"/>
              <a:t>Плюсы </a:t>
            </a:r>
            <a:r>
              <a:rPr lang="en-US" sz="4000" dirty="0"/>
              <a:t>FLAML </a:t>
            </a:r>
          </a:p>
          <a:p>
            <a:r>
              <a:rPr lang="ru-RU" sz="4000" dirty="0"/>
              <a:t>Высокая скорость и эффективность</a:t>
            </a:r>
            <a:endParaRPr lang="en-US" sz="4000" dirty="0"/>
          </a:p>
          <a:p>
            <a:r>
              <a:rPr lang="ru-RU" sz="4000" dirty="0"/>
              <a:t>Поддержка различных задач</a:t>
            </a:r>
            <a:r>
              <a:rPr lang="en-US" sz="4000" dirty="0"/>
              <a:t>. </a:t>
            </a:r>
            <a:r>
              <a:rPr lang="ru-RU" sz="4000" dirty="0"/>
              <a:t> FLAML подходит для классификации, регрессии, прогнозирования временных рядов и других задач.</a:t>
            </a:r>
            <a:endParaRPr lang="en-US" sz="4000" dirty="0"/>
          </a:p>
          <a:p>
            <a:r>
              <a:rPr lang="ru-RU" sz="4000" dirty="0"/>
              <a:t>H2O — это открытая распределённая платформа для машинного обучения, которая поддерживает широкий спектр алгоритмов, включая глубокое обучение, градиентный </a:t>
            </a:r>
            <a:r>
              <a:rPr lang="ru-RU" sz="4000" dirty="0" err="1"/>
              <a:t>бустинг</a:t>
            </a:r>
            <a:r>
              <a:rPr lang="ru-RU" sz="4000" dirty="0"/>
              <a:t>, случайный лес, обобщённые линейные модели</a:t>
            </a:r>
            <a:r>
              <a:rPr lang="en-US" sz="4000" dirty="0"/>
              <a:t>.</a:t>
            </a: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2587083" y="3992137"/>
            <a:ext cx="209101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Работа началась с этапов  предобработки, далее разделение данных на тренировочную и тестовую выборки. Затем запуск </a:t>
            </a:r>
            <a:r>
              <a:rPr lang="en-US" sz="4000" dirty="0" err="1"/>
              <a:t>AutoML</a:t>
            </a:r>
            <a:r>
              <a:rPr lang="ru-RU" sz="4000" dirty="0"/>
              <a:t> и сравнение.</a:t>
            </a:r>
          </a:p>
          <a:p>
            <a:endParaRPr lang="ru-RU" sz="4000" dirty="0"/>
          </a:p>
          <a:p>
            <a:r>
              <a:rPr lang="ru-RU" sz="4000" dirty="0"/>
              <a:t>Был использован датасет с данными от датчика измерения ЧСС за один год. Размер датасета:</a:t>
            </a:r>
          </a:p>
          <a:p>
            <a:r>
              <a:rPr lang="ru-RU" sz="4000" dirty="0"/>
              <a:t>(425822, 8)</a:t>
            </a: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D40C80-0E41-C4FC-E45B-838D000CB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1" y="9341562"/>
            <a:ext cx="6336704" cy="37362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ABA72-FC2E-B1DE-D15E-A7CCE29F5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15" y="3519933"/>
            <a:ext cx="9649072" cy="486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447EA1-FBAE-0FE0-C38E-321DA4223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1896" y="3428998"/>
            <a:ext cx="8928992" cy="49589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68A7EA-C076-C9E6-81B6-2B099A1A5EE9}"/>
              </a:ext>
            </a:extLst>
          </p:cNvPr>
          <p:cNvSpPr txBox="1"/>
          <p:nvPr/>
        </p:nvSpPr>
        <p:spPr>
          <a:xfrm>
            <a:off x="750540" y="2681536"/>
            <a:ext cx="12194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H2O</a:t>
            </a:r>
            <a:endParaRPr lang="ru-RU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E486E-B663-3A42-BBAF-2B237F0BA7B2}"/>
              </a:ext>
            </a:extLst>
          </p:cNvPr>
          <p:cNvSpPr txBox="1"/>
          <p:nvPr/>
        </p:nvSpPr>
        <p:spPr>
          <a:xfrm>
            <a:off x="12291896" y="2712493"/>
            <a:ext cx="12194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FLAML</a:t>
            </a:r>
            <a:r>
              <a:rPr lang="ru-RU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7C6F2-FC31-489B-10DB-467ADF8F1AFB}"/>
              </a:ext>
            </a:extLst>
          </p:cNvPr>
          <p:cNvSpPr txBox="1"/>
          <p:nvPr/>
        </p:nvSpPr>
        <p:spPr>
          <a:xfrm>
            <a:off x="9003488" y="10674424"/>
            <a:ext cx="122446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Такая разница в результатах из-за разных подходов к работе у фреймворков. </a:t>
            </a:r>
          </a:p>
        </p:txBody>
      </p:sp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2587083" y="3992137"/>
            <a:ext cx="209101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Научная гипотеза подтвердилась.</a:t>
            </a:r>
          </a:p>
          <a:p>
            <a:r>
              <a:rPr lang="ru-RU" sz="4000" dirty="0"/>
              <a:t>Вариабельность сердечного ритма, позволяет классифицировать стадии сна с точностью 91.5%, что достаточно.</a:t>
            </a:r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2587083" y="3992137"/>
            <a:ext cx="4988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Спасибо за внимание!</a:t>
            </a:r>
            <a:endParaRPr lang="en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2BBD49-33AB-802B-8829-B3B4E3E4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681" y="8226152"/>
            <a:ext cx="3950774" cy="39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526</Words>
  <Application>Microsoft Office PowerPoint</Application>
  <PresentationFormat>Произвольный</PresentationFormat>
  <Paragraphs>78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Helvetica Neue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сева горячев</cp:lastModifiedBy>
  <cp:revision>19</cp:revision>
  <dcterms:modified xsi:type="dcterms:W3CDTF">2026-06-03T18:21:37Z</dcterms:modified>
  <cp:category/>
</cp:coreProperties>
</file>