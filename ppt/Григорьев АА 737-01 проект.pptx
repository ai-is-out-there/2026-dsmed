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8" r:id="rId3"/>
    <p:sldId id="277" r:id="rId4"/>
    <p:sldId id="278" r:id="rId5"/>
    <p:sldId id="279" r:id="rId6"/>
    <p:sldId id="280" r:id="rId7"/>
    <p:sldId id="281" r:id="rId8"/>
    <p:sldId id="282" r:id="rId9"/>
  </p:sldIdLst>
  <p:sldSz cx="24384000" cy="13716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Helvetica Neue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08"/>
    <p:restoredTop sz="95080" autoAdjust="0"/>
  </p:normalViewPr>
  <p:slideViewPr>
    <p:cSldViewPr>
      <p:cViewPr varScale="1">
        <p:scale>
          <a:sx n="41" d="100"/>
          <a:sy n="41" d="100"/>
        </p:scale>
        <p:origin x="173" y="24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91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7876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4351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4217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602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9776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0238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2">
  <p:cSld name="Текст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101600" rIns="101600" bIns="1016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" name="Google Shape;51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" name="Google Shape;52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3" name="Google Shape;53;p5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1">
  <p:cSld name="График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2" name="Google Shape;62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6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2">
  <p:cSld name="График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5" name="Google Shape;75;p7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фры">
  <p:cSld name="Цифры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/>
          </a:p>
        </p:txBody>
      </p:sp>
      <p:pic>
        <p:nvPicPr>
          <p:cNvPr id="80" name="Google Shape;80;p8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7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8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1">
  <p:cSld name="Таблица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0" name="Google Shape;100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2" name="Google Shape;102;p9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2">
  <p:cSld name="Таблица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0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10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3">
  <p:cSld name="График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2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" name="Google Shape;121;p1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3" name="Google Shape;123;p11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1" name="Google Shape;131;p12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13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</a:t>
            </a:r>
          </a:p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 искусственного интеллекта в медицине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2"/>
          </p:nvPr>
        </p:nvSpPr>
        <p:spPr>
          <a:xfrm>
            <a:off x="12479950" y="2224150"/>
            <a:ext cx="47268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305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Информационные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системы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(09.03.02)</a:t>
            </a:r>
            <a:endParaRPr sz="2400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088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4"/>
          </p:nvPr>
        </p:nvSpPr>
        <p:spPr>
          <a:xfrm>
            <a:off x="2032925" y="5006025"/>
            <a:ext cx="17435809" cy="4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19870"/>
              </a:lnSpc>
              <a:spcBef>
                <a:spcPts val="0"/>
              </a:spcBef>
              <a:buClr>
                <a:srgbClr val="2253A1"/>
              </a:buClr>
              <a:buSzPts val="5968"/>
              <a:buNone/>
            </a:pPr>
            <a:r>
              <a:rPr lang="ru-RU" sz="5100" dirty="0">
                <a:latin typeface="Arial"/>
                <a:ea typeface="Arial"/>
                <a:cs typeface="Arial"/>
                <a:sym typeface="Arial"/>
              </a:rPr>
              <a:t>Выявление доклинических маркеров сердечно-сосудистого риска: анализ данных </a:t>
            </a:r>
            <a:r>
              <a:rPr lang="ru-RU" sz="5100" dirty="0" err="1">
                <a:latin typeface="Arial"/>
                <a:ea typeface="Arial"/>
                <a:cs typeface="Arial"/>
                <a:sym typeface="Arial"/>
              </a:rPr>
              <a:t>Heart</a:t>
            </a:r>
            <a:r>
              <a:rPr lang="ru-RU" sz="5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5100" dirty="0" err="1">
                <a:latin typeface="Arial"/>
                <a:ea typeface="Arial"/>
                <a:cs typeface="Arial"/>
                <a:sym typeface="Arial"/>
              </a:rPr>
              <a:t>Disease</a:t>
            </a:r>
            <a:r>
              <a:rPr lang="ru-RU" sz="5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5100" dirty="0" err="1">
                <a:latin typeface="Arial"/>
                <a:ea typeface="Arial"/>
                <a:cs typeface="Arial"/>
                <a:sym typeface="Arial"/>
              </a:rPr>
              <a:t>Dataset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2032925" y="8709975"/>
            <a:ext cx="128766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Выполнил</a:t>
            </a:r>
            <a:r>
              <a:rPr lang="en-US" sz="9823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студент</a:t>
            </a:r>
            <a:r>
              <a:rPr lang="en-US" sz="9823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823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гр</a:t>
            </a:r>
            <a:r>
              <a:rPr lang="en-US" sz="9823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9823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737-01 Григорьев Алексей Алексеевич</a:t>
            </a:r>
            <a:endParaRPr sz="9823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Руководител</a:t>
            </a:r>
            <a:r>
              <a:rPr lang="ru-RU" sz="9823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9823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u-RU" sz="9823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823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Андриков</a:t>
            </a:r>
            <a:r>
              <a:rPr lang="en-US" sz="9823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Д.А.</a:t>
            </a:r>
            <a:r>
              <a:rPr lang="ru-RU" sz="9823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Андриянова Е.В. </a:t>
            </a:r>
            <a:endParaRPr sz="9823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endParaRPr sz="3200" dirty="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888158" y="2756252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Введение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E5DAD-9D54-8FBB-BE7F-55E1B0F468DA}"/>
              </a:ext>
            </a:extLst>
          </p:cNvPr>
          <p:cNvSpPr txBox="1"/>
          <p:nvPr/>
        </p:nvSpPr>
        <p:spPr>
          <a:xfrm>
            <a:off x="859627" y="4164452"/>
            <a:ext cx="205864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Открытый </a:t>
            </a:r>
            <a:r>
              <a:rPr lang="ru-RU" sz="3600" dirty="0" err="1"/>
              <a:t>датасет</a:t>
            </a:r>
            <a:r>
              <a:rPr lang="ru-RU" sz="3600" dirty="0"/>
              <a:t>: </a:t>
            </a:r>
            <a:r>
              <a:rPr lang="en-US" sz="3600" dirty="0"/>
              <a:t>Heart Disease Dataset</a:t>
            </a:r>
            <a:endParaRPr lang="ru-RU" sz="3600" dirty="0"/>
          </a:p>
          <a:p>
            <a:r>
              <a:rPr lang="ru-RU" sz="3600" dirty="0"/>
              <a:t>Он содержит 303 строки и 14 столбцов, из которых 13 – предикторы, а </a:t>
            </a:r>
            <a:r>
              <a:rPr lang="ru-RU" sz="3600" dirty="0" err="1"/>
              <a:t>output</a:t>
            </a:r>
            <a:r>
              <a:rPr lang="ru-RU" sz="3600" dirty="0"/>
              <a:t> – бинарная целевая переменная (1 – болезнь, 0 – здоров). </a:t>
            </a:r>
          </a:p>
          <a:p>
            <a:endParaRPr lang="ru-RU" sz="3600" dirty="0"/>
          </a:p>
          <a:p>
            <a:r>
              <a:rPr lang="ru-RU" sz="3600" dirty="0"/>
              <a:t>Поставленная задача - выявить доклинические нарушения, которые ещё не привели к диагнозу, но могут служить ранними маркерами риска. Для этого была создана собственная метка </a:t>
            </a:r>
            <a:r>
              <a:rPr lang="ru-RU" sz="3600" dirty="0" err="1"/>
              <a:t>preclinical_risk</a:t>
            </a:r>
            <a:r>
              <a:rPr lang="ru-RU" sz="3600" dirty="0"/>
              <a:t> на основе трёх физиологических показателей.</a:t>
            </a:r>
          </a:p>
        </p:txBody>
      </p:sp>
    </p:spTree>
    <p:extLst>
      <p:ext uri="{BB962C8B-B14F-4D97-AF65-F5344CB8AC3E}">
        <p14:creationId xmlns:p14="http://schemas.microsoft.com/office/powerpoint/2010/main" val="9713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888158" y="2756252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Разведочный анализ данных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E5DAD-9D54-8FBB-BE7F-55E1B0F468DA}"/>
              </a:ext>
            </a:extLst>
          </p:cNvPr>
          <p:cNvSpPr txBox="1"/>
          <p:nvPr/>
        </p:nvSpPr>
        <p:spPr>
          <a:xfrm>
            <a:off x="859627" y="4164452"/>
            <a:ext cx="2058647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Для пяти числовых признаков (</a:t>
            </a:r>
            <a:r>
              <a:rPr lang="ru-RU" sz="3600" dirty="0" err="1"/>
              <a:t>age</a:t>
            </a:r>
            <a:r>
              <a:rPr lang="ru-RU" sz="3600" dirty="0"/>
              <a:t>, </a:t>
            </a:r>
            <a:r>
              <a:rPr lang="ru-RU" sz="3600" dirty="0" err="1"/>
              <a:t>trtbps</a:t>
            </a:r>
            <a:r>
              <a:rPr lang="ru-RU" sz="3600" dirty="0"/>
              <a:t>, </a:t>
            </a:r>
            <a:r>
              <a:rPr lang="ru-RU" sz="3600" dirty="0" err="1"/>
              <a:t>chol</a:t>
            </a:r>
            <a:r>
              <a:rPr lang="ru-RU" sz="3600" dirty="0"/>
              <a:t>, </a:t>
            </a:r>
            <a:r>
              <a:rPr lang="ru-RU" sz="3600" dirty="0" err="1"/>
              <a:t>thalachh</a:t>
            </a:r>
            <a:r>
              <a:rPr lang="ru-RU" sz="3600" dirty="0"/>
              <a:t>, </a:t>
            </a:r>
            <a:r>
              <a:rPr lang="ru-RU" sz="3600" dirty="0" err="1"/>
              <a:t>oldpeak</a:t>
            </a:r>
            <a:r>
              <a:rPr lang="ru-RU" sz="3600" dirty="0"/>
              <a:t>) построены гистограммы. Метод - </a:t>
            </a:r>
            <a:r>
              <a:rPr lang="en-US" sz="3600" dirty="0"/>
              <a:t>IQR</a:t>
            </a:r>
            <a:endParaRPr lang="ru-RU" sz="3600" dirty="0"/>
          </a:p>
          <a:p>
            <a:r>
              <a:rPr lang="en-US" sz="3600" dirty="0"/>
              <a:t>Age – </a:t>
            </a:r>
            <a:r>
              <a:rPr lang="ru-RU" sz="3600" dirty="0"/>
              <a:t>возраст</a:t>
            </a:r>
          </a:p>
          <a:p>
            <a:r>
              <a:rPr lang="en-US" sz="3600" dirty="0" err="1"/>
              <a:t>Trtbps</a:t>
            </a:r>
            <a:r>
              <a:rPr lang="en-US" sz="3600" dirty="0"/>
              <a:t> – </a:t>
            </a:r>
            <a:r>
              <a:rPr lang="ru-RU" sz="3600" dirty="0"/>
              <a:t>давление в покое, 9 выбросов</a:t>
            </a:r>
          </a:p>
          <a:p>
            <a:r>
              <a:rPr lang="en-US" sz="3600" dirty="0"/>
              <a:t>Chol – </a:t>
            </a:r>
            <a:r>
              <a:rPr lang="ru-RU" sz="3600" dirty="0"/>
              <a:t>холестерин, 5 выбросов</a:t>
            </a:r>
          </a:p>
          <a:p>
            <a:r>
              <a:rPr lang="en-US" sz="3600" dirty="0" err="1"/>
              <a:t>Thalachh</a:t>
            </a:r>
            <a:r>
              <a:rPr lang="en-US" sz="3600" dirty="0"/>
              <a:t> – </a:t>
            </a:r>
            <a:r>
              <a:rPr lang="ru-RU" sz="3600" dirty="0" err="1"/>
              <a:t>чсс</a:t>
            </a:r>
            <a:endParaRPr lang="ru-RU" sz="3600" dirty="0"/>
          </a:p>
          <a:p>
            <a:r>
              <a:rPr lang="en-US" sz="3600" dirty="0" err="1"/>
              <a:t>Oldpeak</a:t>
            </a:r>
            <a:r>
              <a:rPr lang="en-US" sz="3600" dirty="0"/>
              <a:t> - </a:t>
            </a:r>
            <a:r>
              <a:rPr lang="ru-RU" sz="3600" dirty="0"/>
              <a:t>величина снижения сегмента ST на ЭКГ, 5 выбросов</a:t>
            </a:r>
            <a:endParaRPr lang="en-US" sz="3600" dirty="0"/>
          </a:p>
          <a:p>
            <a:endParaRPr lang="en-US" sz="3600" dirty="0"/>
          </a:p>
          <a:p>
            <a:r>
              <a:rPr lang="ru-RU" sz="3600" dirty="0"/>
              <a:t>Пропуски - отсутствуют</a:t>
            </a:r>
            <a:endParaRPr lang="en-US" sz="3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CBEA18-546A-4424-A058-C677C2555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2280" y="6394121"/>
            <a:ext cx="8568952" cy="569728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A58025-CFD1-476D-BC6F-3766950BC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506" y="8326805"/>
            <a:ext cx="8336774" cy="413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1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888158" y="2756252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Корреляционный анализ 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E5DAD-9D54-8FBB-BE7F-55E1B0F468DA}"/>
              </a:ext>
            </a:extLst>
          </p:cNvPr>
          <p:cNvSpPr txBox="1"/>
          <p:nvPr/>
        </p:nvSpPr>
        <p:spPr>
          <a:xfrm>
            <a:off x="886263" y="3769514"/>
            <a:ext cx="20586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Построена корреляционная матрица всех признаков. Наибольшую связь с целевой переменной </a:t>
            </a:r>
            <a:r>
              <a:rPr lang="ru-RU" sz="3600" dirty="0" err="1"/>
              <a:t>output</a:t>
            </a:r>
            <a:r>
              <a:rPr lang="ru-RU" sz="3600" dirty="0"/>
              <a:t> имеют:</a:t>
            </a:r>
          </a:p>
          <a:p>
            <a:r>
              <a:rPr lang="ru-RU" sz="3600" dirty="0" err="1"/>
              <a:t>exng</a:t>
            </a:r>
            <a:r>
              <a:rPr lang="ru-RU" sz="3600" dirty="0"/>
              <a:t> (стенокардия, вызванная нагрузкой) – коэффициент –0.437,</a:t>
            </a:r>
          </a:p>
          <a:p>
            <a:r>
              <a:rPr lang="ru-RU" sz="3600" dirty="0" err="1"/>
              <a:t>oldpeak</a:t>
            </a:r>
            <a:r>
              <a:rPr lang="ru-RU" sz="3600" dirty="0"/>
              <a:t> – –0.431,</a:t>
            </a:r>
          </a:p>
          <a:p>
            <a:r>
              <a:rPr lang="ru-RU" sz="3600" dirty="0" err="1"/>
              <a:t>cp</a:t>
            </a:r>
            <a:r>
              <a:rPr lang="ru-RU" sz="3600" dirty="0"/>
              <a:t> (тип боли в груди) – +0.434,</a:t>
            </a:r>
          </a:p>
          <a:p>
            <a:r>
              <a:rPr lang="ru-RU" sz="3600" dirty="0" err="1"/>
              <a:t>thalachh</a:t>
            </a:r>
            <a:r>
              <a:rPr lang="ru-RU" sz="3600" dirty="0"/>
              <a:t> (максимальное ЧСС) – +0.422.</a:t>
            </a:r>
            <a:endParaRPr lang="en-US" sz="36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2F1C697-3FEF-46AF-BB4A-399B23C3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3579" y="4983339"/>
            <a:ext cx="7614158" cy="684196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5F93D3-B83D-4616-9B68-5BBD50335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219" y="7578080"/>
            <a:ext cx="5138839" cy="484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350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888158" y="2756252"/>
            <a:ext cx="18432634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Создание метки доклинического риска и стандартизация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E5DAD-9D54-8FBB-BE7F-55E1B0F468DA}"/>
              </a:ext>
            </a:extLst>
          </p:cNvPr>
          <p:cNvSpPr txBox="1"/>
          <p:nvPr/>
        </p:nvSpPr>
        <p:spPr>
          <a:xfrm>
            <a:off x="886263" y="3769514"/>
            <a:ext cx="2058647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Сформулировано правило для </a:t>
            </a:r>
            <a:r>
              <a:rPr lang="ru-RU" sz="3600" dirty="0" err="1"/>
              <a:t>preclinical_risk</a:t>
            </a:r>
            <a:r>
              <a:rPr lang="ru-RU" sz="3600" dirty="0"/>
              <a:t> (1 – есть риск, 0 – нет):</a:t>
            </a:r>
          </a:p>
          <a:p>
            <a:r>
              <a:rPr lang="ru-RU" sz="3600" dirty="0"/>
              <a:t>(</a:t>
            </a:r>
            <a:r>
              <a:rPr lang="ru-RU" sz="3600" dirty="0" err="1"/>
              <a:t>oldpeak</a:t>
            </a:r>
            <a:r>
              <a:rPr lang="ru-RU" sz="3600" dirty="0"/>
              <a:t> &gt; 1.0) &amp; (</a:t>
            </a:r>
            <a:r>
              <a:rPr lang="ru-RU" sz="3600" dirty="0" err="1"/>
              <a:t>thalachh</a:t>
            </a:r>
            <a:r>
              <a:rPr lang="ru-RU" sz="3600" dirty="0"/>
              <a:t> &lt; 150) &amp; (</a:t>
            </a:r>
            <a:r>
              <a:rPr lang="ru-RU" sz="3600" dirty="0" err="1"/>
              <a:t>chol</a:t>
            </a:r>
            <a:r>
              <a:rPr lang="ru-RU" sz="3600" dirty="0"/>
              <a:t> &lt; 240)</a:t>
            </a:r>
          </a:p>
          <a:p>
            <a:endParaRPr lang="ru-RU" sz="3600" dirty="0"/>
          </a:p>
          <a:p>
            <a:r>
              <a:rPr lang="ru-RU" sz="3600" dirty="0"/>
              <a:t>Такое сочетание указывает на субклиническую ишемию и сниженную толерантность к нагрузке при относительно нормальном холестерине.</a:t>
            </a:r>
          </a:p>
          <a:p>
            <a:endParaRPr lang="ru-RU" sz="3600" dirty="0"/>
          </a:p>
          <a:p>
            <a:r>
              <a:rPr lang="ru-RU" sz="3600" dirty="0"/>
              <a:t>После выделения признаков (</a:t>
            </a:r>
            <a:r>
              <a:rPr lang="ru-RU" sz="3600" dirty="0" err="1"/>
              <a:t>age</a:t>
            </a:r>
            <a:r>
              <a:rPr lang="ru-RU" sz="3600" dirty="0"/>
              <a:t>, </a:t>
            </a:r>
            <a:r>
              <a:rPr lang="ru-RU" sz="3600" dirty="0" err="1"/>
              <a:t>trtbps</a:t>
            </a:r>
            <a:r>
              <a:rPr lang="ru-RU" sz="3600" dirty="0"/>
              <a:t>, </a:t>
            </a:r>
            <a:r>
              <a:rPr lang="ru-RU" sz="3600" dirty="0" err="1"/>
              <a:t>chol</a:t>
            </a:r>
            <a:r>
              <a:rPr lang="ru-RU" sz="3600" dirty="0"/>
              <a:t>, </a:t>
            </a:r>
            <a:r>
              <a:rPr lang="ru-RU" sz="3600" dirty="0" err="1"/>
              <a:t>thalachh</a:t>
            </a:r>
            <a:r>
              <a:rPr lang="ru-RU" sz="3600" dirty="0"/>
              <a:t>, </a:t>
            </a:r>
            <a:r>
              <a:rPr lang="ru-RU" sz="3600" dirty="0" err="1"/>
              <a:t>oldpeak</a:t>
            </a:r>
            <a:r>
              <a:rPr lang="ru-RU" sz="3600" dirty="0"/>
              <a:t>) выполнена стандартизация. Средние стали близки к 0, стандартные отклонения – к 1. Это необходимо для корректного применения методов (например, </a:t>
            </a:r>
            <a:r>
              <a:rPr lang="en-US" sz="3600" dirty="0"/>
              <a:t>PCA</a:t>
            </a:r>
            <a:r>
              <a:rPr lang="ru-RU" sz="3600" dirty="0"/>
              <a:t>).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6870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888158" y="2756252"/>
            <a:ext cx="18432634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Уменьшение размерности с помощью PCA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E5DAD-9D54-8FBB-BE7F-55E1B0F468DA}"/>
              </a:ext>
            </a:extLst>
          </p:cNvPr>
          <p:cNvSpPr txBox="1"/>
          <p:nvPr/>
        </p:nvSpPr>
        <p:spPr>
          <a:xfrm>
            <a:off x="886263" y="3769514"/>
            <a:ext cx="20586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Был применен метод главных компонент (PCA), чтобы сжать пять исходных признаков в три основных компоненты.</a:t>
            </a:r>
          </a:p>
          <a:p>
            <a:r>
              <a:rPr lang="ru-RU" sz="3600" dirty="0"/>
              <a:t>Точки, раскрашенные по </a:t>
            </a:r>
            <a:r>
              <a:rPr lang="ru-RU" sz="3600" dirty="0" err="1"/>
              <a:t>output</a:t>
            </a:r>
            <a:r>
              <a:rPr lang="ru-RU" sz="3600" dirty="0"/>
              <a:t> (есть/нет болезнь), не разделяются чётко – данные сложные.</a:t>
            </a:r>
          </a:p>
          <a:p>
            <a:r>
              <a:rPr lang="ru-RU" sz="3600" dirty="0"/>
              <a:t>Точки с меткой </a:t>
            </a:r>
            <a:r>
              <a:rPr lang="ru-RU" sz="3600" dirty="0" err="1"/>
              <a:t>preclinical_risk</a:t>
            </a:r>
            <a:r>
              <a:rPr lang="ru-RU" sz="3600" dirty="0"/>
              <a:t> (доклинический риск) группируются в области высоких значений PC1 и низких PC2.</a:t>
            </a:r>
            <a:endParaRPr lang="en-US" sz="3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03909C-D091-4761-B351-17D3953EC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225" y="7650088"/>
            <a:ext cx="18647830" cy="520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4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888158" y="2756252"/>
            <a:ext cx="18432634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4800"/>
              <a:buNone/>
            </a:pPr>
            <a:r>
              <a:rPr lang="ru-RU" sz="5100" dirty="0">
                <a:solidFill>
                  <a:srgbClr val="002060"/>
                </a:solidFill>
                <a:latin typeface="+mn-lt"/>
                <a:sym typeface="Arial"/>
              </a:rPr>
              <a:t>Поиск «скрытого» риска через PC1</a:t>
            </a:r>
            <a:endParaRPr sz="5100" dirty="0">
              <a:solidFill>
                <a:srgbClr val="002060"/>
              </a:solidFill>
              <a:latin typeface="+mn-lt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E5DAD-9D54-8FBB-BE7F-55E1B0F468DA}"/>
              </a:ext>
            </a:extLst>
          </p:cNvPr>
          <p:cNvSpPr txBox="1"/>
          <p:nvPr/>
        </p:nvSpPr>
        <p:spPr>
          <a:xfrm>
            <a:off x="888158" y="3977680"/>
            <a:ext cx="20586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Были взяты пациенты, у которых PC1 выше 90-го перцентиля (очень высокое значение главной компоненты).</a:t>
            </a:r>
          </a:p>
          <a:p>
            <a:r>
              <a:rPr lang="ru-RU" sz="3600" dirty="0"/>
              <a:t>При этом у них нормальные показатели.</a:t>
            </a:r>
          </a:p>
          <a:p>
            <a:r>
              <a:rPr lang="ru-RU" sz="3600" dirty="0"/>
              <a:t>Таких пациентов нашлось всего 2 человека. У обоих нет диагноза </a:t>
            </a:r>
            <a:r>
              <a:rPr lang="ru-RU" sz="3600" dirty="0" err="1"/>
              <a:t>output</a:t>
            </a:r>
            <a:r>
              <a:rPr lang="ru-RU" sz="3600" dirty="0"/>
              <a:t> = 0, и они не попадают в нашу метку </a:t>
            </a:r>
            <a:r>
              <a:rPr lang="ru-RU" sz="3600" dirty="0" err="1"/>
              <a:t>preclinical_risk</a:t>
            </a:r>
            <a:r>
              <a:rPr lang="ru-RU" sz="3600" dirty="0"/>
              <a:t>, потому что у них нет явного ишемического подъёма </a:t>
            </a:r>
            <a:r>
              <a:rPr lang="ru-RU" sz="3600" dirty="0" err="1"/>
              <a:t>oldpeak</a:t>
            </a:r>
            <a:r>
              <a:rPr lang="ru-RU" sz="3600" dirty="0"/>
              <a:t> &gt; 1.0. Их стоит обследовать дополнительно.</a:t>
            </a:r>
            <a:endParaRPr lang="en-US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5BA922-540F-42E8-8745-8D58C67DE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58" y="8226152"/>
            <a:ext cx="10610917" cy="122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6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888158" y="2756252"/>
            <a:ext cx="18432634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4800"/>
              <a:buNone/>
            </a:pPr>
            <a:r>
              <a:rPr lang="ru-RU" sz="8800" dirty="0">
                <a:solidFill>
                  <a:srgbClr val="002060"/>
                </a:solidFill>
                <a:latin typeface="+mn-lt"/>
                <a:sym typeface="Arial"/>
              </a:rPr>
              <a:t>Спасибо за внимание!</a:t>
            </a:r>
            <a:endParaRPr sz="8800" dirty="0">
              <a:solidFill>
                <a:srgbClr val="002060"/>
              </a:solidFill>
              <a:latin typeface="+mn-lt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8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554</Words>
  <Application>Microsoft Office PowerPoint</Application>
  <PresentationFormat>Произвольный</PresentationFormat>
  <Paragraphs>65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Calibri</vt:lpstr>
      <vt:lpstr>Helvetica Neue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Андриянова Екатерина Вячеславовна</dc:creator>
  <cp:keywords/>
  <dc:description/>
  <cp:lastModifiedBy>Alexey Grigoriev</cp:lastModifiedBy>
  <cp:revision>27</cp:revision>
  <dcterms:modified xsi:type="dcterms:W3CDTF">2026-06-04T11:52:19Z</dcterms:modified>
  <cp:category/>
</cp:coreProperties>
</file>