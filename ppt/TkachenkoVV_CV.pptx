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68" r:id="rId3"/>
    <p:sldId id="272" r:id="rId4"/>
    <p:sldId id="271" r:id="rId5"/>
    <p:sldId id="273" r:id="rId6"/>
    <p:sldId id="274" r:id="rId7"/>
    <p:sldId id="275" r:id="rId8"/>
    <p:sldId id="276" r:id="rId9"/>
    <p:sldId id="270" r:id="rId10"/>
  </p:sldIdLst>
  <p:sldSz cx="24384000" cy="13716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Helvetica Neu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08"/>
    <p:restoredTop sz="95080" autoAdjust="0"/>
  </p:normalViewPr>
  <p:slideViewPr>
    <p:cSldViewPr>
      <p:cViewPr varScale="1">
        <p:scale>
          <a:sx n="61" d="100"/>
          <a:sy n="61" d="100"/>
        </p:scale>
        <p:origin x="600" y="77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23728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8322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91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6962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26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67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959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80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265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21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2">
  <p:cSld name="Текст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4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101600" rIns="101600" bIns="1016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" name="Google Shape;51;p5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" name="Google Shape;52;p5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3" name="Google Shape;53;p5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1">
  <p:cSld name="График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2" name="Google Shape;62;p6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3" name="Google Shape;63;p6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4" name="Google Shape;64;p6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2">
  <p:cSld name="График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7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" name="Google Shape;73;p7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" name="Google Shape;74;p7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5" name="Google Shape;75;p7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Цифры">
  <p:cSld name="Цифры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8600"/>
              <a:buFont typeface="Arial"/>
              <a:buNone/>
            </a:pP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может быть набрано в две 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или три строки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нужно больше места, то используйте подзаголовок</a:t>
            </a:r>
            <a:endParaRPr/>
          </a:p>
        </p:txBody>
      </p:sp>
      <p:pic>
        <p:nvPicPr>
          <p:cNvPr id="80" name="Google Shape;80;p8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1071391" y="8351777"/>
            <a:ext cx="5434543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8135580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7"/>
          </p:nvPr>
        </p:nvSpPr>
        <p:spPr>
          <a:xfrm>
            <a:off x="15110121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9" name="Google Shape;89;p8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0" name="Google Shape;90;p8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2" name="Google Shape;92;p8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1">
  <p:cSld name="Таблица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2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9" name="Google Shape;99;p9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0" name="Google Shape;100;p9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2" name="Google Shape;102;p9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2">
  <p:cSld name="Таблица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0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10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1" name="Google Shape;111;p10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10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3">
  <p:cSld name="График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2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" name="Google Shape;121;p1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3" name="Google Shape;123;p11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1" name="Google Shape;131;p12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13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</a:t>
            </a:r>
          </a:p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 искусственного интеллекта в медицине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>
            <a:spLocks noGrp="1"/>
          </p:cNvSpPr>
          <p:nvPr>
            <p:ph type="body" idx="2"/>
          </p:nvPr>
        </p:nvSpPr>
        <p:spPr>
          <a:xfrm>
            <a:off x="12479950" y="2224150"/>
            <a:ext cx="47268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305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Информационные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системы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технологии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400" dirty="0" smtClean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09.04.02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400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088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4"/>
          </p:nvPr>
        </p:nvSpPr>
        <p:spPr>
          <a:xfrm>
            <a:off x="2032925" y="5057800"/>
            <a:ext cx="14113200" cy="4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19870"/>
              </a:lnSpc>
              <a:spcBef>
                <a:spcPts val="0"/>
              </a:spcBef>
              <a:buClr>
                <a:srgbClr val="2253A1"/>
              </a:buClr>
              <a:buSzPts val="5968"/>
              <a:buNone/>
            </a:pPr>
            <a:r>
              <a:rPr lang="ru-RU" sz="5400" b="1" dirty="0" smtClean="0">
                <a:solidFill>
                  <a:schemeClr val="accen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Разработка модели </a:t>
            </a:r>
            <a:r>
              <a:rPr lang="ru-RU" sz="54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компьютерного </a:t>
            </a:r>
            <a:r>
              <a:rPr lang="ru-RU" sz="5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зрения для бинарной классификации гистологических снимков</a:t>
            </a:r>
            <a:endParaRPr sz="5400" b="1" dirty="0">
              <a:solidFill>
                <a:schemeClr val="accent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2032925" y="8709975"/>
            <a:ext cx="128766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 smtClean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Выполнил</a:t>
            </a:r>
            <a:r>
              <a:rPr lang="en-US" sz="9823" dirty="0" smtClean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студент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гр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9823" dirty="0" smtClean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737-01</a:t>
            </a:r>
            <a:r>
              <a:rPr lang="en-US" sz="9823" dirty="0" smtClean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9823" dirty="0" smtClean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Ткаченко Владислав Викторович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Руководитель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Андриков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Д.А.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Андриянова Е.В. 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ct val="100000"/>
              <a:buFont typeface="Helvetica Neue"/>
              <a:buNone/>
            </a:pPr>
            <a:endParaRPr sz="3200" dirty="0">
              <a:solidFill>
                <a:srgbClr val="2253A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Введение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</a:t>
            </a:r>
            <a:r>
              <a:rPr lang="en-US" dirty="0" smtClean="0"/>
              <a:t>09.04.02</a:t>
            </a:r>
            <a:r>
              <a:rPr lang="en-US" dirty="0"/>
              <a:t>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131FE00-CF21-CAE3-B91E-3FB3749A884A}"/>
              </a:ext>
            </a:extLst>
          </p:cNvPr>
          <p:cNvSpPr txBox="1"/>
          <p:nvPr/>
        </p:nvSpPr>
        <p:spPr>
          <a:xfrm>
            <a:off x="1030760" y="3717520"/>
            <a:ext cx="17641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применён метод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компьютерного зрения (CV) для автоматической классификации снимков.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обучаются на размеченных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BreakHis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чтобы отличать доброкачественные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benign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образования от злокачественных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malignant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 точностью, сопоставимой с экспертом.</a:t>
            </a:r>
          </a:p>
          <a:p>
            <a:r>
              <a:rPr lang="ru-RU" sz="1800" dirty="0"/>
              <a:t/>
            </a:r>
            <a:br>
              <a:rPr lang="ru-RU" sz="1800" dirty="0"/>
            </a:br>
            <a:endParaRPr lang="x-none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131FE00-CF21-CAE3-B91E-3FB3749A884A}"/>
              </a:ext>
            </a:extLst>
          </p:cNvPr>
          <p:cNvSpPr txBox="1"/>
          <p:nvPr/>
        </p:nvSpPr>
        <p:spPr>
          <a:xfrm>
            <a:off x="1030760" y="6425952"/>
            <a:ext cx="1482925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Трансферное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обучение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Использование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предобученных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(веса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извлечения сложных пространственных признаков из текстур тканей.</a:t>
            </a:r>
          </a:p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Fine-Tuning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Дообучение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Поэтапная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разморозка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последних слоев сети с пониженной скоростью обучения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адаптации универсальных фильтров под специфику микроскопических снимков.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Биологически обоснованная аугментация: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Применение геометрических (повороты,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флипы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цветовых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ColorJitter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трансформаций. Это учит модель инвариантности к ориентации среза и вариациям лабораторного окрашивания (H&amp;E).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Интерпретируемость (XAI):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Использование метода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построения тепловых карт. Это позволяет визуализировать, на какие именно участки ткани (ядра клеток, строму) «смотрит»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принятии решения.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1038" y="5417840"/>
            <a:ext cx="6982037" cy="697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Постановка задачи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</a:t>
            </a:r>
            <a:r>
              <a:rPr lang="en-US" dirty="0" smtClean="0"/>
              <a:t>09.04.02</a:t>
            </a:r>
            <a:r>
              <a:rPr lang="en-US" dirty="0"/>
              <a:t>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131FE00-CF21-CAE3-B91E-3FB3749A884A}"/>
              </a:ext>
            </a:extLst>
          </p:cNvPr>
          <p:cNvSpPr txBox="1"/>
          <p:nvPr/>
        </p:nvSpPr>
        <p:spPr>
          <a:xfrm>
            <a:off x="1822848" y="3443975"/>
            <a:ext cx="190821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модель компьютерного зрения для бинарной классификации гистологических снимков: отличать доброкачественные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benign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опухоли от злокачественных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malignant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2848" y="4892043"/>
            <a:ext cx="2009023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(Полнота) для класса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Malignant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метрика. Показывает, какую долю реальных случаев рака мы обнаружили. Ложноотрицательный результат (пропустить рак) недопустим.</a:t>
            </a:r>
          </a:p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(Точность)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доля правильных положительных прогнозов. Ложноположительный результат ведет к ненужному стрессу пациента.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между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способность модели разделять классы при различных порогах классификации.</a:t>
            </a:r>
          </a:p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Confusion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наглядная матрица ошибок для анализа типа ошибок.</a:t>
            </a:r>
          </a:p>
          <a:p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класса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Malignant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85% (минимум пропущенных случаев рака)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&gt; 0.80 (хорошее качество разделения классов)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Визуальное подтверждение через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-CAM, что модель смотрит на биологически значимые области (ядра клеток), а не на артефакты.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5674" y="10603765"/>
            <a:ext cx="180022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Проверялось только основная гипотеза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возможности классификации, но и дополнительные: во-первых, действительно ли модель 'смотрит' на клетки, а не на шум (проверили через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-CAM), и во-вторых, какая архитектура лучше подходит для этой задачи (сравнили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91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Обзор литературы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</a:t>
            </a:r>
            <a:r>
              <a:rPr lang="en-US" dirty="0" smtClean="0"/>
              <a:t>09.04.02</a:t>
            </a:r>
            <a:r>
              <a:rPr lang="en-US" dirty="0"/>
              <a:t>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131FE00-CF21-CAE3-B91E-3FB3749A884A}"/>
              </a:ext>
            </a:extLst>
          </p:cNvPr>
          <p:cNvSpPr txBox="1"/>
          <p:nvPr/>
        </p:nvSpPr>
        <p:spPr>
          <a:xfrm>
            <a:off x="2587083" y="3992137"/>
            <a:ext cx="1766981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BreakHis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Breast Cancer Histopathological Dataset</a:t>
            </a:r>
          </a:p>
          <a:p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Статья: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intelligence-based prediction of organ involvement in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Sjogren's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syndrome using labial gland biopsy whole-slide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ResNet50, InceptionV3, and EfficientNet-B5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Похожий проект: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https://github.com/magicaltrap/breastcancer_detection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966" y="9090248"/>
            <a:ext cx="15003969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1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</a:t>
            </a:r>
            <a:r>
              <a:rPr lang="en-US" dirty="0" smtClean="0"/>
              <a:t>09.04.02</a:t>
            </a:r>
            <a:r>
              <a:rPr lang="en-US" dirty="0"/>
              <a:t>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131FE00-CF21-CAE3-B91E-3FB3749A884A}"/>
              </a:ext>
            </a:extLst>
          </p:cNvPr>
          <p:cNvSpPr txBox="1"/>
          <p:nvPr/>
        </p:nvSpPr>
        <p:spPr>
          <a:xfrm>
            <a:off x="2271982" y="3378631"/>
            <a:ext cx="197280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основе решения лежит архитектура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сверточных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нейронных сетей (CNN) с применением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трансферного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обучения на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предобученных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весах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Использованы две архитектуры: ResNet50 с остаточными связями (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skip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борьбы с затуханием градиентов и EfficientNet-B0 с составным масштабированием (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compound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оптимизации соотношения точности и вычислительной сложности. Обучение проводилось в два этапа: первоначальная заморозка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extractor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обучением только классификатора (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fully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0.5 для регуляризации), затем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fine-tuning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последних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сверточных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блоков с пониженным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(1e-5) и оптимизатором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decay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(1e-4) для предотвращения переобучения. </a:t>
            </a:r>
            <a:endParaRPr lang="x-non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647" y="8298160"/>
            <a:ext cx="11305256" cy="486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4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Алгоритм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</a:t>
            </a:r>
            <a:r>
              <a:rPr lang="en-US" dirty="0" smtClean="0"/>
              <a:t>09.04.02</a:t>
            </a:r>
            <a:r>
              <a:rPr lang="en-US" dirty="0"/>
              <a:t>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131FE00-CF21-CAE3-B91E-3FB3749A884A}"/>
              </a:ext>
            </a:extLst>
          </p:cNvPr>
          <p:cNvSpPr txBox="1"/>
          <p:nvPr/>
        </p:nvSpPr>
        <p:spPr>
          <a:xfrm>
            <a:off x="1966624" y="3114094"/>
            <a:ext cx="2091017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решения задачи был использован публичный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BreakHis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Breast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Cancer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Histopathological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задач классификации рака молочной железы.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содержит 7 909 микроскопических изображений (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патчей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полученных от 82 пациентов и окрашенных гематоксилином и эозином (H&amp;E). Данные представлены в четырех масштабах увеличения (40X, 100X, 200X, 400X), однако в рамках данного эксперимента фокус был сделан на масштабе 40X для анализа глобальной архитектуры тканей. Ключевой особенностью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его структура: каждое изображение представляет собой фрагмент, вырезанный из одного из нескольких десятков гистологических слайдов, что требует особого подхода к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 для предотвращения утечки данных.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6624" y="7192086"/>
            <a:ext cx="202342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этапе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имен файлов был извлечен уникальный идентификатор слайда (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slide_id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после чего стратифицированное разделение на обучающую (70%),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валидационную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(15%) и тестовую (15%) выборки проводилось строго по ID слайдов, а не по отдельным изображениям. Это гарантирует, что модель оценивается на полностью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невиденных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пациентах. Для подготовки тензоров применялся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RandomResizedCrop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(224x224) с сохранением аспектного соотношения клеток и нормализация по статистике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предотвращения переобучения на этапе обучения использовался пакет аугментаций: случайные горизонтальные и вертикальные отражения, повороты на 90 градусов (обеспечивая инвариантность к ориентации микроскопа) и цветовая аугментация (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ColorJitter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имитации вариаций концентрации красителей H&amp;E в разных лабораториях. Загрузка данных осуществлялась через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размером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батча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 и использованием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pin_memory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оптимизации передачи тензоров на GPU.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19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</a:t>
            </a:r>
            <a:r>
              <a:rPr lang="en-US" dirty="0" smtClean="0"/>
              <a:t>09.04.02</a:t>
            </a:r>
            <a:r>
              <a:rPr lang="en-US" dirty="0"/>
              <a:t>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131FE00-CF21-CAE3-B91E-3FB3749A884A}"/>
              </a:ext>
            </a:extLst>
          </p:cNvPr>
          <p:cNvSpPr txBox="1"/>
          <p:nvPr/>
        </p:nvSpPr>
        <p:spPr>
          <a:xfrm>
            <a:off x="1880394" y="3401616"/>
            <a:ext cx="128520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эксперимента были обучены и протестированы две архитектуры: ResNet50 и EfficientNet-B0. Модель ResNet50 после этапа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fine-tuning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достигла точности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76.0% на тестовой выборке, при этом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класса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Malignant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составил 0.94,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означает способность модели обнаруживать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94%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реальных случаев злокачественных опухолей. Площадь под ROC-кривой (AUC-ROC) достигла значения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0.84, что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свидетельствует о хорошем разделении классов. EfficientNet-B0 продемонстрировал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0.82, производительность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0.71 и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87%,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подтверждая гипотезу о преимуществах современных эффективных архитектур для работы с гистологическими изображениями.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836" y="7934789"/>
            <a:ext cx="7659169" cy="445832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3380" y="3197163"/>
            <a:ext cx="7849695" cy="966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4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</a:t>
            </a:r>
            <a:r>
              <a:rPr lang="en-US" dirty="0" smtClean="0"/>
              <a:t>09.04.02</a:t>
            </a:r>
            <a:r>
              <a:rPr lang="en-US" dirty="0"/>
              <a:t>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131FE00-CF21-CAE3-B91E-3FB3749A884A}"/>
              </a:ext>
            </a:extLst>
          </p:cNvPr>
          <p:cNvSpPr txBox="1"/>
          <p:nvPr/>
        </p:nvSpPr>
        <p:spPr>
          <a:xfrm>
            <a:off x="1966624" y="2635479"/>
            <a:ext cx="19615971" cy="1092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гипотеза о том, что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сверточные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нейронные сети способны автоматически извлекать скрытые морфологические маркеры из препаратов H&amp;E и классифицировать опухоли с точностью, сопоставимой с экспертом, подтвердилась частично. С одной стороны, модель успешно обучилась различать доброкачественные и злокачественные ткани с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0.80, что соответствует уровню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скрининговых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медицинских систем. С другой стороны,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AUC-ROC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оказался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ниже клинически желаемого порога в 85%, что указывает на необходимость дальнейшей работы с порогом классификации,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ансамблированием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моделей и привлечением дополнительных данных.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интерпретируемости подтвердилась полностью: визуализация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-CAM показала, что зоны максимальной активации модели локализуются именно в областях скопления атипичных ядер и нарушенной архитектуры ткани, а не на артефактах окрашивания или фоне. Это доказывает, что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выучила биологически значимые признаки, а не статистические шумы.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преимуществах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над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подтвердилась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более современная архитектура с составным масштабированием показала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худшую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обобщающую способность при сопоставимых вычислительных затратах.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и направления развития: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одель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обучалась только на одном масштабе увеличения (40X), тогда как в клинической практике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патоморфологи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используют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мультимасштабный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 (40X–400X).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BreakHis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собран в одной лаборатории, поэтому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внешняя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независимых когортах из разных медицинских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центров.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Перспективными направлениями развития являются: переход к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многоклассовой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классификации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подтипов,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(MIL) для работы с целыми слайдами (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whole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а также интеграция нескольких увеличений в единую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мультимодальную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архитектуру.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08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</a:t>
            </a:r>
            <a:r>
              <a:rPr lang="en-US" dirty="0" smtClean="0"/>
              <a:t>09.04.02</a:t>
            </a:r>
            <a:r>
              <a:rPr lang="en-US" dirty="0"/>
              <a:t>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0A7AE55-88BC-D6C0-DAA8-9C7ED6059B09}"/>
              </a:ext>
            </a:extLst>
          </p:cNvPr>
          <p:cNvSpPr txBox="1"/>
          <p:nvPr/>
        </p:nvSpPr>
        <p:spPr>
          <a:xfrm>
            <a:off x="1667167" y="4326636"/>
            <a:ext cx="142575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dirty="0"/>
              <a:t>Спасибо за внимание!</a:t>
            </a:r>
            <a:endParaRPr lang="x-none" sz="8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EE5BB50-B94E-3769-BC60-082F5935B99D}"/>
              </a:ext>
            </a:extLst>
          </p:cNvPr>
          <p:cNvSpPr txBox="1"/>
          <p:nvPr/>
        </p:nvSpPr>
        <p:spPr>
          <a:xfrm>
            <a:off x="1667167" y="9162256"/>
            <a:ext cx="2129621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Code availability – </a:t>
            </a:r>
            <a:r>
              <a:rPr lang="en-US" sz="3200" dirty="0"/>
              <a:t>https://www.kaggle.com/code/vladtkachenko/breastcancercvproject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Data availability – </a:t>
            </a:r>
            <a:r>
              <a:rPr lang="en-US" sz="3200" dirty="0"/>
              <a:t>https://www.kaggle.com/datasets/waseemalastal/breakhis-breast-cancer-histopathological-dataset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0730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1243</Words>
  <Application>Microsoft Office PowerPoint</Application>
  <PresentationFormat>Произвольный</PresentationFormat>
  <Paragraphs>78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Calibri</vt:lpstr>
      <vt:lpstr>Helvetica Neue</vt:lpstr>
      <vt:lpstr>Times New Roman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Андриянова Екатерина Вячеславовна</dc:creator>
  <cp:keywords/>
  <dc:description/>
  <cp:lastModifiedBy>Учетная запись Майкрософт</cp:lastModifiedBy>
  <cp:revision>28</cp:revision>
  <dcterms:modified xsi:type="dcterms:W3CDTF">2026-06-07T22:47:25Z</dcterms:modified>
  <cp:category/>
</cp:coreProperties>
</file>