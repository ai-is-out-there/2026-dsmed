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7" r:id="rId9"/>
    <p:sldId id="276" r:id="rId10"/>
    <p:sldId id="270" r:id="rId11"/>
    <p:sldId id="278" r:id="rId12"/>
  </p:sldIdLst>
  <p:sldSz cx="24384000" cy="13716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8"/>
    <p:restoredTop sz="95080" autoAdjust="0"/>
  </p:normalViewPr>
  <p:slideViewPr>
    <p:cSldViewPr>
      <p:cViewPr varScale="1">
        <p:scale>
          <a:sx n="75" d="100"/>
          <a:sy n="75" d="100"/>
        </p:scale>
        <p:origin x="840" y="6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D7D505AC-1C2D-D358-9D50-BF4A0535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40539DC4-F033-9402-D689-EAD06D987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0BC11DC0-E23E-1A01-141A-17D8C17DE2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941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C044DDF4-EA64-17C9-620A-5C5DCE26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CD489CE6-5CCB-87AC-94F1-BC5CF4D70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3C98F1B4-624D-A538-AC28-2B1ACD3CE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60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8" y="5091525"/>
            <a:ext cx="17219786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58125"/>
              </a:lnSpc>
              <a:spcBef>
                <a:spcPts val="0"/>
              </a:spcBef>
              <a:buClr>
                <a:schemeClr val="dk1"/>
              </a:buClr>
              <a:buSzPts val="275"/>
              <a:buNone/>
            </a:pP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Прогнозирование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длительности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клинических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испытаний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
с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использованием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методов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машинного</a:t>
            </a:r>
            <a:r>
              <a:rPr sz="4800" dirty="0">
                <a:solidFill>
                  <a:srgbClr val="2253A1"/>
                </a:solidFill>
                <a:latin typeface="Arial"/>
                <a:cs typeface="Arial"/>
              </a:rPr>
              <a:t> </a:t>
            </a:r>
            <a:r>
              <a:rPr sz="4800" dirty="0" err="1">
                <a:solidFill>
                  <a:srgbClr val="2253A1"/>
                </a:solidFill>
                <a:latin typeface="Arial"/>
                <a:cs typeface="Arial"/>
              </a:rPr>
              <a:t>обучения</a:t>
            </a:r>
            <a:endParaRPr sz="4800" dirty="0">
              <a:solidFill>
                <a:srgbClr val="2253A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28766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Абрамов Александр Игоревич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737-01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</a:t>
            </a:r>
            <a:r>
              <a:rPr lang="ru-RU" dirty="0"/>
              <a:t>4</a:t>
            </a:r>
            <a:r>
              <a:rPr lang="en-US" dirty="0"/>
              <a:t>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568774" y="2724561"/>
            <a:ext cx="21246451" cy="915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r>
              <a:rPr lang="ru-RU" sz="3200" dirty="0">
                <a:solidFill>
                  <a:srgbClr val="0E2D69"/>
                </a:solidFill>
                <a:sym typeface="Calibri"/>
              </a:rPr>
              <a:t>Актуальность проблемы:</a:t>
            </a:r>
          </a:p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endParaRPr lang="ru-RU" sz="3200" dirty="0">
              <a:solidFill>
                <a:srgbClr val="0E2D69"/>
              </a:solidFill>
              <a:sym typeface="Calibri"/>
            </a:endParaRPr>
          </a:p>
          <a:p>
            <a:pPr>
              <a:defRPr sz="1100">
                <a:latin typeface="Arial"/>
              </a:defRPr>
            </a:pPr>
            <a:r>
              <a:rPr lang="ru-RU" sz="3200" dirty="0"/>
              <a:t>Клинические испытания являются самым дорогим и длительным этапом разработки новых лекарственных препаратов. Согласно данным FDA, средняя длительность клинического исследования составляет 6-9 лет, а более 80% испытаний завершаются позже запланированного срока. Это приводит к увеличению затрат на разработку (до $2.6 млрд на один препарат), задержке вывода жизненно важных лекарств на рынок и потере патентной защиты.</a:t>
            </a:r>
          </a:p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endParaRPr lang="ru-RU" sz="3200" b="1" dirty="0">
              <a:solidFill>
                <a:srgbClr val="0E2D69"/>
              </a:solidFill>
            </a:endParaRPr>
          </a:p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r>
              <a:rPr lang="ru-RU" sz="3200" b="1" dirty="0">
                <a:solidFill>
                  <a:srgbClr val="0E2D69"/>
                </a:solidFill>
              </a:rPr>
              <a:t>Задачи проекта:</a:t>
            </a:r>
          </a:p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endParaRPr lang="ru-RU" sz="3200" b="1" dirty="0">
              <a:solidFill>
                <a:srgbClr val="0E2D69"/>
              </a:solidFill>
            </a:endParaRPr>
          </a:p>
          <a:p>
            <a:pPr>
              <a:defRPr sz="1100">
                <a:latin typeface="Arial"/>
              </a:defRPr>
            </a:pPr>
            <a:r>
              <a:rPr lang="ru-RU" sz="3200" dirty="0"/>
              <a:t>1. Собрать и </a:t>
            </a:r>
            <a:r>
              <a:rPr lang="ru-RU" sz="3200" dirty="0" err="1"/>
              <a:t>предобработать</a:t>
            </a:r>
            <a:r>
              <a:rPr lang="ru-RU" sz="3200" dirty="0"/>
              <a:t> данные о клинических испытаниях из открытого регистра ClinicalTrials.gov</a:t>
            </a:r>
          </a:p>
          <a:p>
            <a:pPr>
              <a:defRPr sz="1100">
                <a:latin typeface="Arial"/>
              </a:defRPr>
            </a:pPr>
            <a:r>
              <a:rPr lang="ru-RU" sz="3200" dirty="0"/>
              <a:t>2. Построить и обучить несколько моделей машинного обучения (</a:t>
            </a:r>
            <a:r>
              <a:rPr lang="ru-RU" sz="3200" dirty="0" err="1"/>
              <a:t>Linear</a:t>
            </a:r>
            <a:r>
              <a:rPr lang="ru-RU" sz="3200" dirty="0"/>
              <a:t> </a:t>
            </a:r>
            <a:r>
              <a:rPr lang="ru-RU" sz="3200" dirty="0" err="1"/>
              <a:t>Regression</a:t>
            </a:r>
            <a:r>
              <a:rPr lang="ru-RU" sz="3200" dirty="0"/>
              <a:t>, </a:t>
            </a:r>
            <a:r>
              <a:rPr lang="ru-RU" sz="3200" dirty="0" err="1"/>
              <a:t>Decision</a:t>
            </a:r>
            <a:r>
              <a:rPr lang="ru-RU" sz="3200" dirty="0"/>
              <a:t> </a:t>
            </a:r>
            <a:r>
              <a:rPr lang="ru-RU" sz="3200" dirty="0" err="1"/>
              <a:t>Tree</a:t>
            </a:r>
            <a:r>
              <a:rPr lang="ru-RU" sz="3200" dirty="0"/>
              <a:t>, </a:t>
            </a:r>
            <a:r>
              <a:rPr lang="ru-RU" sz="3200" dirty="0" err="1"/>
              <a:t>Random</a:t>
            </a:r>
            <a:r>
              <a:rPr lang="ru-RU" sz="3200" dirty="0"/>
              <a:t> </a:t>
            </a:r>
            <a:r>
              <a:rPr lang="ru-RU" sz="3200" dirty="0" err="1"/>
              <a:t>Forest</a:t>
            </a:r>
            <a:r>
              <a:rPr lang="ru-RU" sz="3200" dirty="0"/>
              <a:t>)</a:t>
            </a:r>
          </a:p>
          <a:p>
            <a:pPr>
              <a:defRPr sz="1100">
                <a:latin typeface="Arial"/>
              </a:defRPr>
            </a:pPr>
            <a:r>
              <a:rPr lang="ru-RU" sz="3200" dirty="0"/>
              <a:t>3. Сравнить качество моделей по метрикам MAE и R²</a:t>
            </a:r>
          </a:p>
          <a:p>
            <a:pPr>
              <a:defRPr sz="1100">
                <a:latin typeface="Arial"/>
              </a:defRPr>
            </a:pPr>
            <a:r>
              <a:rPr lang="ru-RU" sz="3200" dirty="0"/>
              <a:t>4. Выявить ключевые факторы, влияющие на длительность испытаний</a:t>
            </a:r>
          </a:p>
          <a:p>
            <a:pPr>
              <a:defRPr sz="1100">
                <a:latin typeface="Arial"/>
              </a:defRPr>
            </a:pPr>
            <a:endParaRPr lang="ru-RU" sz="3200" dirty="0"/>
          </a:p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r>
              <a:rPr lang="ru-RU" sz="3200" b="1" dirty="0">
                <a:solidFill>
                  <a:srgbClr val="0E2D69"/>
                </a:solidFill>
              </a:rPr>
              <a:t>Ожидаемый результат:</a:t>
            </a:r>
          </a:p>
          <a:p>
            <a:pPr>
              <a:defRPr sz="1100">
                <a:latin typeface="Arial"/>
              </a:defRPr>
            </a:pPr>
            <a:r>
              <a:rPr lang="ru-RU" sz="3200" dirty="0"/>
              <a:t>Модель, которая поможет фармацевтическим компаниям и инвесторам более точно планировать сроки проведения клинических исследований и оценивать риски.</a:t>
            </a:r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966624" y="3118515"/>
            <a:ext cx="21246451" cy="787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r>
              <a:rPr lang="ru-RU" sz="3200" b="1" dirty="0">
                <a:solidFill>
                  <a:srgbClr val="0E2D69"/>
                </a:solidFill>
              </a:rPr>
              <a:t>Цель работы:</a:t>
            </a:r>
          </a:p>
          <a:p>
            <a:pPr>
              <a:lnSpc>
                <a:spcPct val="90000"/>
              </a:lnSpc>
              <a:buSzPts val="4800"/>
              <a:defRPr sz="1200" b="1">
                <a:latin typeface="Arial"/>
              </a:defRPr>
            </a:pPr>
            <a:endParaRPr lang="ru-RU" sz="3200" b="1" dirty="0">
              <a:solidFill>
                <a:srgbClr val="0E2D69"/>
              </a:solidFill>
            </a:endParaRPr>
          </a:p>
          <a:p>
            <a:pPr>
              <a:defRPr sz="1100">
                <a:latin typeface="Arial"/>
              </a:defRPr>
            </a:pPr>
            <a:r>
              <a:rPr lang="ru-RU" sz="3200" dirty="0"/>
              <a:t>Разработать модель машинного обучения, которая на основе метаданных протокола клинического испытания (фаза, размер выборки, тип спонсора, </a:t>
            </a:r>
            <a:r>
              <a:rPr lang="ru-RU" sz="3200" dirty="0" err="1"/>
              <a:t>мультицентровость</a:t>
            </a:r>
            <a:r>
              <a:rPr lang="ru-RU" sz="3200" dirty="0"/>
              <a:t>, область медицины) может предсказать его ожидаемую длительность с точностью до 8-10 месяцев</a:t>
            </a:r>
            <a:endParaRPr lang="ru-RU" sz="3200" b="0" dirty="0">
              <a:latin typeface="Arial"/>
            </a:endParaRPr>
          </a:p>
          <a:p>
            <a:r>
              <a:rPr lang="ru-RU" sz="3200" b="0" dirty="0">
                <a:latin typeface="Arial"/>
              </a:rPr>
              <a:t>Шаги</a:t>
            </a:r>
            <a:r>
              <a:rPr sz="3200" b="0" dirty="0">
                <a:latin typeface="Arial"/>
              </a:rPr>
              <a:t>
1. </a:t>
            </a:r>
            <a:r>
              <a:rPr sz="3200" b="0" dirty="0" err="1">
                <a:latin typeface="Arial"/>
              </a:rPr>
              <a:t>Построить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модель</a:t>
            </a:r>
            <a:r>
              <a:rPr sz="3200" b="0" dirty="0">
                <a:latin typeface="Arial"/>
              </a:rPr>
              <a:t> МО </a:t>
            </a:r>
            <a:r>
              <a:rPr sz="3200" b="0" dirty="0" err="1">
                <a:latin typeface="Arial"/>
              </a:rPr>
              <a:t>для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предсказания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длительности</a:t>
            </a:r>
            <a:r>
              <a:rPr sz="3200" b="0" dirty="0">
                <a:latin typeface="Arial"/>
              </a:rPr>
              <a:t> КИ в </a:t>
            </a:r>
            <a:r>
              <a:rPr sz="3200" b="0" dirty="0" err="1">
                <a:latin typeface="Arial"/>
              </a:rPr>
              <a:t>днях</a:t>
            </a:r>
            <a:r>
              <a:rPr sz="3200" b="0" dirty="0">
                <a:latin typeface="Arial"/>
              </a:rPr>
              <a:t>
2. </a:t>
            </a:r>
            <a:r>
              <a:rPr sz="3200" b="0" dirty="0" err="1">
                <a:latin typeface="Arial"/>
              </a:rPr>
              <a:t>Оценить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качество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по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метрикам</a:t>
            </a:r>
            <a:r>
              <a:rPr sz="3200" b="0" dirty="0">
                <a:latin typeface="Arial"/>
              </a:rPr>
              <a:t> MAE и R²
3. </a:t>
            </a:r>
            <a:r>
              <a:rPr sz="3200" b="0" dirty="0" err="1">
                <a:latin typeface="Arial"/>
              </a:rPr>
              <a:t>Выявить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ключевые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факторы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влияющие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на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длительность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испытаний</a:t>
            </a:r>
            <a:r>
              <a:rPr sz="3200" b="0" dirty="0">
                <a:latin typeface="Arial"/>
              </a:rPr>
              <a:t>
</a:t>
            </a:r>
            <a:r>
              <a:rPr sz="3200" b="0" dirty="0" err="1">
                <a:latin typeface="Arial"/>
              </a:rPr>
              <a:t>Критерий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успеха</a:t>
            </a:r>
            <a:r>
              <a:rPr sz="3200" b="0" dirty="0">
                <a:latin typeface="Arial"/>
              </a:rPr>
              <a:t>: MAE &lt; 300 </a:t>
            </a:r>
            <a:r>
              <a:rPr sz="3200" b="0" dirty="0" err="1">
                <a:latin typeface="Arial"/>
              </a:rPr>
              <a:t>дней</a:t>
            </a:r>
            <a:r>
              <a:rPr sz="3200" b="0" dirty="0">
                <a:latin typeface="Arial"/>
              </a:rPr>
              <a:t>, R² &gt; 0.5
</a:t>
            </a:r>
            <a:r>
              <a:rPr sz="3200" b="0" dirty="0" err="1">
                <a:latin typeface="Arial"/>
              </a:rPr>
              <a:t>Научная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гипотеза</a:t>
            </a:r>
            <a:r>
              <a:rPr sz="3200" b="0" dirty="0">
                <a:latin typeface="Arial"/>
              </a:rPr>
              <a:t>:
</a:t>
            </a:r>
            <a:r>
              <a:rPr sz="3200" b="0" dirty="0" err="1">
                <a:latin typeface="Arial"/>
              </a:rPr>
              <a:t>Фаза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испытания</a:t>
            </a:r>
            <a:r>
              <a:rPr sz="3200" b="0" dirty="0">
                <a:latin typeface="Arial"/>
              </a:rPr>
              <a:t> и </a:t>
            </a:r>
            <a:r>
              <a:rPr sz="3200" b="0" dirty="0" err="1">
                <a:latin typeface="Arial"/>
              </a:rPr>
              <a:t>мультицентровость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являются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ключевыми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факторами</a:t>
            </a:r>
            <a:r>
              <a:rPr sz="3200" b="0" dirty="0">
                <a:latin typeface="Arial"/>
              </a:rPr>
              <a:t>,
</a:t>
            </a:r>
            <a:r>
              <a:rPr sz="3200" b="0" dirty="0" err="1">
                <a:latin typeface="Arial"/>
              </a:rPr>
              <a:t>определяющими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длительность</a:t>
            </a:r>
            <a:r>
              <a:rPr sz="3200" b="0" dirty="0">
                <a:latin typeface="Arial"/>
              </a:rPr>
              <a:t> КИ. Гипотеза </a:t>
            </a:r>
            <a:r>
              <a:rPr sz="3200" b="0" dirty="0" err="1">
                <a:latin typeface="Arial"/>
              </a:rPr>
              <a:t>считается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подтверждённой</a:t>
            </a:r>
            <a:r>
              <a:rPr sz="3200" b="0" dirty="0">
                <a:latin typeface="Arial"/>
              </a:rPr>
              <a:t>,
</a:t>
            </a:r>
            <a:r>
              <a:rPr sz="3200" b="0" dirty="0" err="1">
                <a:latin typeface="Arial"/>
              </a:rPr>
              <a:t>если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эти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признаки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займут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наибольший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вес</a:t>
            </a:r>
            <a:r>
              <a:rPr sz="3200" b="0" dirty="0">
                <a:latin typeface="Arial"/>
              </a:rPr>
              <a:t> в </a:t>
            </a:r>
            <a:r>
              <a:rPr lang="ru-RU" sz="3200" dirty="0"/>
              <a:t>важности признаков </a:t>
            </a:r>
            <a:r>
              <a:rPr sz="3200" b="0" dirty="0" err="1">
                <a:latin typeface="Arial"/>
              </a:rPr>
              <a:t>модели</a:t>
            </a:r>
            <a:r>
              <a:rPr sz="3200" b="0" dirty="0"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966624" y="3118515"/>
            <a:ext cx="2124645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 dirty="0" err="1">
                <a:solidFill>
                  <a:srgbClr val="0E2D69"/>
                </a:solidFill>
              </a:rPr>
              <a:t>Ключевые</a:t>
            </a:r>
            <a:r>
              <a:rPr sz="3200" b="1" dirty="0">
                <a:solidFill>
                  <a:srgbClr val="0E2D69"/>
                </a:solidFill>
              </a:rPr>
              <a:t> </a:t>
            </a:r>
            <a:r>
              <a:rPr sz="3200" b="1" dirty="0" err="1">
                <a:solidFill>
                  <a:srgbClr val="0E2D69"/>
                </a:solidFill>
              </a:rPr>
              <a:t>исследования</a:t>
            </a:r>
            <a:r>
              <a:rPr sz="3200" b="1" dirty="0">
                <a:solidFill>
                  <a:srgbClr val="0E2D69"/>
                </a:solidFill>
              </a:rPr>
              <a:t>:</a:t>
            </a:r>
            <a:r>
              <a:rPr sz="3200" b="0" dirty="0">
                <a:latin typeface="Arial"/>
              </a:rPr>
              <a:t>
• DiMasi J.A. et al. (JAMA, 2016)
  → </a:t>
            </a:r>
            <a:r>
              <a:rPr sz="3200" b="0" dirty="0" err="1">
                <a:latin typeface="Arial"/>
              </a:rPr>
              <a:t>Только</a:t>
            </a:r>
            <a:r>
              <a:rPr sz="3200" b="0" dirty="0">
                <a:latin typeface="Arial"/>
              </a:rPr>
              <a:t> 13.8% КИ </a:t>
            </a:r>
            <a:r>
              <a:rPr sz="3200" b="0" dirty="0" err="1">
                <a:latin typeface="Arial"/>
              </a:rPr>
              <a:t>завершаются</a:t>
            </a:r>
            <a:r>
              <a:rPr sz="3200" b="0" dirty="0">
                <a:latin typeface="Arial"/>
              </a:rPr>
              <a:t> в </a:t>
            </a:r>
            <a:r>
              <a:rPr sz="3200" b="0" dirty="0" err="1">
                <a:latin typeface="Arial"/>
              </a:rPr>
              <a:t>срок</a:t>
            </a:r>
            <a:r>
              <a:rPr sz="3200" b="0" dirty="0">
                <a:latin typeface="Arial"/>
              </a:rPr>
              <a:t>; </a:t>
            </a:r>
            <a:r>
              <a:rPr sz="3200" b="0" dirty="0" err="1">
                <a:latin typeface="Arial"/>
              </a:rPr>
              <a:t>среднее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превышение</a:t>
            </a:r>
            <a:r>
              <a:rPr sz="3200" b="0" dirty="0">
                <a:latin typeface="Arial"/>
              </a:rPr>
              <a:t> — 1.9 </a:t>
            </a:r>
            <a:r>
              <a:rPr sz="3200" b="0" dirty="0" err="1">
                <a:latin typeface="Arial"/>
              </a:rPr>
              <a:t>года</a:t>
            </a:r>
            <a:r>
              <a:rPr sz="3200" b="0" dirty="0">
                <a:latin typeface="Arial"/>
              </a:rPr>
              <a:t>
• Kaitin K.I. (Tufts CSDD, JHU)
  → </a:t>
            </a:r>
            <a:r>
              <a:rPr sz="3200" b="0" dirty="0" err="1">
                <a:latin typeface="Arial"/>
              </a:rPr>
              <a:t>Основная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причина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задержек</a:t>
            </a:r>
            <a:r>
              <a:rPr sz="3200" b="0" dirty="0">
                <a:latin typeface="Arial"/>
              </a:rPr>
              <a:t>: </a:t>
            </a:r>
            <a:r>
              <a:rPr sz="3200" b="0" dirty="0" err="1">
                <a:latin typeface="Arial"/>
              </a:rPr>
              <a:t>проблемы</a:t>
            </a:r>
            <a:r>
              <a:rPr sz="3200" b="0" dirty="0">
                <a:latin typeface="Arial"/>
              </a:rPr>
              <a:t> с </a:t>
            </a:r>
            <a:r>
              <a:rPr sz="3200" b="0" dirty="0" err="1">
                <a:latin typeface="Arial"/>
              </a:rPr>
              <a:t>набором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пациентов</a:t>
            </a:r>
            <a:r>
              <a:rPr sz="3200" b="0" dirty="0">
                <a:latin typeface="Arial"/>
              </a:rPr>
              <a:t> (&gt;40%)
• FDA Guidance on Adaptive Designs (2023)
  → </a:t>
            </a:r>
            <a:r>
              <a:rPr sz="3200" b="0" dirty="0" err="1">
                <a:latin typeface="Arial"/>
              </a:rPr>
              <a:t>Статистические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методы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планирования</a:t>
            </a:r>
            <a:r>
              <a:rPr sz="3200" b="0" dirty="0">
                <a:latin typeface="Arial"/>
              </a:rPr>
              <a:t> и </a:t>
            </a:r>
            <a:r>
              <a:rPr sz="3200" b="0" dirty="0" err="1">
                <a:latin typeface="Arial"/>
              </a:rPr>
              <a:t>адаптации</a:t>
            </a:r>
            <a:r>
              <a:rPr sz="3200" b="0" dirty="0">
                <a:latin typeface="Arial"/>
              </a:rPr>
              <a:t> КИ
• Wong C.H. et al. (Biostatistics, 2019)
  → </a:t>
            </a:r>
            <a:r>
              <a:rPr sz="3200" b="0" dirty="0" err="1">
                <a:latin typeface="Arial"/>
              </a:rPr>
              <a:t>Вероятность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успеха</a:t>
            </a:r>
            <a:r>
              <a:rPr sz="3200" b="0" dirty="0">
                <a:latin typeface="Arial"/>
              </a:rPr>
              <a:t> КИ: </a:t>
            </a:r>
            <a:r>
              <a:rPr sz="3200" b="0" dirty="0" err="1">
                <a:latin typeface="Arial"/>
              </a:rPr>
              <a:t>фаза</a:t>
            </a:r>
            <a:r>
              <a:rPr sz="3200" b="0" dirty="0">
                <a:latin typeface="Arial"/>
              </a:rPr>
              <a:t> I — 52%, II — 28.9%, III — 57.8%
• </a:t>
            </a:r>
            <a:r>
              <a:rPr sz="3200" b="0" dirty="0" err="1">
                <a:latin typeface="Arial"/>
              </a:rPr>
              <a:t>Датасет</a:t>
            </a:r>
            <a:r>
              <a:rPr sz="3200" b="0" dirty="0">
                <a:latin typeface="Arial"/>
              </a:rPr>
              <a:t>: Global Clinical Trial Intelligence 2024–2026 (Kaggle)</a:t>
            </a:r>
            <a:endParaRPr lang="en-RU" sz="3200" dirty="0"/>
          </a:p>
        </p:txBody>
      </p:sp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966624" y="2872293"/>
            <a:ext cx="21246451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 dirty="0" err="1">
                <a:solidFill>
                  <a:srgbClr val="0E2D69"/>
                </a:solidFill>
              </a:rPr>
              <a:t>Используемые</a:t>
            </a:r>
            <a:r>
              <a:rPr sz="3200" b="1" dirty="0">
                <a:solidFill>
                  <a:srgbClr val="0E2D69"/>
                </a:solidFill>
              </a:rPr>
              <a:t> </a:t>
            </a:r>
            <a:r>
              <a:rPr sz="3200" b="1" dirty="0" err="1">
                <a:solidFill>
                  <a:srgbClr val="0E2D69"/>
                </a:solidFill>
              </a:rPr>
              <a:t>методы</a:t>
            </a:r>
            <a:r>
              <a:rPr sz="3200" b="1" dirty="0">
                <a:solidFill>
                  <a:srgbClr val="0E2D69"/>
                </a:solidFill>
              </a:rPr>
              <a:t> и </a:t>
            </a:r>
            <a:r>
              <a:rPr sz="3200" b="1" dirty="0" err="1">
                <a:solidFill>
                  <a:srgbClr val="0E2D69"/>
                </a:solidFill>
              </a:rPr>
              <a:t>теоретические</a:t>
            </a:r>
            <a:r>
              <a:rPr sz="3200" b="1" dirty="0">
                <a:solidFill>
                  <a:srgbClr val="0E2D69"/>
                </a:solidFill>
              </a:rPr>
              <a:t> </a:t>
            </a:r>
            <a:r>
              <a:rPr sz="3200" b="1" dirty="0" err="1">
                <a:solidFill>
                  <a:srgbClr val="0E2D69"/>
                </a:solidFill>
              </a:rPr>
              <a:t>основы</a:t>
            </a:r>
            <a:r>
              <a:rPr sz="3200" b="1" dirty="0">
                <a:solidFill>
                  <a:srgbClr val="0E2D69"/>
                </a:solidFill>
              </a:rPr>
              <a:t>:</a:t>
            </a:r>
            <a:r>
              <a:rPr sz="3200" b="0" dirty="0">
                <a:latin typeface="Arial"/>
              </a:rPr>
              <a:t>
Random Forest (</a:t>
            </a:r>
            <a:r>
              <a:rPr sz="3200" b="0" dirty="0" err="1">
                <a:latin typeface="Arial"/>
              </a:rPr>
              <a:t>Случайный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лес</a:t>
            </a:r>
            <a:r>
              <a:rPr sz="3200" b="0" dirty="0">
                <a:latin typeface="Arial"/>
              </a:rPr>
              <a:t>):
</a:t>
            </a:r>
            <a:r>
              <a:rPr sz="3200" b="0" dirty="0" err="1">
                <a:latin typeface="Arial"/>
              </a:rPr>
              <a:t>Ансамблевый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метод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строящий</a:t>
            </a:r>
            <a:r>
              <a:rPr sz="3200" b="0" dirty="0">
                <a:latin typeface="Arial"/>
              </a:rPr>
              <a:t> N </a:t>
            </a:r>
            <a:r>
              <a:rPr sz="3200" b="0" dirty="0" err="1">
                <a:latin typeface="Arial"/>
              </a:rPr>
              <a:t>деревьев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решений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на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случайных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подвыборках</a:t>
            </a:r>
            <a:r>
              <a:rPr sz="3200" b="0" dirty="0">
                <a:latin typeface="Arial"/>
              </a:rPr>
              <a:t>.
</a:t>
            </a:r>
            <a:r>
              <a:rPr sz="3200" b="0" dirty="0" err="1">
                <a:latin typeface="Arial"/>
              </a:rPr>
              <a:t>Итоговый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прогноз</a:t>
            </a:r>
            <a:r>
              <a:rPr sz="3200" b="0" dirty="0">
                <a:latin typeface="Arial"/>
              </a:rPr>
              <a:t> — </a:t>
            </a:r>
            <a:r>
              <a:rPr sz="3200" b="0" dirty="0" err="1">
                <a:latin typeface="Arial"/>
              </a:rPr>
              <a:t>среднее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по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всем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деревьям</a:t>
            </a:r>
            <a:r>
              <a:rPr sz="3200" b="0" dirty="0">
                <a:latin typeface="Arial"/>
              </a:rPr>
              <a:t>.
</a:t>
            </a:r>
            <a:r>
              <a:rPr sz="3200" b="0" dirty="0" err="1">
                <a:latin typeface="Arial"/>
              </a:rPr>
              <a:t>Преимущества</a:t>
            </a:r>
            <a:r>
              <a:rPr sz="3200" b="0" dirty="0">
                <a:latin typeface="Arial"/>
              </a:rPr>
              <a:t>: </a:t>
            </a:r>
            <a:r>
              <a:rPr sz="3200" b="0" dirty="0" err="1">
                <a:latin typeface="Arial"/>
              </a:rPr>
              <a:t>устойчивость</a:t>
            </a:r>
            <a:r>
              <a:rPr sz="3200" b="0" dirty="0">
                <a:latin typeface="Arial"/>
              </a:rPr>
              <a:t> к </a:t>
            </a:r>
            <a:r>
              <a:rPr sz="3200" b="0" dirty="0" err="1">
                <a:latin typeface="Arial"/>
              </a:rPr>
              <a:t>выбросам</a:t>
            </a:r>
            <a:r>
              <a:rPr sz="3200" b="0" dirty="0">
                <a:latin typeface="Arial"/>
              </a:rPr>
              <a:t>, feature importance,
</a:t>
            </a:r>
            <a:r>
              <a:rPr sz="3200" b="0" dirty="0" err="1">
                <a:latin typeface="Arial"/>
              </a:rPr>
              <a:t>не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требует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масштабирования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работает</a:t>
            </a:r>
            <a:r>
              <a:rPr sz="3200" b="0" dirty="0">
                <a:latin typeface="Arial"/>
              </a:rPr>
              <a:t> с </a:t>
            </a:r>
            <a:r>
              <a:rPr sz="3200" b="0" dirty="0" err="1">
                <a:latin typeface="Arial"/>
              </a:rPr>
              <a:t>категориальными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признаками</a:t>
            </a:r>
            <a:r>
              <a:rPr sz="3200" b="0" dirty="0">
                <a:latin typeface="Arial"/>
              </a:rPr>
              <a:t>.
Decision Tree — </a:t>
            </a:r>
            <a:r>
              <a:rPr sz="3200" b="0" dirty="0" err="1">
                <a:latin typeface="Arial"/>
              </a:rPr>
              <a:t>базовый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интерпретируемый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метод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для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сравнения</a:t>
            </a:r>
            <a:r>
              <a:rPr sz="3200" b="0" dirty="0">
                <a:latin typeface="Arial"/>
              </a:rPr>
              <a:t>.
Linear Regression — baseline-</a:t>
            </a:r>
            <a:r>
              <a:rPr sz="3200" b="0" dirty="0" err="1">
                <a:latin typeface="Arial"/>
              </a:rPr>
              <a:t>модель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для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оценки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линейных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зависимостей</a:t>
            </a:r>
            <a:r>
              <a:rPr sz="3200" b="0" dirty="0">
                <a:latin typeface="Arial"/>
              </a:rPr>
              <a:t>.
</a:t>
            </a:r>
            <a:r>
              <a:rPr sz="3200" b="0" dirty="0" err="1">
                <a:latin typeface="Arial"/>
              </a:rPr>
              <a:t>Метрики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качества</a:t>
            </a:r>
            <a:r>
              <a:rPr sz="3200" b="0" dirty="0">
                <a:latin typeface="Arial"/>
              </a:rPr>
              <a:t>:
• MAE  — </a:t>
            </a:r>
            <a:r>
              <a:rPr sz="3200" b="0" dirty="0" err="1">
                <a:latin typeface="Arial"/>
              </a:rPr>
              <a:t>средняя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абсолютная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ошибка</a:t>
            </a:r>
            <a:r>
              <a:rPr sz="3200" b="0" dirty="0">
                <a:latin typeface="Arial"/>
              </a:rPr>
              <a:t> (в </a:t>
            </a:r>
            <a:r>
              <a:rPr sz="3200" b="0" dirty="0" err="1">
                <a:latin typeface="Arial"/>
              </a:rPr>
              <a:t>днях</a:t>
            </a:r>
            <a:r>
              <a:rPr sz="3200" b="0" dirty="0">
                <a:latin typeface="Arial"/>
              </a:rPr>
              <a:t>)
• R²   — </a:t>
            </a:r>
            <a:r>
              <a:rPr sz="3200" b="0" dirty="0" err="1">
                <a:latin typeface="Arial"/>
              </a:rPr>
              <a:t>коэффициент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детерминации</a:t>
            </a:r>
            <a:r>
              <a:rPr sz="3200" b="0" dirty="0">
                <a:latin typeface="Arial"/>
              </a:rPr>
              <a:t> (</a:t>
            </a:r>
            <a:r>
              <a:rPr sz="3200" b="0" dirty="0" err="1">
                <a:latin typeface="Arial"/>
              </a:rPr>
              <a:t>доля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объяснённой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дисперсии</a:t>
            </a:r>
            <a:r>
              <a:rPr sz="3200" b="0" dirty="0">
                <a:latin typeface="Arial"/>
              </a:rPr>
              <a:t>)
• RMSE — </a:t>
            </a:r>
            <a:r>
              <a:rPr sz="3200" b="0" dirty="0" err="1">
                <a:latin typeface="Arial"/>
              </a:rPr>
              <a:t>среднеквадратичная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ошибка</a:t>
            </a:r>
            <a:endParaRPr lang="en-RU" sz="8000" dirty="0"/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966624" y="3364736"/>
            <a:ext cx="21246451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 dirty="0" err="1">
                <a:solidFill>
                  <a:srgbClr val="0E2D69"/>
                </a:solidFill>
              </a:rPr>
              <a:t>Датасет</a:t>
            </a:r>
            <a:r>
              <a:rPr sz="3200" b="1" dirty="0">
                <a:solidFill>
                  <a:srgbClr val="0E2D69"/>
                </a:solidFill>
              </a:rPr>
              <a:t>:</a:t>
            </a:r>
            <a:endParaRPr lang="ru-RU" sz="3200" b="1" dirty="0">
              <a:solidFill>
                <a:srgbClr val="0E2D69"/>
              </a:solidFill>
            </a:endParaRPr>
          </a:p>
          <a:p>
            <a:r>
              <a:rPr sz="3200" b="0" dirty="0">
                <a:latin typeface="Arial"/>
              </a:rPr>
              <a:t> </a:t>
            </a:r>
            <a:endParaRPr lang="ru-RU" sz="3200" b="0" dirty="0">
              <a:latin typeface="Arial"/>
            </a:endParaRPr>
          </a:p>
          <a:p>
            <a:r>
              <a:rPr sz="3200" b="0" dirty="0">
                <a:latin typeface="Arial"/>
              </a:rPr>
              <a:t>Global Clinical Trial Intelligence 2024–2026 (Kaggle)
• 5 000 </a:t>
            </a:r>
            <a:r>
              <a:rPr sz="3200" b="0" dirty="0" err="1">
                <a:latin typeface="Arial"/>
              </a:rPr>
              <a:t>записей</a:t>
            </a:r>
            <a:r>
              <a:rPr sz="3200" b="0" dirty="0">
                <a:latin typeface="Arial"/>
              </a:rPr>
              <a:t>
• </a:t>
            </a:r>
            <a:r>
              <a:rPr sz="3200" b="0" dirty="0" err="1">
                <a:latin typeface="Arial"/>
              </a:rPr>
              <a:t>Признаки</a:t>
            </a:r>
            <a:r>
              <a:rPr sz="3200" b="0" dirty="0">
                <a:latin typeface="Arial"/>
              </a:rPr>
              <a:t>: </a:t>
            </a:r>
            <a:r>
              <a:rPr sz="3200" b="0" dirty="0" err="1">
                <a:latin typeface="Arial"/>
              </a:rPr>
              <a:t>фаза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размер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выборки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тип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спонсора</a:t>
            </a:r>
            <a:r>
              <a:rPr sz="3200" b="0" dirty="0">
                <a:latin typeface="Arial"/>
              </a:rPr>
              <a:t>,
  </a:t>
            </a:r>
            <a:r>
              <a:rPr sz="3200" b="0" dirty="0" err="1">
                <a:latin typeface="Arial"/>
              </a:rPr>
              <a:t>мультицентровость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область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медицины</a:t>
            </a:r>
            <a:r>
              <a:rPr sz="3200" b="0" dirty="0">
                <a:latin typeface="Arial"/>
              </a:rPr>
              <a:t>
• </a:t>
            </a:r>
            <a:r>
              <a:rPr sz="3200" b="0" dirty="0" err="1">
                <a:latin typeface="Arial"/>
              </a:rPr>
              <a:t>Целевая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переменная</a:t>
            </a:r>
            <a:r>
              <a:rPr sz="3200" b="0" dirty="0">
                <a:latin typeface="Arial"/>
              </a:rPr>
              <a:t>: </a:t>
            </a:r>
            <a:r>
              <a:rPr sz="3200" b="0" dirty="0" err="1">
                <a:latin typeface="Arial"/>
              </a:rPr>
              <a:t>duration_day</a:t>
            </a:r>
            <a:r>
              <a:rPr lang="en-US" sz="3200" dirty="0" err="1"/>
              <a:t>s</a:t>
            </a:r>
            <a:r>
              <a:rPr lang="en-US" sz="3200" dirty="0"/>
              <a:t> (</a:t>
            </a:r>
            <a:r>
              <a:rPr lang="ru-RU" sz="3200" dirty="0"/>
              <a:t>продолжительность дней</a:t>
            </a:r>
            <a:r>
              <a:rPr lang="en-US" sz="3200" dirty="0"/>
              <a:t>)</a:t>
            </a:r>
            <a:r>
              <a:rPr sz="3200" b="0" dirty="0">
                <a:latin typeface="Arial"/>
              </a:rPr>
              <a:t>
</a:t>
            </a:r>
            <a:r>
              <a:rPr sz="3200" b="0" dirty="0" err="1">
                <a:latin typeface="Arial"/>
              </a:rPr>
              <a:t>Шаги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обработки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данных</a:t>
            </a:r>
            <a:r>
              <a:rPr sz="3200" b="0" dirty="0">
                <a:latin typeface="Arial"/>
              </a:rPr>
              <a:t>:
1. </a:t>
            </a:r>
            <a:r>
              <a:rPr sz="3200" b="0" dirty="0" err="1">
                <a:latin typeface="Arial"/>
              </a:rPr>
              <a:t>Загрузка</a:t>
            </a:r>
            <a:r>
              <a:rPr sz="3200" b="0" dirty="0">
                <a:latin typeface="Arial"/>
              </a:rPr>
              <a:t> CSV-</a:t>
            </a:r>
            <a:r>
              <a:rPr sz="3200" b="0" dirty="0" err="1">
                <a:latin typeface="Arial"/>
              </a:rPr>
              <a:t>файла</a:t>
            </a:r>
            <a:r>
              <a:rPr sz="3200" b="0" dirty="0">
                <a:latin typeface="Arial"/>
              </a:rPr>
              <a:t>
2. </a:t>
            </a:r>
            <a:r>
              <a:rPr sz="3200" b="0" dirty="0" err="1">
                <a:latin typeface="Arial"/>
              </a:rPr>
              <a:t>Удаление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пропусков</a:t>
            </a:r>
            <a:r>
              <a:rPr sz="3200" b="0" dirty="0">
                <a:latin typeface="Arial"/>
              </a:rPr>
              <a:t> и </a:t>
            </a:r>
            <a:r>
              <a:rPr sz="3200" b="0" dirty="0" err="1">
                <a:latin typeface="Arial"/>
              </a:rPr>
              <a:t>выбросов</a:t>
            </a:r>
            <a:r>
              <a:rPr sz="3200" b="0" dirty="0">
                <a:latin typeface="Arial"/>
              </a:rPr>
              <a:t> (</a:t>
            </a:r>
            <a:r>
              <a:rPr sz="3200" b="0" dirty="0" err="1">
                <a:latin typeface="Arial"/>
              </a:rPr>
              <a:t>оставлены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значения</a:t>
            </a:r>
            <a:r>
              <a:rPr sz="3200" b="0" dirty="0">
                <a:latin typeface="Arial"/>
              </a:rPr>
              <a:t> 30–2000 </a:t>
            </a:r>
            <a:r>
              <a:rPr sz="3200" b="0" dirty="0" err="1">
                <a:latin typeface="Arial"/>
              </a:rPr>
              <a:t>дней</a:t>
            </a:r>
            <a:r>
              <a:rPr sz="3200" b="0" dirty="0">
                <a:latin typeface="Arial"/>
              </a:rPr>
              <a:t>)
3. Label Encoding</a:t>
            </a:r>
            <a:r>
              <a:rPr lang="ru-RU" sz="3200" b="0" dirty="0">
                <a:latin typeface="Arial"/>
              </a:rPr>
              <a:t>(кодирование меток)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категориальных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признаков</a:t>
            </a:r>
            <a:r>
              <a:rPr sz="3200" b="0" dirty="0">
                <a:latin typeface="Arial"/>
              </a:rPr>
              <a:t>
4. </a:t>
            </a:r>
            <a:r>
              <a:rPr sz="3200" b="0" dirty="0" err="1">
                <a:latin typeface="Arial"/>
              </a:rPr>
              <a:t>Разбивка</a:t>
            </a:r>
            <a:r>
              <a:rPr sz="3200" b="0" dirty="0">
                <a:latin typeface="Arial"/>
              </a:rPr>
              <a:t>: 80% </a:t>
            </a:r>
            <a:r>
              <a:rPr sz="3200" b="0" dirty="0" err="1">
                <a:latin typeface="Arial"/>
              </a:rPr>
              <a:t>обучение</a:t>
            </a:r>
            <a:r>
              <a:rPr sz="3200" b="0" dirty="0">
                <a:latin typeface="Arial"/>
              </a:rPr>
              <a:t> / 20% </a:t>
            </a:r>
            <a:r>
              <a:rPr sz="3200" b="0" dirty="0" err="1">
                <a:latin typeface="Arial"/>
              </a:rPr>
              <a:t>тест</a:t>
            </a:r>
            <a:r>
              <a:rPr sz="3200" b="0" dirty="0">
                <a:latin typeface="Arial"/>
              </a:rPr>
              <a:t>
5. </a:t>
            </a:r>
            <a:r>
              <a:rPr sz="3200" b="0" dirty="0" err="1">
                <a:latin typeface="Arial"/>
              </a:rPr>
              <a:t>Обучение</a:t>
            </a:r>
            <a:r>
              <a:rPr sz="3200" b="0" dirty="0">
                <a:latin typeface="Arial"/>
              </a:rPr>
              <a:t> Random Forest (100 </a:t>
            </a:r>
            <a:r>
              <a:rPr sz="3200" b="0" dirty="0" err="1">
                <a:latin typeface="Arial"/>
              </a:rPr>
              <a:t>деревьев</a:t>
            </a:r>
            <a:r>
              <a:rPr sz="3200" b="0" dirty="0">
                <a:latin typeface="Arial"/>
              </a:rPr>
              <a:t>, </a:t>
            </a:r>
            <a:r>
              <a:rPr sz="3200" b="0" dirty="0" err="1">
                <a:latin typeface="Arial"/>
              </a:rPr>
              <a:t>random_state</a:t>
            </a:r>
            <a:r>
              <a:rPr sz="3200" b="0" dirty="0">
                <a:latin typeface="Arial"/>
              </a:rPr>
              <a:t>=42)
6. </a:t>
            </a:r>
            <a:r>
              <a:rPr sz="3200" b="0" dirty="0" err="1">
                <a:latin typeface="Arial"/>
              </a:rPr>
              <a:t>Метрики</a:t>
            </a:r>
            <a:r>
              <a:rPr sz="3200" b="0" dirty="0">
                <a:latin typeface="Arial"/>
              </a:rPr>
              <a:t>: MAE, R², RMSE, 5-блочная </a:t>
            </a:r>
            <a:r>
              <a:rPr sz="3200" b="0" dirty="0" err="1">
                <a:latin typeface="Arial"/>
              </a:rPr>
              <a:t>кросс-валидация</a:t>
            </a:r>
            <a:r>
              <a:rPr sz="3200" b="0" dirty="0">
                <a:latin typeface="Arial"/>
              </a:rPr>
              <a:t>
7. </a:t>
            </a:r>
            <a:r>
              <a:rPr sz="3200" b="0" dirty="0" err="1">
                <a:latin typeface="Arial"/>
              </a:rPr>
              <a:t>Анализ</a:t>
            </a:r>
            <a:r>
              <a:rPr sz="3200" b="0" dirty="0">
                <a:latin typeface="Arial"/>
              </a:rPr>
              <a:t> feature</a:t>
            </a:r>
            <a:r>
              <a:rPr lang="ru-RU" sz="3200" dirty="0"/>
              <a:t> </a:t>
            </a:r>
            <a:r>
              <a:rPr sz="3200" b="0" dirty="0">
                <a:latin typeface="Arial"/>
              </a:rPr>
              <a:t>importances</a:t>
            </a:r>
            <a:r>
              <a:rPr lang="ru-RU" sz="3200" b="0" dirty="0">
                <a:latin typeface="Arial"/>
              </a:rPr>
              <a:t> (анализ важности </a:t>
            </a:r>
            <a:r>
              <a:rPr lang="ru-RU" sz="3200" b="0" dirty="0" err="1">
                <a:latin typeface="Arial"/>
              </a:rPr>
              <a:t>признков</a:t>
            </a:r>
            <a:r>
              <a:rPr lang="ru-RU" sz="3200" b="0" dirty="0">
                <a:latin typeface="Arial"/>
              </a:rPr>
              <a:t>)</a:t>
            </a:r>
            <a:endParaRPr sz="32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750840" y="3364736"/>
            <a:ext cx="21672301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 dirty="0" err="1">
                <a:solidFill>
                  <a:srgbClr val="0E2D69"/>
                </a:solidFill>
              </a:rPr>
              <a:t>Сравнение</a:t>
            </a:r>
            <a:r>
              <a:rPr sz="3200" b="1" dirty="0">
                <a:solidFill>
                  <a:srgbClr val="0E2D69"/>
                </a:solidFill>
              </a:rPr>
              <a:t> </a:t>
            </a:r>
            <a:r>
              <a:rPr sz="3200" b="1" dirty="0" err="1">
                <a:solidFill>
                  <a:srgbClr val="0E2D69"/>
                </a:solidFill>
              </a:rPr>
              <a:t>моделей</a:t>
            </a:r>
            <a:r>
              <a:rPr sz="3200" b="1" dirty="0">
                <a:solidFill>
                  <a:srgbClr val="0E2D69"/>
                </a:solidFill>
              </a:rPr>
              <a:t>:</a:t>
            </a:r>
            <a:endParaRPr lang="ru-RU" sz="3200" b="1" dirty="0">
              <a:solidFill>
                <a:srgbClr val="0E2D69"/>
              </a:solidFill>
            </a:endParaRPr>
          </a:p>
          <a:p>
            <a:r>
              <a:rPr sz="3200" b="0" dirty="0">
                <a:latin typeface="Arial"/>
              </a:rPr>
              <a:t>
• Linear Regression :  MAE = 389 </a:t>
            </a:r>
            <a:r>
              <a:rPr sz="3200" b="0" dirty="0" err="1">
                <a:latin typeface="Arial"/>
              </a:rPr>
              <a:t>дн</a:t>
            </a:r>
            <a:r>
              <a:rPr sz="3200" b="0" dirty="0">
                <a:latin typeface="Arial"/>
              </a:rPr>
              <a:t>,  R² = 0.31
• Decision Tree     :  MAE = 310 </a:t>
            </a:r>
            <a:r>
              <a:rPr sz="3200" b="0" dirty="0" err="1">
                <a:latin typeface="Arial"/>
              </a:rPr>
              <a:t>дн</a:t>
            </a:r>
            <a:r>
              <a:rPr sz="3200" b="0" dirty="0">
                <a:latin typeface="Arial"/>
              </a:rPr>
              <a:t>,  R² = 0.48
• Random Forest     :  MAE = 248 </a:t>
            </a:r>
            <a:r>
              <a:rPr sz="3200" b="0" dirty="0" err="1">
                <a:latin typeface="Arial"/>
              </a:rPr>
              <a:t>дн</a:t>
            </a:r>
            <a:r>
              <a:rPr sz="3200" b="0" dirty="0">
                <a:latin typeface="Arial"/>
              </a:rPr>
              <a:t>,  R² = 0.62  ✅ </a:t>
            </a:r>
            <a:r>
              <a:rPr sz="3200" b="0" dirty="0" err="1">
                <a:latin typeface="Arial"/>
              </a:rPr>
              <a:t>лучший</a:t>
            </a:r>
            <a:r>
              <a:rPr sz="3200" b="0" dirty="0">
                <a:latin typeface="Arial"/>
              </a:rPr>
              <a:t>
</a:t>
            </a:r>
            <a:r>
              <a:rPr sz="3200" b="0" dirty="0" err="1">
                <a:latin typeface="Arial"/>
              </a:rPr>
              <a:t>Валидация</a:t>
            </a:r>
            <a:r>
              <a:rPr sz="3200" b="0" dirty="0">
                <a:latin typeface="Arial"/>
              </a:rPr>
              <a:t>:
5-блочная </a:t>
            </a:r>
            <a:r>
              <a:rPr sz="3200" b="0" dirty="0" err="1">
                <a:latin typeface="Arial"/>
              </a:rPr>
              <a:t>кросс-валидация</a:t>
            </a:r>
            <a:r>
              <a:rPr sz="3200" b="0" dirty="0">
                <a:latin typeface="Arial"/>
              </a:rPr>
              <a:t> Random Forest: R² = 0.59–0.65
</a:t>
            </a:r>
            <a:r>
              <a:rPr sz="3200" b="0" dirty="0" err="1">
                <a:latin typeface="Arial"/>
              </a:rPr>
              <a:t>Важность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признаков</a:t>
            </a:r>
            <a:r>
              <a:rPr sz="3200" b="0" dirty="0">
                <a:latin typeface="Arial"/>
              </a:rPr>
              <a:t> (feature importance):
1. </a:t>
            </a:r>
            <a:r>
              <a:rPr sz="3200" b="0" dirty="0" err="1">
                <a:latin typeface="Arial"/>
              </a:rPr>
              <a:t>Фаза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испытания</a:t>
            </a:r>
            <a:r>
              <a:rPr sz="3200" b="0" dirty="0">
                <a:latin typeface="Arial"/>
              </a:rPr>
              <a:t>    — 45%
2. </a:t>
            </a:r>
            <a:r>
              <a:rPr sz="3200" b="0" dirty="0" err="1">
                <a:latin typeface="Arial"/>
              </a:rPr>
              <a:t>Мультицентровость</a:t>
            </a:r>
            <a:r>
              <a:rPr sz="3200" b="0" dirty="0">
                <a:latin typeface="Arial"/>
              </a:rPr>
              <a:t> — 27%
3. </a:t>
            </a:r>
            <a:r>
              <a:rPr sz="3200" b="0" dirty="0" err="1">
                <a:latin typeface="Arial"/>
              </a:rPr>
              <a:t>Размер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выборки</a:t>
            </a:r>
            <a:r>
              <a:rPr sz="3200" b="0" dirty="0">
                <a:latin typeface="Arial"/>
              </a:rPr>
              <a:t>    — 12%
4. </a:t>
            </a:r>
            <a:r>
              <a:rPr sz="3200" b="0" dirty="0" err="1">
                <a:latin typeface="Arial"/>
              </a:rPr>
              <a:t>Тип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спонсора</a:t>
            </a:r>
            <a:r>
              <a:rPr sz="3200" b="0" dirty="0">
                <a:latin typeface="Arial"/>
              </a:rPr>
              <a:t>      —  9%
5. </a:t>
            </a:r>
            <a:r>
              <a:rPr sz="3200" b="0" dirty="0" err="1">
                <a:latin typeface="Arial"/>
              </a:rPr>
              <a:t>Область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медицины</a:t>
            </a:r>
            <a:r>
              <a:rPr sz="3200" b="0" dirty="0">
                <a:latin typeface="Arial"/>
              </a:rPr>
              <a:t>  —  7%</a:t>
            </a:r>
            <a:r>
              <a:rPr lang="en-US" sz="3200" b="0" dirty="0">
                <a:latin typeface="Arial"/>
              </a:rPr>
              <a:t>                                                                           </a:t>
            </a:r>
            <a:r>
              <a:rPr lang="en-US" sz="2400" b="0" dirty="0">
                <a:latin typeface="Arial"/>
              </a:rPr>
              <a:t>MAE</a:t>
            </a:r>
            <a:r>
              <a:rPr lang="ru-RU" sz="2400" b="0" dirty="0">
                <a:latin typeface="Arial"/>
              </a:rPr>
              <a:t> </a:t>
            </a:r>
            <a:r>
              <a:rPr lang="en-US" sz="2400" b="0" dirty="0">
                <a:latin typeface="Arial"/>
              </a:rPr>
              <a:t>- </a:t>
            </a:r>
            <a:r>
              <a:rPr lang="ru-RU" sz="2400" b="0" dirty="0" err="1">
                <a:latin typeface="Arial"/>
              </a:rPr>
              <a:t>Середня</a:t>
            </a:r>
            <a:r>
              <a:rPr lang="ru-RU" sz="2400" dirty="0" err="1"/>
              <a:t>я</a:t>
            </a:r>
            <a:r>
              <a:rPr lang="ru-RU" sz="2400" dirty="0"/>
              <a:t> ошибка</a:t>
            </a:r>
          </a:p>
          <a:p>
            <a:r>
              <a:rPr lang="ru-RU" sz="3200" b="0" dirty="0">
                <a:latin typeface="Arial"/>
              </a:rPr>
              <a:t>                                                                                                                                </a:t>
            </a:r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ru-RU" sz="2400" baseline="30000" dirty="0"/>
              <a:t> </a:t>
            </a:r>
            <a:r>
              <a:rPr lang="en-US" sz="2400" dirty="0"/>
              <a:t>- </a:t>
            </a:r>
            <a:r>
              <a:rPr lang="ru-RU" sz="2400" dirty="0"/>
              <a:t>Качество Модели </a:t>
            </a:r>
            <a:endParaRPr sz="3200" dirty="0"/>
          </a:p>
        </p:txBody>
      </p:sp>
      <p:pic>
        <p:nvPicPr>
          <p:cNvPr id="4" name="Picture 210" descr="comparison_plot.png">
            <a:extLst>
              <a:ext uri="{FF2B5EF4-FFF2-40B4-BE49-F238E27FC236}">
                <a16:creationId xmlns:a16="http://schemas.microsoft.com/office/drawing/2014/main" id="{34F43C7A-BD2A-1C6D-8C0B-5A80BDA7B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552" y="2951046"/>
            <a:ext cx="9531656" cy="661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3F94F651-6C24-8746-5C0D-3F497476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6EDB4A47-DBB1-E407-1862-E47610DC5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8049FD30-67A0-6D53-0EB8-0880B6E0C0BE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8B710F21-EFFF-1D75-5938-26877A48DE38}"/>
              </a:ext>
            </a:extLst>
          </p:cNvPr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0D1348-355E-3E6C-CBDD-5891D919C5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pic>
        <p:nvPicPr>
          <p:cNvPr id="211" name="Picture 210" descr="feature_importance.png">
            <a:extLst>
              <a:ext uri="{FF2B5EF4-FFF2-40B4-BE49-F238E27FC236}">
                <a16:creationId xmlns:a16="http://schemas.microsoft.com/office/drawing/2014/main" id="{AEA362B6-EAD0-84B1-FF94-34B334BB5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840" y="3890996"/>
            <a:ext cx="9001000" cy="6221100"/>
          </a:xfrm>
          <a:prstGeom prst="rect">
            <a:avLst/>
          </a:prstGeom>
        </p:spPr>
      </p:pic>
      <p:pic>
        <p:nvPicPr>
          <p:cNvPr id="212" name="Picture 211" descr="prediction_plot.png">
            <a:extLst>
              <a:ext uri="{FF2B5EF4-FFF2-40B4-BE49-F238E27FC236}">
                <a16:creationId xmlns:a16="http://schemas.microsoft.com/office/drawing/2014/main" id="{86092311-6BE8-CB10-191E-5071735E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1" y="3689646"/>
            <a:ext cx="9266490" cy="64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3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технологии</a:t>
            </a:r>
            <a:r>
              <a:rPr lang="en-US" dirty="0"/>
              <a:t> (09.04.02)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966624" y="2903071"/>
            <a:ext cx="21246451" cy="850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rgbClr val="0E2D69"/>
                </a:solidFill>
              </a:rPr>
              <a:t>Выводы:</a:t>
            </a:r>
          </a:p>
          <a:p>
            <a:r>
              <a:rPr sz="2800" b="0" dirty="0">
                <a:latin typeface="Arial"/>
              </a:rPr>
              <a:t>
✅ </a:t>
            </a:r>
            <a:r>
              <a:rPr sz="3200" b="0" dirty="0" err="1">
                <a:latin typeface="Arial"/>
              </a:rPr>
              <a:t>Научная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гипотеза</a:t>
            </a:r>
            <a:r>
              <a:rPr sz="3200" b="0" dirty="0">
                <a:latin typeface="Arial"/>
              </a:rPr>
              <a:t> ПОДТВЕРДИЛАСЬ:
</a:t>
            </a:r>
            <a:r>
              <a:rPr sz="3200" b="0" dirty="0" err="1">
                <a:latin typeface="Arial"/>
              </a:rPr>
              <a:t>Фаза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испытания</a:t>
            </a:r>
            <a:r>
              <a:rPr sz="3200" b="0" dirty="0">
                <a:latin typeface="Arial"/>
              </a:rPr>
              <a:t> (45%) и </a:t>
            </a:r>
            <a:r>
              <a:rPr sz="3200" b="0" dirty="0" err="1">
                <a:latin typeface="Arial"/>
              </a:rPr>
              <a:t>мультицентровость</a:t>
            </a:r>
            <a:r>
              <a:rPr sz="3200" b="0" dirty="0">
                <a:latin typeface="Arial"/>
              </a:rPr>
              <a:t> (27%) — </a:t>
            </a:r>
            <a:r>
              <a:rPr sz="3200" b="0" dirty="0" err="1">
                <a:latin typeface="Arial"/>
              </a:rPr>
              <a:t>наиболее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значимые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факторы</a:t>
            </a:r>
            <a:r>
              <a:rPr sz="3200" b="0" dirty="0">
                <a:latin typeface="Arial"/>
              </a:rPr>
              <a:t>.
</a:t>
            </a:r>
            <a:r>
              <a:rPr sz="3200" b="0" dirty="0" err="1">
                <a:latin typeface="Arial"/>
              </a:rPr>
              <a:t>Критерии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успеха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достигнуты</a:t>
            </a:r>
            <a:r>
              <a:rPr sz="3200" b="0" dirty="0">
                <a:latin typeface="Arial"/>
              </a:rPr>
              <a:t>:
• MAE = 248 </a:t>
            </a:r>
            <a:r>
              <a:rPr sz="3200" b="0" dirty="0" err="1">
                <a:latin typeface="Arial"/>
              </a:rPr>
              <a:t>дней</a:t>
            </a:r>
            <a:r>
              <a:rPr sz="3200" b="0" dirty="0">
                <a:latin typeface="Arial"/>
              </a:rPr>
              <a:t>  &lt;  300 </a:t>
            </a:r>
            <a:r>
              <a:rPr sz="3200" b="0" dirty="0" err="1">
                <a:latin typeface="Arial"/>
              </a:rPr>
              <a:t>дней</a:t>
            </a:r>
            <a:r>
              <a:rPr sz="3200" b="0" dirty="0">
                <a:latin typeface="Arial"/>
              </a:rPr>
              <a:t>  ✅
• R²  = 0.62      &gt;  0.5       ✅
</a:t>
            </a:r>
            <a:r>
              <a:rPr sz="3200" b="0" dirty="0" err="1">
                <a:latin typeface="Arial"/>
              </a:rPr>
              <a:t>Практическая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значимость</a:t>
            </a:r>
            <a:r>
              <a:rPr sz="3200" b="0" dirty="0">
                <a:latin typeface="Arial"/>
              </a:rPr>
              <a:t>:
• </a:t>
            </a:r>
            <a:r>
              <a:rPr sz="3200" b="0" dirty="0" err="1">
                <a:latin typeface="Arial"/>
              </a:rPr>
              <a:t>Прогнозирование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сроков</a:t>
            </a:r>
            <a:r>
              <a:rPr sz="3200" b="0" dirty="0">
                <a:latin typeface="Arial"/>
              </a:rPr>
              <a:t> КИ с </a:t>
            </a:r>
            <a:r>
              <a:rPr sz="3200" b="0" dirty="0" err="1">
                <a:latin typeface="Arial"/>
              </a:rPr>
              <a:t>точностью</a:t>
            </a:r>
            <a:r>
              <a:rPr sz="3200" b="0" dirty="0">
                <a:latin typeface="Arial"/>
              </a:rPr>
              <a:t> ±8 </a:t>
            </a:r>
            <a:r>
              <a:rPr sz="3200" b="0" dirty="0" err="1">
                <a:latin typeface="Arial"/>
              </a:rPr>
              <a:t>месяцев</a:t>
            </a:r>
            <a:r>
              <a:rPr sz="3200" b="0" dirty="0">
                <a:latin typeface="Arial"/>
              </a:rPr>
              <a:t>
• </a:t>
            </a:r>
            <a:r>
              <a:rPr sz="3200" b="0" dirty="0" err="1">
                <a:latin typeface="Arial"/>
              </a:rPr>
              <a:t>Ранняя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оценка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рисков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для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инвесторов</a:t>
            </a:r>
            <a:r>
              <a:rPr sz="3200" b="0" dirty="0">
                <a:latin typeface="Arial"/>
              </a:rPr>
              <a:t> и </a:t>
            </a:r>
            <a:r>
              <a:rPr sz="3200" b="0" dirty="0" err="1">
                <a:latin typeface="Arial"/>
              </a:rPr>
              <a:t>спонсоров</a:t>
            </a:r>
            <a:r>
              <a:rPr sz="3200" b="0" dirty="0">
                <a:latin typeface="Arial"/>
              </a:rPr>
              <a:t>
• </a:t>
            </a:r>
            <a:r>
              <a:rPr sz="3200" b="0" dirty="0" err="1">
                <a:latin typeface="Arial"/>
              </a:rPr>
              <a:t>Планирование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ресурсов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разработке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новых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препаратов</a:t>
            </a:r>
            <a:r>
              <a:rPr sz="3200" b="0" dirty="0">
                <a:latin typeface="Arial"/>
              </a:rPr>
              <a:t>
</a:t>
            </a:r>
            <a:r>
              <a:rPr sz="3200" b="0" dirty="0" err="1">
                <a:latin typeface="Arial"/>
              </a:rPr>
              <a:t>Ограничения</a:t>
            </a:r>
            <a:r>
              <a:rPr sz="3200" b="0" dirty="0">
                <a:latin typeface="Arial"/>
              </a:rPr>
              <a:t>:
• </a:t>
            </a:r>
            <a:r>
              <a:rPr sz="3200" b="0" dirty="0" err="1">
                <a:latin typeface="Arial"/>
              </a:rPr>
              <a:t>Данные</a:t>
            </a:r>
            <a:r>
              <a:rPr sz="3200" b="0" dirty="0">
                <a:latin typeface="Arial"/>
              </a:rPr>
              <a:t> 2024–2026 </a:t>
            </a:r>
            <a:r>
              <a:rPr sz="3200" b="0" dirty="0" err="1">
                <a:latin typeface="Arial"/>
              </a:rPr>
              <a:t>гг</a:t>
            </a:r>
            <a:r>
              <a:rPr sz="3200" b="0" dirty="0">
                <a:latin typeface="Arial"/>
              </a:rPr>
              <a:t>. — </a:t>
            </a:r>
            <a:r>
              <a:rPr sz="3200" b="0" dirty="0" err="1">
                <a:latin typeface="Arial"/>
              </a:rPr>
              <a:t>нужна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проверка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на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исторических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данных</a:t>
            </a:r>
            <a:r>
              <a:rPr sz="3200" b="0" dirty="0">
                <a:latin typeface="Arial"/>
              </a:rPr>
              <a:t>
• </a:t>
            </a:r>
            <a:r>
              <a:rPr sz="3200" b="0" dirty="0" err="1">
                <a:latin typeface="Arial"/>
              </a:rPr>
              <a:t>Регуляторные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задержки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не</a:t>
            </a:r>
            <a:r>
              <a:rPr sz="3200" b="0" dirty="0">
                <a:latin typeface="Arial"/>
              </a:rPr>
              <a:t> </a:t>
            </a:r>
            <a:r>
              <a:rPr sz="3200" b="0" dirty="0" err="1">
                <a:latin typeface="Arial"/>
              </a:rPr>
              <a:t>учтены</a:t>
            </a:r>
            <a:endParaRPr sz="28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AE55-88BC-D6C0-DAA8-9C7ED6059B09}"/>
              </a:ext>
            </a:extLst>
          </p:cNvPr>
          <p:cNvSpPr txBox="1"/>
          <p:nvPr/>
        </p:nvSpPr>
        <p:spPr>
          <a:xfrm>
            <a:off x="1966624" y="2420950"/>
            <a:ext cx="21246823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latin typeface="Arial"/>
              </a:defRPr>
            </a:pPr>
            <a:r>
              <a:rPr lang="ru-RU" sz="3200" b="1" dirty="0">
                <a:solidFill>
                  <a:srgbClr val="0E2D69"/>
                </a:solidFill>
              </a:rPr>
              <a:t>Что сделано:</a:t>
            </a:r>
          </a:p>
          <a:p>
            <a:pPr>
              <a:defRPr sz="1200">
                <a:latin typeface="Arial"/>
              </a:defRPr>
            </a:pPr>
            <a:endParaRPr lang="ru-RU" sz="3200" dirty="0"/>
          </a:p>
          <a:p>
            <a:pPr>
              <a:defRPr sz="1200">
                <a:latin typeface="Arial"/>
              </a:defRPr>
            </a:pPr>
            <a:r>
              <a:rPr lang="ru-RU" sz="3200" dirty="0"/>
              <a:t>Разработана модель машинного обучения </a:t>
            </a:r>
            <a:r>
              <a:rPr lang="ru-RU" sz="3200" dirty="0" err="1"/>
              <a:t>Random</a:t>
            </a:r>
            <a:r>
              <a:rPr lang="ru-RU" sz="3200" dirty="0"/>
              <a:t> </a:t>
            </a:r>
            <a:r>
              <a:rPr lang="ru-RU" sz="3200" dirty="0" err="1"/>
              <a:t>Forest</a:t>
            </a:r>
            <a:r>
              <a:rPr lang="ru-RU" sz="3200" dirty="0"/>
              <a:t> для прогнозирования длительности клинических испытаний.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Проведён анализ 5000 клинических испытаний из открытого регистра ClinicalTrials.gov.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Выявлены ключевые факторы, влияющие на длительность клинических испытаний.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Проведена оценка качества модели с использованием метрик MAE, R² и кросс-валидации.</a:t>
            </a:r>
          </a:p>
          <a:p>
            <a:pPr>
              <a:defRPr sz="1200">
                <a:latin typeface="Arial"/>
              </a:defRPr>
            </a:pPr>
            <a:endParaRPr lang="ru-RU" sz="3200" dirty="0"/>
          </a:p>
          <a:p>
            <a:pPr>
              <a:defRPr sz="1300" b="1">
                <a:latin typeface="Arial"/>
              </a:defRPr>
            </a:pPr>
            <a:r>
              <a:rPr lang="ru-RU" sz="3200" b="1" dirty="0">
                <a:solidFill>
                  <a:srgbClr val="0E2D69"/>
                </a:solidFill>
              </a:rPr>
              <a:t>Основные результаты:</a:t>
            </a:r>
          </a:p>
          <a:p>
            <a:pPr>
              <a:defRPr sz="1200">
                <a:latin typeface="Arial"/>
              </a:defRPr>
            </a:pPr>
            <a:endParaRPr lang="ru-RU" sz="3200" dirty="0"/>
          </a:p>
          <a:p>
            <a:pPr>
              <a:defRPr sz="1200">
                <a:latin typeface="Arial"/>
              </a:defRPr>
            </a:pPr>
            <a:r>
              <a:rPr lang="ru-RU" sz="3200" dirty="0"/>
              <a:t>Средняя ошибка прогноза (MAE) составляет 248 дней, что соответствует примерно 8 месяцам.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Качество модели (R²) равно 0.62, то есть модель объясняет 62 процента вариации длительности испытаний.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Ключевые факторы, влияющие на длительность: фаза испытания (45 процентов), </a:t>
            </a:r>
            <a:r>
              <a:rPr lang="ru-RU" sz="3200" dirty="0" err="1"/>
              <a:t>мультицентровость</a:t>
            </a:r>
            <a:r>
              <a:rPr lang="ru-RU" sz="3200" dirty="0"/>
              <a:t> (27 процентов), размер выборки (12 процентов).</a:t>
            </a:r>
          </a:p>
          <a:p>
            <a:pPr>
              <a:defRPr sz="1200">
                <a:latin typeface="Arial"/>
              </a:defRPr>
            </a:pPr>
            <a:endParaRPr lang="ru-RU" sz="3200" dirty="0"/>
          </a:p>
          <a:p>
            <a:pPr>
              <a:defRPr sz="1300" b="1">
                <a:latin typeface="Arial"/>
              </a:defRPr>
            </a:pPr>
            <a:r>
              <a:rPr lang="ru-RU" sz="3200" b="1" dirty="0">
                <a:solidFill>
                  <a:srgbClr val="0E2D69"/>
                </a:solidFill>
              </a:rPr>
              <a:t>Перспективы развития: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Добавление признака "тип регулятора" (FDA, EMA, PMDA).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Учёт внешних факторов, таких как пандемии и экономические кризисы.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Использование более сложных моделей, таких как </a:t>
            </a:r>
            <a:r>
              <a:rPr lang="ru-RU" sz="3200" dirty="0" err="1"/>
              <a:t>XGBoost</a:t>
            </a:r>
            <a:r>
              <a:rPr lang="ru-RU" sz="3200" dirty="0"/>
              <a:t> и нейронные сети.</a:t>
            </a:r>
          </a:p>
          <a:p>
            <a:pPr>
              <a:defRPr sz="1200">
                <a:latin typeface="Arial"/>
              </a:defRPr>
            </a:pPr>
            <a:r>
              <a:rPr lang="ru-RU" sz="3200" dirty="0"/>
              <a:t>Разработка веб-сервиса для быстрого прогнозирования длительности.</a:t>
            </a:r>
          </a:p>
          <a:p>
            <a:pPr>
              <a:defRPr sz="1200">
                <a:latin typeface="Arial"/>
              </a:defRPr>
            </a:pP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A2A52A9C-644D-AF64-16A2-2742744D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03AA2BD4-CB2B-A7D0-0A6C-D73DE4EC7B78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CBB5A0A6-57F9-AC24-3A18-810CF0BA3721}"/>
              </a:ext>
            </a:extLst>
          </p:cNvPr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44549-7F47-42B9-1FC1-AF7E4110C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C94CB-A3BE-3FBA-EE20-A3B751B3DB72}"/>
              </a:ext>
            </a:extLst>
          </p:cNvPr>
          <p:cNvSpPr txBox="1"/>
          <p:nvPr/>
        </p:nvSpPr>
        <p:spPr>
          <a:xfrm>
            <a:off x="1966624" y="6134725"/>
            <a:ext cx="212708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00">
                <a:latin typeface="Arial"/>
              </a:defRPr>
            </a:pPr>
            <a:r>
              <a:rPr lang="ru-RU" sz="9600" b="1" dirty="0">
                <a:solidFill>
                  <a:srgbClr val="0E2D69"/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82382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1255</Words>
  <Application>Microsoft Office PowerPoint</Application>
  <PresentationFormat>Произвольный</PresentationFormat>
  <Paragraphs>95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Абрамов Александр Игоревич</cp:lastModifiedBy>
  <cp:revision>33</cp:revision>
  <dcterms:modified xsi:type="dcterms:W3CDTF">2026-06-04T12:06:41Z</dcterms:modified>
  <cp:category/>
</cp:coreProperties>
</file>